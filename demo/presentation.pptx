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61cf8406-1add-474c-6356-fe111cbdfac9}">
          <p14:sldIdLst>
            <p14:sldId id="256"/>
            <p14:sldId id="257"/>
            <p14:sldId id="258"/>
          </p14:sldIdLst>
        </p14:section>
        <p14:section name="Architecture and delivery" id="{ae41d838-648e-1d9e-b321-b88153009619}">
          <p14:sldIdLst>
            <p14:sldId id="259"/>
            <p14:sldId id="260"/>
            <p14:sldId id="261"/>
          </p14:sldIdLst>
        </p14:section>
        <p14:section name="Platform" id="{59897922-3c1d-4e3b-fe03-b32511ba060e}">
          <p14:sldIdLst>
            <p14:sldId id="262"/>
            <p14:sldId id="263"/>
            <p14:sldId id="264"/>
          </p14:sldIdLst>
        </p14:section>
        <p14:section name="Operations" id="{d05bdd8b-7064-03c4-78a2-d9175591ee83}">
          <p14:sldIdLst>
            <p14:sldId id="265"/>
          </p14:sldIdLst>
        </p14:section>
        <p14:section name="Wrap-up" id="{0a7751f3-a5e5-4d0d-f14f-69dc87e42e7a}">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 am Om Malviya, roll number 24BCS10448, and this is my DevOps capstone: an Expense Tracker. The app itself is deliberately small, a FastAPI and PostgreSQL backend with a React dashboard, so the focus is the delivery chain around it. In the next ten slides I will walk from the code through testing, security gates, the CI/CD pipeline, Terraform, Kubernetes with Helm, GitOps with Argo CD, and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a personal one: at the end of every month I want to know where my money went. So I built a single-user expense ledger with a FastAPI REST API, PostgreSQL managed by Alembic migrations, and a React dashboard with KPI cards, a category breakdown and a six-month trend. The app is small on purpose, so every DevOps layer around it stays easy to reason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stack, grouped by job. The app is FastAPI, React and PostgreSQL; quality and security come from pytest, ruff, Bandit, pip-audit, Gitleaks and Trivy. Images are built with Docker and shipped by GitHub Actions to GHCR, Terraform describes the AWS VPC and EKS cluster, Helm deploys to Kubernetes, kube-prometheus-stack gives me Prometheus and Grafana, and Argo CD adds the GitOps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runtime architecture. The browser hits the Traefik Ingress on expense.local, which sends slash to the nginx frontend and slash api to the FastAPI backend, and the backend talks to PostgreSQL running as a StatefulSet with a persistent volume. Config comes from a ConfigMap and a Secret, and the namespace enforces the restricted Pod Security profile. In the monitoring namespace, Prometheus scrapes the backend's metrics endpoint every 15 seconds, Grafana visualises it and Alertmanager receives the five alert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push or pull request to main runs this workflow. Three jobs run in parallel: backend tests with ruff and pytest, the frontend build with npm audit, and static security checks. Only if all three pass does build-scan-push build both images, run the Trivy gate, and push them to GHCR tagged with the git commit SHA; the deploy job then lints the Helm chart and deploys that exact tag. My real first run actually failed on Gitleaks, because my own connection-string rule matched an example in the README; I fixed the docs instead of disabling the rule, and the next run went green in 2 minutes 21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built into the pipeline rather than added at the end. Gitleaks, Bandit, pip-audit and npm audit run before any image is built, and Trivy then scans both images and fails the job on any fixable HIGH or CRITICAL CVE, so a vulnerable image never reaches the registry. On the green run both images came back with zero findings. At runtime the containers are non-root, pip is removed, the root filesystem is read-only, all capabilities are dropped, and the namespace enforces the restricted Pod Security profile so a regression is rejected at admission.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describes the AWS side: a VPC with two public and two private subnets across two availability zones, one NAT gateway, and an EKS 1.31 cluster with a managed node group of t3.medium nodes, using the community VPC and EKS modules. Init, fmt and validate pass, and terraform plan comes out at 61 resources to add. The workflow is plan, apply, check the VPC and cluster in the console, then destroy; because the cluster costs roughly 5 to 6 dollars a day, I keep a single NAT gateway, cap the node group at three, and destroy as soon as the demo is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application ships as one Helm chart: two Deployments with two replicas each, PostgreSQL as a StatefulSet with a persistent volume, ClusterIP Services, an Ingress that routes slash api to the backend and everything else to the frontend, plus an HPA and a ServiceMonitor. Images are always pulled from GHCR by the git SHA tag, never latest. To prove the autoscaler, I ran a three-minute load test: CPU went from 22 to 528 percent of the 60 percent target, the backend scaled from 2 to 4 pods, and all 9,000 requests succeeded.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Argo CD adds a pull-based delivery path. The desired state is the Helm chart plus values-gitops.yaml on the main branch; Argo CD runs inside the cluster, watches the repo and syncs the expense-tracker-gitops namespace to match. So a deployment is just a commit that bumps the image tag or the replica count. Sync is automated with prune and self-heal, which means if someone scales a deployment by hand or deletes a pod, Argo CD detects the drift and puts the cluster back to what Git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monitoring I installed kube-prometheus-stack. The backend exposes a metrics endpoint, and a ServiceMonitor from my Helm chart makes Prometheus scrape every backend pod every 15 seconds; the targets page shows them all up. The Grafana dashboard is provisioned from the repo and shows request rate, error ratio, p95 latency and HPA replicas; this capture is from the load test, where you can see the replicas go from 2 to 4. I also wrote five alert rules, and during the load test the p95-latency and HPA-at-max alerts went to pending, which is exactly what they are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six things that actually went wrong or surprised me. My own secret-scanning rule failed the first pipeline run, a misplaced Trivy key was silently ignored, pip itself was carrying CVEs, my first ServiceMonitor selected pod labels instead of Service labels, the restricted Pod Security profile forced proper hardening everywhere, and the HPA needed CPU requests and some patience before it had metrics. Thank you for listening;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7680960" y="0"/>
            <a:ext cx="4510735" cy="6858000"/>
          </a:xfrm>
          <a:prstGeom prst="rect">
            <a:avLst/>
          </a:prstGeom>
          <a:solidFill>
            <a:schemeClr val="accent1"/>
          </a:solidFill>
          <a:ln/>
        </p:spPr>
      </p:sp>
      <p:sp>
        <p:nvSpPr>
          <p:cNvPr id="3" name="Text 1"/>
          <p:cNvSpPr/>
          <p:nvPr>
            <p:ph idx="101" type="body" hasCustomPrompt="1"/>
          </p:nvPr>
        </p:nvSpPr>
        <p:spPr>
          <a:xfrm>
            <a:off x="640080" y="1234440"/>
            <a:ext cx="6675120" cy="411480"/>
          </a:xfrm>
          <a:prstGeom prst="rect">
            <a:avLst/>
          </a:prstGeom>
          <a:noFill/>
          <a:ln/>
        </p:spPr>
        <p:txBody>
          <a:bodyPr wrap="square" rtlCol="0"/>
          <a:lstStyle>
            <a:lvl1pPr algn="l" indent="0" marL="0">
              <a:buNone/>
              <a:defRPr lang="en-US" sz="1600" b="1" dirty="0">
                <a:solidFill>
                  <a:schemeClr val="accent2"/>
                </a:solidFill>
              </a:defRPr>
            </a:lvl1pPr>
          </a:lstStyle>
          <a:p>
            <a:pPr algn="l" indent="0" marL="0">
              <a:buNone/>
            </a:pPr>
            <a:endParaRPr lang="en-US" sz="1600" dirty="0"/>
          </a:p>
        </p:txBody>
      </p:sp>
      <p:sp>
        <p:nvSpPr>
          <p:cNvPr id="4" name="Text 1"/>
          <p:cNvSpPr/>
          <p:nvPr>
            <p:ph idx="102" type="title" hasCustomPrompt="1"/>
          </p:nvPr>
        </p:nvSpPr>
        <p:spPr>
          <a:xfrm>
            <a:off x="640080" y="1691640"/>
            <a:ext cx="6766560" cy="1143000"/>
          </a:xfrm>
          <a:prstGeom prst="rect">
            <a:avLst/>
          </a:prstGeom>
          <a:noFill/>
          <a:ln/>
        </p:spPr>
        <p:txBody>
          <a:bodyPr wrap="square" rtlCol="0"/>
          <a:lstStyle>
            <a:lvl1pPr algn="l" indent="0" marL="0">
              <a:buNone/>
              <a:defRPr lang="en-US" sz="5600" b="1" dirty="0">
                <a:solidFill>
                  <a:schemeClr val="tx1"/>
                </a:solidFill>
              </a:defRPr>
            </a:lvl1pPr>
          </a:lstStyle>
          <a:p>
            <a:pPr algn="l" indent="0" marL="0">
              <a:buNone/>
            </a:pPr>
            <a:endParaRPr lang="en-US" sz="5600" dirty="0"/>
          </a:p>
        </p:txBody>
      </p:sp>
      <p:sp>
        <p:nvSpPr>
          <p:cNvPr id="5" name="Text 1"/>
          <p:cNvSpPr/>
          <p:nvPr>
            <p:ph idx="103" type="body" hasCustomPrompt="1"/>
          </p:nvPr>
        </p:nvSpPr>
        <p:spPr>
          <a:xfrm>
            <a:off x="640080" y="2880360"/>
            <a:ext cx="6583680" cy="105156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329184"/>
          </a:xfrm>
          <a:prstGeom prst="rect">
            <a:avLst/>
          </a:prstGeom>
          <a:noFill/>
          <a:ln/>
        </p:spPr>
        <p:txBody>
          <a:bodyPr wrap="square" rtlCol="0"/>
          <a:lstStyle>
            <a:lvl1pPr algn="l" indent="0" marL="0">
              <a:buNone/>
              <a:defRPr lang="en-US" sz="1400" b="1" dirty="0">
                <a:solidFill>
                  <a:schemeClr val="accent2"/>
                </a:solidFill>
              </a:defRPr>
            </a:lvl1pPr>
          </a:lstStyle>
          <a:p>
            <a:pPr algn="l" indent="0" marL="0">
              <a:buNone/>
            </a:pPr>
            <a:endParaRPr lang="en-US" sz="1400" dirty="0"/>
          </a:p>
        </p:txBody>
      </p:sp>
      <p:sp>
        <p:nvSpPr>
          <p:cNvPr id="3" name="Text 0"/>
          <p:cNvSpPr/>
          <p:nvPr>
            <p:ph idx="101" type="title" hasCustomPrompt="1"/>
          </p:nvPr>
        </p:nvSpPr>
        <p:spPr>
          <a:xfrm>
            <a:off x="548640" y="640080"/>
            <a:ext cx="11094415" cy="6858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t"/>
          <a:lstStyle/>
          <a:p>
            <a:pPr indent="0" marL="0">
              <a:buNone/>
            </a:pPr>
            <a:r>
              <a:rPr lang="en-US" sz="1100" dirty="0">
                <a:solidFill>
                  <a:schemeClr val="accent5"/>
                </a:solidFill>
              </a:rPr>
              <a:t>Om Malviya  ·  24BCS10448  ·  Expense Tracker DevOps Capstone</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8229600" y="0"/>
            <a:ext cx="3962095" cy="6858000"/>
          </a:xfrm>
          <a:prstGeom prst="rect">
            <a:avLst/>
          </a:prstGeom>
          <a:solidFill>
            <a:schemeClr val="accent1"/>
          </a:solidFill>
          <a:ln/>
        </p:spPr>
      </p:sp>
      <p:sp>
        <p:nvSpPr>
          <p:cNvPr id="3" name="Text 1"/>
          <p:cNvSpPr/>
          <p:nvPr>
            <p:ph idx="101" type="body" hasCustomPrompt="1"/>
          </p:nvPr>
        </p:nvSpPr>
        <p:spPr>
          <a:xfrm>
            <a:off x="548640" y="292608"/>
            <a:ext cx="7315200" cy="329184"/>
          </a:xfrm>
          <a:prstGeom prst="rect">
            <a:avLst/>
          </a:prstGeom>
          <a:noFill/>
          <a:ln/>
        </p:spPr>
        <p:txBody>
          <a:bodyPr wrap="square" rtlCol="0"/>
          <a:lstStyle>
            <a:lvl1pPr algn="l" indent="0" marL="0">
              <a:buNone/>
              <a:defRPr lang="en-US" sz="1400" b="1" dirty="0">
                <a:solidFill>
                  <a:schemeClr val="accent2"/>
                </a:solidFill>
              </a:defRPr>
            </a:lvl1pPr>
          </a:lstStyle>
          <a:p>
            <a:pPr algn="l" indent="0" marL="0">
              <a:buNone/>
            </a:pPr>
            <a:endParaRPr lang="en-US" sz="1400" dirty="0"/>
          </a:p>
        </p:txBody>
      </p:sp>
      <p:sp>
        <p:nvSpPr>
          <p:cNvPr id="4" name="Text 1"/>
          <p:cNvSpPr/>
          <p:nvPr>
            <p:ph idx="102" type="title" hasCustomPrompt="1"/>
          </p:nvPr>
        </p:nvSpPr>
        <p:spPr>
          <a:xfrm>
            <a:off x="548640" y="640080"/>
            <a:ext cx="7315200" cy="6858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5" name="Text 1"/>
          <p:cNvSpPr/>
          <p:nvPr/>
        </p:nvSpPr>
        <p:spPr>
          <a:xfrm>
            <a:off x="548640" y="6400800"/>
            <a:ext cx="7315200" cy="274320"/>
          </a:xfrm>
          <a:prstGeom prst="rect">
            <a:avLst/>
          </a:prstGeom>
          <a:noFill/>
          <a:ln/>
        </p:spPr>
        <p:txBody>
          <a:bodyPr wrap="square" lIns="0" tIns="0" rIns="0" bIns="0" rtlCol="0" anchor="t"/>
          <a:lstStyle/>
          <a:p>
            <a:pPr indent="0" marL="0">
              <a:buNone/>
            </a:pPr>
            <a:r>
              <a:rPr lang="en-US" sz="1100" dirty="0">
                <a:solidFill>
                  <a:schemeClr val="accent5"/>
                </a:solidFill>
              </a:rPr>
              <a:t>Om Malviya  ·  24BCS10448  ·  Expense Tracker DevOps Capstone</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om-malviya/expense-tracker-devops" TargetMode="External"/><Relationship Id="rId1"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 Id="rId11" Type="http://schemas.openxmlformats.org/officeDocument/2006/relationships/image" Target="../media/image-1-10.png"/><Relationship Id="rId12" Type="http://schemas.openxmlformats.org/officeDocument/2006/relationships/slideLayout" Target="../slideLayouts/slideLayout2.xml"/><Relationship Id="rId1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3.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3.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3.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body" hasCustomPrompt="1"/>
          </p:nvPr>
        </p:nvSpPr>
        <p:spPr>
          <a:xfrm>
            <a:off x="640080" y="1234440"/>
            <a:ext cx="6675120" cy="411480"/>
          </a:xfrm>
          <a:prstGeom prst="rect">
            <a:avLst/>
          </a:prstGeom>
          <a:noFill/>
          <a:ln/>
        </p:spPr>
        <p:txBody>
          <a:bodyPr wrap="square" lIns="0" tIns="0" rIns="0" bIns="0" rtlCol="0" anchor="b"/>
          <a:lstStyle/>
          <a:p>
            <a:pPr algn="l" indent="0" marL="0">
              <a:buNone/>
            </a:pPr>
            <a:r>
              <a:rPr lang="en-US" sz="1600" b="1" dirty="0">
                <a:solidFill>
                  <a:schemeClr val="accent2"/>
                </a:solidFill>
              </a:rPr>
              <a:t>DEVOPS CAPSTONE PROJECT</a:t>
            </a:r>
            <a:endParaRPr lang="en-US" sz="1600" dirty="0"/>
          </a:p>
        </p:txBody>
      </p:sp>
      <p:sp>
        <p:nvSpPr>
          <p:cNvPr id="3" name="Text 1"/>
          <p:cNvSpPr/>
          <p:nvPr>
            <p:ph idx="102" type="title" hasCustomPrompt="1"/>
          </p:nvPr>
        </p:nvSpPr>
        <p:spPr>
          <a:xfrm>
            <a:off x="640080" y="1691640"/>
            <a:ext cx="6766560" cy="1143000"/>
          </a:xfrm>
          <a:prstGeom prst="rect">
            <a:avLst/>
          </a:prstGeom>
          <a:noFill/>
          <a:ln/>
        </p:spPr>
        <p:txBody>
          <a:bodyPr wrap="square" lIns="0" tIns="0" rIns="0" bIns="0" rtlCol="0" anchor="ctr"/>
          <a:lstStyle/>
          <a:p>
            <a:pPr algn="l" indent="0" marL="0">
              <a:buNone/>
            </a:pPr>
            <a:r>
              <a:rPr lang="en-US" sz="5600" b="1" dirty="0">
                <a:solidFill>
                  <a:schemeClr val="tx1"/>
                </a:solidFill>
              </a:rPr>
              <a:t>Expense Tracker</a:t>
            </a:r>
            <a:endParaRPr lang="en-US" sz="5600" dirty="0"/>
          </a:p>
        </p:txBody>
      </p:sp>
      <p:sp>
        <p:nvSpPr>
          <p:cNvPr id="4" name="Text 1"/>
          <p:cNvSpPr/>
          <p:nvPr>
            <p:ph idx="103" type="body" hasCustomPrompt="1"/>
          </p:nvPr>
        </p:nvSpPr>
        <p:spPr>
          <a:xfrm>
            <a:off x="640080" y="2880360"/>
            <a:ext cx="6583680" cy="1051560"/>
          </a:xfrm>
          <a:prstGeom prst="rect">
            <a:avLst/>
          </a:prstGeom>
          <a:noFill/>
          <a:ln/>
        </p:spPr>
        <p:txBody>
          <a:bodyPr wrap="square" lIns="0" tIns="0" rIns="0" bIns="0" rtlCol="0" anchor="t"/>
          <a:lstStyle/>
          <a:p>
            <a:pPr algn="l" indent="0" marL="0">
              <a:buNone/>
            </a:pPr>
            <a:r>
              <a:rPr lang="en-US" sz="2000" dirty="0">
                <a:solidFill>
                  <a:schemeClr val="accent5"/>
                </a:solidFill>
              </a:rPr>
              <a:t>From git push to a monitored Kubernetes cluster: tests, security gates, containers, CI/CD, Terraform, Helm, Argo CD and Prometheus + Grafana.</a:t>
            </a:r>
            <a:endParaRPr lang="en-US" sz="2000" dirty="0"/>
          </a:p>
        </p:txBody>
      </p:sp>
      <p:sp>
        <p:nvSpPr>
          <p:cNvPr id="5" name="Student name"/>
          <p:cNvSpPr txBox="1"/>
          <p:nvPr/>
        </p:nvSpPr>
        <p:spPr>
          <a:xfrm>
            <a:off x="640080" y="4343400"/>
            <a:ext cx="6583680" cy="457200"/>
          </a:xfrm>
          <a:prstGeom prst="rect">
            <a:avLst/>
          </a:prstGeom>
          <a:noFill/>
          <a:ln/>
        </p:spPr>
        <p:txBody>
          <a:bodyPr wrap="square" lIns="0" tIns="0" rIns="0" bIns="0" rtlCol="0" anchor="t"/>
          <a:lstStyle/>
          <a:p>
            <a:pPr indent="0" marL="0">
              <a:buNone/>
            </a:pPr>
            <a:r>
              <a:rPr lang="en-US" sz="2600" b="1" dirty="0">
                <a:solidFill>
                  <a:schemeClr val="tx1"/>
                </a:solidFill>
              </a:rPr>
              <a:t>Om Malviya</a:t>
            </a:r>
            <a:endParaRPr lang="en-US" sz="2600" dirty="0"/>
          </a:p>
        </p:txBody>
      </p:sp>
      <p:sp>
        <p:nvSpPr>
          <p:cNvPr id="6" name="Roll number"/>
          <p:cNvSpPr txBox="1"/>
          <p:nvPr/>
        </p:nvSpPr>
        <p:spPr>
          <a:xfrm>
            <a:off x="640080" y="4800600"/>
            <a:ext cx="6583680" cy="365760"/>
          </a:xfrm>
          <a:prstGeom prst="rect">
            <a:avLst/>
          </a:prstGeom>
          <a:noFill/>
          <a:ln/>
        </p:spPr>
        <p:txBody>
          <a:bodyPr wrap="square" lIns="0" tIns="0" rIns="0" bIns="0" rtlCol="0" anchor="t"/>
          <a:lstStyle/>
          <a:p>
            <a:pPr indent="0" marL="0">
              <a:buNone/>
            </a:pPr>
            <a:r>
              <a:rPr lang="en-US" sz="1800" dirty="0">
                <a:solidFill>
                  <a:schemeClr val="accent5"/>
                </a:solidFill>
              </a:rPr>
              <a:t>Roll No 24BCS10448</a:t>
            </a:r>
            <a:endParaRPr lang="en-US" sz="1800" dirty="0"/>
          </a:p>
        </p:txBody>
      </p:sp>
      <p:sp>
        <p:nvSpPr>
          <p:cNvPr id="7" name="Shape 5"/>
          <p:cNvSpPr/>
          <p:nvPr/>
        </p:nvSpPr>
        <p:spPr>
          <a:xfrm>
            <a:off x="640080" y="5440680"/>
            <a:ext cx="384048" cy="384048"/>
          </a:xfrm>
          <a:prstGeom prst="ellipse">
            <a:avLst/>
          </a:prstGeom>
          <a:solidFill>
            <a:schemeClr val="tx1"/>
          </a:solidFill>
          <a:ln/>
        </p:spPr>
      </p:sp>
      <p:pic>
        <p:nvPicPr>
          <p:cNvPr id="8" name="Image 0" descr="GitHub">    </p:cNvPr>
          <p:cNvPicPr>
            <a:picLocks noChangeAspect="1"/>
          </p:cNvPicPr>
          <p:nvPr/>
        </p:nvPicPr>
        <p:blipFill>
          <a:blip r:embed="rId1"/>
          <a:stretch>
            <a:fillRect/>
          </a:stretch>
        </p:blipFill>
        <p:spPr>
          <a:xfrm>
            <a:off x="716890" y="5517490"/>
            <a:ext cx="230429" cy="230429"/>
          </a:xfrm>
          <a:prstGeom prst="rect">
            <a:avLst/>
          </a:prstGeom>
        </p:spPr>
      </p:pic>
      <p:sp>
        <p:nvSpPr>
          <p:cNvPr id="9" name="Repository URL"/>
          <p:cNvSpPr txBox="1"/>
          <p:nvPr/>
        </p:nvSpPr>
        <p:spPr>
          <a:xfrm>
            <a:off x="1143000" y="5440680"/>
            <a:ext cx="6035040" cy="384048"/>
          </a:xfrm>
          <a:prstGeom prst="rect">
            <a:avLst/>
          </a:prstGeom>
          <a:noFill/>
          <a:ln/>
        </p:spPr>
        <p:txBody>
          <a:bodyPr wrap="square" lIns="0" tIns="0" rIns="0" bIns="0" rtlCol="0" anchor="ctr"/>
          <a:lstStyle/>
          <a:p>
            <a:pPr indent="0" marL="0">
              <a:buNone/>
            </a:pPr>
            <a:r>
              <a:rPr lang="en-US" sz="1700" b="1" u="sng" dirty="0">
                <a:solidFill>
                  <a:schemeClr val="accent1"/>
                </a:solidFill>
                <a:hlinkClick r:id="rId2" invalidUrl="" action="" tgtFrame="" tooltip="Project repository" history="1" highlightClick="0" endSnd="0">
                  <a:extLst>
                    <a:ext uri="{A12FA001-AC4F-418D-AE19-62706E023703}">
                      <ahyp:hlinkClr xmlns:ahyp="http://schemas.microsoft.com/office/drawing/2018/hyperlinkcolor" val="tx"/>
                    </a:ext>
                  </a:extLst>
                </a:hlinkClick>
              </a:rPr>
              <a:t>github.com/om-malviya/expense-tracker-devops</a:t>
            </a:r>
            <a:endParaRPr lang="en-US" sz="1700" dirty="0"/>
          </a:p>
        </p:txBody>
      </p:sp>
      <p:sp>
        <p:nvSpPr>
          <p:cNvPr id="10" name="Tool FastAPI"/>
          <p:cNvSpPr/>
          <p:nvPr/>
        </p:nvSpPr>
        <p:spPr>
          <a:xfrm>
            <a:off x="8107528" y="1188720"/>
            <a:ext cx="914400" cy="914400"/>
          </a:xfrm>
          <a:prstGeom prst="ellipse">
            <a:avLst/>
          </a:prstGeom>
          <a:solidFill>
            <a:schemeClr val="bg1"/>
          </a:solidFill>
          <a:ln/>
        </p:spPr>
      </p:sp>
      <p:pic>
        <p:nvPicPr>
          <p:cNvPr id="11" name="Image 1" descr="FastAPI">    </p:cNvPr>
          <p:cNvPicPr>
            <a:picLocks noChangeAspect="1"/>
          </p:cNvPicPr>
          <p:nvPr/>
        </p:nvPicPr>
        <p:blipFill>
          <a:blip r:embed="rId3"/>
          <a:stretch>
            <a:fillRect/>
          </a:stretch>
        </p:blipFill>
        <p:spPr>
          <a:xfrm>
            <a:off x="8326984" y="1408176"/>
            <a:ext cx="475488" cy="475488"/>
          </a:xfrm>
          <a:prstGeom prst="rect">
            <a:avLst/>
          </a:prstGeom>
        </p:spPr>
      </p:pic>
      <p:sp>
        <p:nvSpPr>
          <p:cNvPr id="12" name="Text 8"/>
          <p:cNvSpPr txBox="1"/>
          <p:nvPr/>
        </p:nvSpPr>
        <p:spPr>
          <a:xfrm>
            <a:off x="7833208" y="2176272"/>
            <a:ext cx="1463040" cy="292608"/>
          </a:xfrm>
          <a:prstGeom prst="rect">
            <a:avLst/>
          </a:prstGeom>
          <a:noFill/>
          <a:ln/>
        </p:spPr>
        <p:txBody>
          <a:bodyPr wrap="square" lIns="0" tIns="0" rIns="0" bIns="0" rtlCol="0" anchor="t"/>
          <a:lstStyle/>
          <a:p>
            <a:pPr algn="ctr" indent="0" marL="0">
              <a:buNone/>
            </a:pPr>
            <a:r>
              <a:rPr lang="en-US" sz="1300" b="1" dirty="0">
                <a:solidFill>
                  <a:schemeClr val="bg1"/>
                </a:solidFill>
              </a:rPr>
              <a:t>FastAPI</a:t>
            </a:r>
            <a:endParaRPr lang="en-US" sz="1300" dirty="0"/>
          </a:p>
        </p:txBody>
      </p:sp>
      <p:sp>
        <p:nvSpPr>
          <p:cNvPr id="13" name="Tool React"/>
          <p:cNvSpPr/>
          <p:nvPr/>
        </p:nvSpPr>
        <p:spPr>
          <a:xfrm>
            <a:off x="9479128" y="1188720"/>
            <a:ext cx="914400" cy="914400"/>
          </a:xfrm>
          <a:prstGeom prst="ellipse">
            <a:avLst/>
          </a:prstGeom>
          <a:solidFill>
            <a:schemeClr val="bg1"/>
          </a:solidFill>
          <a:ln/>
        </p:spPr>
      </p:sp>
      <p:pic>
        <p:nvPicPr>
          <p:cNvPr id="14" name="Image 2" descr="React">    </p:cNvPr>
          <p:cNvPicPr>
            <a:picLocks noChangeAspect="1"/>
          </p:cNvPicPr>
          <p:nvPr/>
        </p:nvPicPr>
        <p:blipFill>
          <a:blip r:embed="rId4"/>
          <a:stretch>
            <a:fillRect/>
          </a:stretch>
        </p:blipFill>
        <p:spPr>
          <a:xfrm>
            <a:off x="9698584" y="1408176"/>
            <a:ext cx="475488" cy="475488"/>
          </a:xfrm>
          <a:prstGeom prst="rect">
            <a:avLst/>
          </a:prstGeom>
        </p:spPr>
      </p:pic>
      <p:sp>
        <p:nvSpPr>
          <p:cNvPr id="15" name="Text 10"/>
          <p:cNvSpPr txBox="1"/>
          <p:nvPr/>
        </p:nvSpPr>
        <p:spPr>
          <a:xfrm>
            <a:off x="9204808" y="2176272"/>
            <a:ext cx="1463040" cy="292608"/>
          </a:xfrm>
          <a:prstGeom prst="rect">
            <a:avLst/>
          </a:prstGeom>
          <a:noFill/>
          <a:ln/>
        </p:spPr>
        <p:txBody>
          <a:bodyPr wrap="square" lIns="0" tIns="0" rIns="0" bIns="0" rtlCol="0" anchor="t"/>
          <a:lstStyle/>
          <a:p>
            <a:pPr algn="ctr" indent="0" marL="0">
              <a:buNone/>
            </a:pPr>
            <a:r>
              <a:rPr lang="en-US" sz="1300" b="1" dirty="0">
                <a:solidFill>
                  <a:schemeClr val="bg1"/>
                </a:solidFill>
              </a:rPr>
              <a:t>React</a:t>
            </a:r>
            <a:endParaRPr lang="en-US" sz="1300" dirty="0"/>
          </a:p>
        </p:txBody>
      </p:sp>
      <p:sp>
        <p:nvSpPr>
          <p:cNvPr id="16" name="Tool PostgreSQL"/>
          <p:cNvSpPr/>
          <p:nvPr/>
        </p:nvSpPr>
        <p:spPr>
          <a:xfrm>
            <a:off x="10850728" y="1188720"/>
            <a:ext cx="914400" cy="914400"/>
          </a:xfrm>
          <a:prstGeom prst="ellipse">
            <a:avLst/>
          </a:prstGeom>
          <a:solidFill>
            <a:schemeClr val="bg1"/>
          </a:solidFill>
          <a:ln/>
        </p:spPr>
      </p:sp>
      <p:pic>
        <p:nvPicPr>
          <p:cNvPr id="17" name="Image 3" descr="PostgreSQL">    </p:cNvPr>
          <p:cNvPicPr>
            <a:picLocks noChangeAspect="1"/>
          </p:cNvPicPr>
          <p:nvPr/>
        </p:nvPicPr>
        <p:blipFill>
          <a:blip r:embed="rId5"/>
          <a:stretch>
            <a:fillRect/>
          </a:stretch>
        </p:blipFill>
        <p:spPr>
          <a:xfrm>
            <a:off x="11070184" y="1408176"/>
            <a:ext cx="475488" cy="475488"/>
          </a:xfrm>
          <a:prstGeom prst="rect">
            <a:avLst/>
          </a:prstGeom>
        </p:spPr>
      </p:pic>
      <p:sp>
        <p:nvSpPr>
          <p:cNvPr id="18" name="Text 12"/>
          <p:cNvSpPr txBox="1"/>
          <p:nvPr/>
        </p:nvSpPr>
        <p:spPr>
          <a:xfrm>
            <a:off x="10576408" y="2176272"/>
            <a:ext cx="1463040" cy="292608"/>
          </a:xfrm>
          <a:prstGeom prst="rect">
            <a:avLst/>
          </a:prstGeom>
          <a:noFill/>
          <a:ln/>
        </p:spPr>
        <p:txBody>
          <a:bodyPr wrap="square" lIns="0" tIns="0" rIns="0" bIns="0" rtlCol="0" anchor="t"/>
          <a:lstStyle/>
          <a:p>
            <a:pPr algn="ctr" indent="0" marL="0">
              <a:buNone/>
            </a:pPr>
            <a:r>
              <a:rPr lang="en-US" sz="1300" b="1" dirty="0">
                <a:solidFill>
                  <a:schemeClr val="bg1"/>
                </a:solidFill>
              </a:rPr>
              <a:t>PostgreSQL</a:t>
            </a:r>
            <a:endParaRPr lang="en-US" sz="1300" dirty="0"/>
          </a:p>
        </p:txBody>
      </p:sp>
      <p:sp>
        <p:nvSpPr>
          <p:cNvPr id="19" name="Tool Docker"/>
          <p:cNvSpPr/>
          <p:nvPr/>
        </p:nvSpPr>
        <p:spPr>
          <a:xfrm>
            <a:off x="8107528" y="2788920"/>
            <a:ext cx="914400" cy="914400"/>
          </a:xfrm>
          <a:prstGeom prst="ellipse">
            <a:avLst/>
          </a:prstGeom>
          <a:solidFill>
            <a:schemeClr val="bg1"/>
          </a:solidFill>
          <a:ln/>
        </p:spPr>
      </p:sp>
      <p:pic>
        <p:nvPicPr>
          <p:cNvPr id="20" name="Image 4" descr="Docker">    </p:cNvPr>
          <p:cNvPicPr>
            <a:picLocks noChangeAspect="1"/>
          </p:cNvPicPr>
          <p:nvPr/>
        </p:nvPicPr>
        <p:blipFill>
          <a:blip r:embed="rId6"/>
          <a:stretch>
            <a:fillRect/>
          </a:stretch>
        </p:blipFill>
        <p:spPr>
          <a:xfrm>
            <a:off x="8326984" y="3008376"/>
            <a:ext cx="475488" cy="475488"/>
          </a:xfrm>
          <a:prstGeom prst="rect">
            <a:avLst/>
          </a:prstGeom>
        </p:spPr>
      </p:pic>
      <p:sp>
        <p:nvSpPr>
          <p:cNvPr id="21" name="Text 14"/>
          <p:cNvSpPr txBox="1"/>
          <p:nvPr/>
        </p:nvSpPr>
        <p:spPr>
          <a:xfrm>
            <a:off x="7833208" y="3776472"/>
            <a:ext cx="1463040" cy="292608"/>
          </a:xfrm>
          <a:prstGeom prst="rect">
            <a:avLst/>
          </a:prstGeom>
          <a:noFill/>
          <a:ln/>
        </p:spPr>
        <p:txBody>
          <a:bodyPr wrap="square" lIns="0" tIns="0" rIns="0" bIns="0" rtlCol="0" anchor="t"/>
          <a:lstStyle/>
          <a:p>
            <a:pPr algn="ctr" indent="0" marL="0">
              <a:buNone/>
            </a:pPr>
            <a:r>
              <a:rPr lang="en-US" sz="1300" b="1" dirty="0">
                <a:solidFill>
                  <a:schemeClr val="bg1"/>
                </a:solidFill>
              </a:rPr>
              <a:t>Docker</a:t>
            </a:r>
            <a:endParaRPr lang="en-US" sz="1300" dirty="0"/>
          </a:p>
        </p:txBody>
      </p:sp>
      <p:sp>
        <p:nvSpPr>
          <p:cNvPr id="22" name="Tool GitHub Actions"/>
          <p:cNvSpPr/>
          <p:nvPr/>
        </p:nvSpPr>
        <p:spPr>
          <a:xfrm>
            <a:off x="9479128" y="2788920"/>
            <a:ext cx="914400" cy="914400"/>
          </a:xfrm>
          <a:prstGeom prst="ellipse">
            <a:avLst/>
          </a:prstGeom>
          <a:solidFill>
            <a:schemeClr val="bg1"/>
          </a:solidFill>
          <a:ln/>
        </p:spPr>
      </p:sp>
      <p:pic>
        <p:nvPicPr>
          <p:cNvPr id="23" name="Image 5" descr="GitHub Actions">    </p:cNvPr>
          <p:cNvPicPr>
            <a:picLocks noChangeAspect="1"/>
          </p:cNvPicPr>
          <p:nvPr/>
        </p:nvPicPr>
        <p:blipFill>
          <a:blip r:embed="rId7"/>
          <a:stretch>
            <a:fillRect/>
          </a:stretch>
        </p:blipFill>
        <p:spPr>
          <a:xfrm>
            <a:off x="9698584" y="3008376"/>
            <a:ext cx="475488" cy="475488"/>
          </a:xfrm>
          <a:prstGeom prst="rect">
            <a:avLst/>
          </a:prstGeom>
        </p:spPr>
      </p:pic>
      <p:sp>
        <p:nvSpPr>
          <p:cNvPr id="24" name="Text 16"/>
          <p:cNvSpPr txBox="1"/>
          <p:nvPr/>
        </p:nvSpPr>
        <p:spPr>
          <a:xfrm>
            <a:off x="9204808" y="3776472"/>
            <a:ext cx="1463040" cy="292608"/>
          </a:xfrm>
          <a:prstGeom prst="rect">
            <a:avLst/>
          </a:prstGeom>
          <a:noFill/>
          <a:ln/>
        </p:spPr>
        <p:txBody>
          <a:bodyPr wrap="square" lIns="0" tIns="0" rIns="0" bIns="0" rtlCol="0" anchor="t"/>
          <a:lstStyle/>
          <a:p>
            <a:pPr algn="ctr" indent="0" marL="0">
              <a:buNone/>
            </a:pPr>
            <a:r>
              <a:rPr lang="en-US" sz="1300" b="1" dirty="0">
                <a:solidFill>
                  <a:schemeClr val="bg1"/>
                </a:solidFill>
              </a:rPr>
              <a:t>GitHub Actions</a:t>
            </a:r>
            <a:endParaRPr lang="en-US" sz="1300" dirty="0"/>
          </a:p>
        </p:txBody>
      </p:sp>
      <p:sp>
        <p:nvSpPr>
          <p:cNvPr id="25" name="Tool Terraform"/>
          <p:cNvSpPr/>
          <p:nvPr/>
        </p:nvSpPr>
        <p:spPr>
          <a:xfrm>
            <a:off x="10850728" y="2788920"/>
            <a:ext cx="914400" cy="914400"/>
          </a:xfrm>
          <a:prstGeom prst="ellipse">
            <a:avLst/>
          </a:prstGeom>
          <a:solidFill>
            <a:schemeClr val="bg1"/>
          </a:solidFill>
          <a:ln/>
        </p:spPr>
      </p:sp>
      <p:pic>
        <p:nvPicPr>
          <p:cNvPr id="26" name="Image 6" descr="Terraform">    </p:cNvPr>
          <p:cNvPicPr>
            <a:picLocks noChangeAspect="1"/>
          </p:cNvPicPr>
          <p:nvPr/>
        </p:nvPicPr>
        <p:blipFill>
          <a:blip r:embed="rId8"/>
          <a:stretch>
            <a:fillRect/>
          </a:stretch>
        </p:blipFill>
        <p:spPr>
          <a:xfrm>
            <a:off x="11070184" y="3008376"/>
            <a:ext cx="475488" cy="475488"/>
          </a:xfrm>
          <a:prstGeom prst="rect">
            <a:avLst/>
          </a:prstGeom>
        </p:spPr>
      </p:pic>
      <p:sp>
        <p:nvSpPr>
          <p:cNvPr id="27" name="Text 18"/>
          <p:cNvSpPr txBox="1"/>
          <p:nvPr/>
        </p:nvSpPr>
        <p:spPr>
          <a:xfrm>
            <a:off x="10576408" y="3776472"/>
            <a:ext cx="1463040" cy="292608"/>
          </a:xfrm>
          <a:prstGeom prst="rect">
            <a:avLst/>
          </a:prstGeom>
          <a:noFill/>
          <a:ln/>
        </p:spPr>
        <p:txBody>
          <a:bodyPr wrap="square" lIns="0" tIns="0" rIns="0" bIns="0" rtlCol="0" anchor="t"/>
          <a:lstStyle/>
          <a:p>
            <a:pPr algn="ctr" indent="0" marL="0">
              <a:buNone/>
            </a:pPr>
            <a:r>
              <a:rPr lang="en-US" sz="1300" b="1" dirty="0">
                <a:solidFill>
                  <a:schemeClr val="bg1"/>
                </a:solidFill>
              </a:rPr>
              <a:t>Terraform</a:t>
            </a:r>
            <a:endParaRPr lang="en-US" sz="1300" dirty="0"/>
          </a:p>
        </p:txBody>
      </p:sp>
      <p:sp>
        <p:nvSpPr>
          <p:cNvPr id="28" name="Tool Kubernetes"/>
          <p:cNvSpPr/>
          <p:nvPr/>
        </p:nvSpPr>
        <p:spPr>
          <a:xfrm>
            <a:off x="8107528" y="4389120"/>
            <a:ext cx="914400" cy="914400"/>
          </a:xfrm>
          <a:prstGeom prst="ellipse">
            <a:avLst/>
          </a:prstGeom>
          <a:solidFill>
            <a:schemeClr val="bg1"/>
          </a:solidFill>
          <a:ln/>
        </p:spPr>
      </p:sp>
      <p:pic>
        <p:nvPicPr>
          <p:cNvPr id="29" name="Image 7" descr="Kubernetes">    </p:cNvPr>
          <p:cNvPicPr>
            <a:picLocks noChangeAspect="1"/>
          </p:cNvPicPr>
          <p:nvPr/>
        </p:nvPicPr>
        <p:blipFill>
          <a:blip r:embed="rId9"/>
          <a:stretch>
            <a:fillRect/>
          </a:stretch>
        </p:blipFill>
        <p:spPr>
          <a:xfrm>
            <a:off x="8326984" y="4608576"/>
            <a:ext cx="475488" cy="475488"/>
          </a:xfrm>
          <a:prstGeom prst="rect">
            <a:avLst/>
          </a:prstGeom>
        </p:spPr>
      </p:pic>
      <p:sp>
        <p:nvSpPr>
          <p:cNvPr id="30" name="Text 20"/>
          <p:cNvSpPr txBox="1"/>
          <p:nvPr/>
        </p:nvSpPr>
        <p:spPr>
          <a:xfrm>
            <a:off x="7833208" y="5376672"/>
            <a:ext cx="1463040" cy="292608"/>
          </a:xfrm>
          <a:prstGeom prst="rect">
            <a:avLst/>
          </a:prstGeom>
          <a:noFill/>
          <a:ln/>
        </p:spPr>
        <p:txBody>
          <a:bodyPr wrap="square" lIns="0" tIns="0" rIns="0" bIns="0" rtlCol="0" anchor="t"/>
          <a:lstStyle/>
          <a:p>
            <a:pPr algn="ctr" indent="0" marL="0">
              <a:buNone/>
            </a:pPr>
            <a:r>
              <a:rPr lang="en-US" sz="1300" b="1" dirty="0">
                <a:solidFill>
                  <a:schemeClr val="bg1"/>
                </a:solidFill>
              </a:rPr>
              <a:t>Kubernetes</a:t>
            </a:r>
            <a:endParaRPr lang="en-US" sz="1300" dirty="0"/>
          </a:p>
        </p:txBody>
      </p:sp>
      <p:sp>
        <p:nvSpPr>
          <p:cNvPr id="31" name="Tool Prometheus"/>
          <p:cNvSpPr/>
          <p:nvPr/>
        </p:nvSpPr>
        <p:spPr>
          <a:xfrm>
            <a:off x="9479128" y="4389120"/>
            <a:ext cx="914400" cy="914400"/>
          </a:xfrm>
          <a:prstGeom prst="ellipse">
            <a:avLst/>
          </a:prstGeom>
          <a:solidFill>
            <a:schemeClr val="bg1"/>
          </a:solidFill>
          <a:ln/>
        </p:spPr>
      </p:sp>
      <p:pic>
        <p:nvPicPr>
          <p:cNvPr id="32" name="Image 8" descr="Prometheus">    </p:cNvPr>
          <p:cNvPicPr>
            <a:picLocks noChangeAspect="1"/>
          </p:cNvPicPr>
          <p:nvPr/>
        </p:nvPicPr>
        <p:blipFill>
          <a:blip r:embed="rId10"/>
          <a:stretch>
            <a:fillRect/>
          </a:stretch>
        </p:blipFill>
        <p:spPr>
          <a:xfrm>
            <a:off x="9698584" y="4608576"/>
            <a:ext cx="475488" cy="475488"/>
          </a:xfrm>
          <a:prstGeom prst="rect">
            <a:avLst/>
          </a:prstGeom>
        </p:spPr>
      </p:pic>
      <p:sp>
        <p:nvSpPr>
          <p:cNvPr id="33" name="Text 22"/>
          <p:cNvSpPr txBox="1"/>
          <p:nvPr/>
        </p:nvSpPr>
        <p:spPr>
          <a:xfrm>
            <a:off x="9204808" y="5376672"/>
            <a:ext cx="1463040" cy="292608"/>
          </a:xfrm>
          <a:prstGeom prst="rect">
            <a:avLst/>
          </a:prstGeom>
          <a:noFill/>
          <a:ln/>
        </p:spPr>
        <p:txBody>
          <a:bodyPr wrap="square" lIns="0" tIns="0" rIns="0" bIns="0" rtlCol="0" anchor="t"/>
          <a:lstStyle/>
          <a:p>
            <a:pPr algn="ctr" indent="0" marL="0">
              <a:buNone/>
            </a:pPr>
            <a:r>
              <a:rPr lang="en-US" sz="1300" b="1" dirty="0">
                <a:solidFill>
                  <a:schemeClr val="bg1"/>
                </a:solidFill>
              </a:rPr>
              <a:t>Prometheus</a:t>
            </a:r>
            <a:endParaRPr lang="en-US" sz="1300" dirty="0"/>
          </a:p>
        </p:txBody>
      </p:sp>
      <p:sp>
        <p:nvSpPr>
          <p:cNvPr id="34" name="Tool Argo CD"/>
          <p:cNvSpPr/>
          <p:nvPr/>
        </p:nvSpPr>
        <p:spPr>
          <a:xfrm>
            <a:off x="10850728" y="4389120"/>
            <a:ext cx="914400" cy="914400"/>
          </a:xfrm>
          <a:prstGeom prst="ellipse">
            <a:avLst/>
          </a:prstGeom>
          <a:solidFill>
            <a:schemeClr val="bg1"/>
          </a:solidFill>
          <a:ln/>
        </p:spPr>
      </p:sp>
      <p:pic>
        <p:nvPicPr>
          <p:cNvPr id="35" name="Image 9" descr="Argo CD">    </p:cNvPr>
          <p:cNvPicPr>
            <a:picLocks noChangeAspect="1"/>
          </p:cNvPicPr>
          <p:nvPr/>
        </p:nvPicPr>
        <p:blipFill>
          <a:blip r:embed="rId11"/>
          <a:stretch>
            <a:fillRect/>
          </a:stretch>
        </p:blipFill>
        <p:spPr>
          <a:xfrm>
            <a:off x="11070184" y="4608576"/>
            <a:ext cx="475488" cy="475488"/>
          </a:xfrm>
          <a:prstGeom prst="rect">
            <a:avLst/>
          </a:prstGeom>
        </p:spPr>
      </p:pic>
      <p:sp>
        <p:nvSpPr>
          <p:cNvPr id="36" name="Text 24"/>
          <p:cNvSpPr txBox="1"/>
          <p:nvPr/>
        </p:nvSpPr>
        <p:spPr>
          <a:xfrm>
            <a:off x="10576408" y="5376672"/>
            <a:ext cx="1463040" cy="292608"/>
          </a:xfrm>
          <a:prstGeom prst="rect">
            <a:avLst/>
          </a:prstGeom>
          <a:noFill/>
          <a:ln/>
        </p:spPr>
        <p:txBody>
          <a:bodyPr wrap="square" lIns="0" tIns="0" rIns="0" bIns="0" rtlCol="0" anchor="t"/>
          <a:lstStyle/>
          <a:p>
            <a:pPr algn="ctr" indent="0" marL="0">
              <a:buNone/>
            </a:pPr>
            <a:r>
              <a:rPr lang="en-US" sz="1300" b="1" dirty="0">
                <a:solidFill>
                  <a:schemeClr val="bg1"/>
                </a:solidFill>
              </a:rPr>
              <a:t>Argo CD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329184"/>
          </a:xfrm>
          <a:prstGeom prst="rect">
            <a:avLst/>
          </a:prstGeom>
          <a:noFill/>
          <a:ln/>
        </p:spPr>
        <p:txBody>
          <a:bodyPr wrap="square" lIns="0" tIns="0" rIns="0" bIns="0" rtlCol="0" anchor="b"/>
          <a:lstStyle/>
          <a:p>
            <a:pPr algn="l" indent="0" marL="0">
              <a:buNone/>
            </a:pPr>
            <a:r>
              <a:rPr lang="en-US" sz="1400" b="1" dirty="0">
                <a:solidFill>
                  <a:schemeClr val="accent2"/>
                </a:solidFill>
              </a:rPr>
              <a:t>OVERVIEW</a:t>
            </a:r>
            <a:endParaRPr lang="en-US" sz="1400" dirty="0"/>
          </a:p>
        </p:txBody>
      </p:sp>
      <p:sp>
        <p:nvSpPr>
          <p:cNvPr id="3" name="Text 0"/>
          <p:cNvSpPr/>
          <p:nvPr>
            <p:ph idx="101" type="title" hasCustomPrompt="1"/>
          </p:nvPr>
        </p:nvSpPr>
        <p:spPr>
          <a:xfrm>
            <a:off x="548640" y="64008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The problem and what I built</a:t>
            </a:r>
            <a:endParaRPr lang="en-US" sz="3600" dirty="0"/>
          </a:p>
        </p:txBody>
      </p:sp>
      <p:sp>
        <p:nvSpPr>
          <p:cNvPr id="4" name="Problem card"/>
          <p:cNvSpPr/>
          <p:nvPr/>
        </p:nvSpPr>
        <p:spPr>
          <a:xfrm>
            <a:off x="548640" y="1554480"/>
            <a:ext cx="4892040" cy="1234440"/>
          </a:xfrm>
          <a:prstGeom prst="roundRect">
            <a:avLst>
              <a:gd name="adj" fmla="val 7407"/>
            </a:avLst>
          </a:prstGeom>
          <a:solidFill>
            <a:schemeClr val="accent4"/>
          </a:solidFill>
          <a:ln/>
        </p:spPr>
      </p:sp>
      <p:sp>
        <p:nvSpPr>
          <p:cNvPr id="5" name="Text 3"/>
          <p:cNvSpPr txBox="1"/>
          <p:nvPr/>
        </p:nvSpPr>
        <p:spPr>
          <a:xfrm>
            <a:off x="777240" y="1554480"/>
            <a:ext cx="4480560" cy="1234440"/>
          </a:xfrm>
          <a:prstGeom prst="rect">
            <a:avLst/>
          </a:prstGeom>
          <a:noFill/>
          <a:ln/>
        </p:spPr>
        <p:txBody>
          <a:bodyPr wrap="square" lIns="0" tIns="0" rIns="0" bIns="0" rtlCol="0" anchor="ctr"/>
          <a:lstStyle/>
          <a:p>
            <a:pPr indent="0" marL="0">
              <a:spcAft>
                <a:spcPts val="400"/>
              </a:spcAft>
              <a:buNone/>
            </a:pPr>
            <a:r>
              <a:rPr lang="en-US" sz="1600" b="1" dirty="0">
                <a:solidFill>
                  <a:schemeClr val="accent2"/>
                </a:solidFill>
              </a:rPr>
              <a:t>The problem</a:t>
            </a:r>
            <a:endParaRPr lang="en-US" sz="1400" dirty="0"/>
          </a:p>
          <a:p>
            <a:pPr indent="0" marL="0">
              <a:spcAft>
                <a:spcPts val="400"/>
              </a:spcAft>
              <a:buNone/>
            </a:pPr>
            <a:r>
              <a:rPr lang="en-US" sz="1600" dirty="0">
                <a:solidFill>
                  <a:schemeClr val="tx1"/>
                </a:solidFill>
              </a:rPr>
              <a:t>At month-end I want to know how much I spent, on what, and how it compares with earlier months.</a:t>
            </a:r>
            <a:endParaRPr lang="en-US" sz="1400" dirty="0"/>
          </a:p>
        </p:txBody>
      </p:sp>
      <p:sp>
        <p:nvSpPr>
          <p:cNvPr id="6" name="Text 4"/>
          <p:cNvSpPr txBox="1"/>
          <p:nvPr/>
        </p:nvSpPr>
        <p:spPr>
          <a:xfrm>
            <a:off x="548640" y="3017520"/>
            <a:ext cx="4892040" cy="365760"/>
          </a:xfrm>
          <a:prstGeom prst="rect">
            <a:avLst/>
          </a:prstGeom>
          <a:noFill/>
          <a:ln/>
        </p:spPr>
        <p:txBody>
          <a:bodyPr wrap="square" lIns="0" tIns="0" rIns="0" bIns="0" rtlCol="0" anchor="t"/>
          <a:lstStyle/>
          <a:p>
            <a:pPr indent="0" marL="0">
              <a:buNone/>
            </a:pPr>
            <a:r>
              <a:rPr lang="en-US" sz="2000" b="1" dirty="0">
                <a:solidFill>
                  <a:schemeClr val="accent1"/>
                </a:solidFill>
              </a:rPr>
              <a:t>What I built</a:t>
            </a:r>
            <a:endParaRPr lang="en-US" sz="2000" dirty="0"/>
          </a:p>
        </p:txBody>
      </p:sp>
      <p:sp>
        <p:nvSpPr>
          <p:cNvPr id="7" name="Text 5"/>
          <p:cNvSpPr txBox="1"/>
          <p:nvPr/>
        </p:nvSpPr>
        <p:spPr>
          <a:xfrm>
            <a:off x="548640" y="3474720"/>
            <a:ext cx="4892040" cy="2697480"/>
          </a:xfrm>
          <a:prstGeom prst="rect">
            <a:avLst/>
          </a:prstGeom>
          <a:noFill/>
          <a:ln/>
        </p:spPr>
        <p:txBody>
          <a:bodyPr wrap="square" lIns="0" tIns="0" rIns="0" bIns="0" rtlCol="0" anchor="t"/>
          <a:lstStyle/>
          <a:p>
            <a:pPr marL="228600" indent="-228600">
              <a:spcAft>
                <a:spcPts val="900"/>
              </a:spcAft>
              <a:buSzPct val="100000"/>
              <a:buChar char="•"/>
            </a:pPr>
            <a:r>
              <a:rPr lang="en-US" sz="1700" dirty="0">
                <a:solidFill>
                  <a:schemeClr val="tx1"/>
                </a:solidFill>
              </a:rPr>
              <a:t>FastAPI REST API: CRUD, filters, summary</a:t>
            </a:r>
            <a:endParaRPr lang="en-US" sz="1700" dirty="0"/>
          </a:p>
          <a:p>
            <a:pPr marL="228600" indent="-228600">
              <a:spcAft>
                <a:spcPts val="900"/>
              </a:spcAft>
              <a:buSzPct val="100000"/>
              <a:buChar char="•"/>
            </a:pPr>
            <a:r>
              <a:rPr lang="en-US" sz="1700" dirty="0">
                <a:solidFill>
                  <a:schemeClr val="tx1"/>
                </a:solidFill>
              </a:rPr>
              <a:t>PostgreSQL 16, schema managed by Alembic</a:t>
            </a:r>
            <a:endParaRPr lang="en-US" sz="1700" dirty="0"/>
          </a:p>
          <a:p>
            <a:pPr marL="228600" indent="-228600">
              <a:spcAft>
                <a:spcPts val="900"/>
              </a:spcAft>
              <a:buSzPct val="100000"/>
              <a:buChar char="•"/>
            </a:pPr>
            <a:r>
              <a:rPr lang="en-US" sz="1700" dirty="0">
                <a:solidFill>
                  <a:schemeClr val="tx1"/>
                </a:solidFill>
              </a:rPr>
              <a:t>React dashboard: KPIs, categories, 6-month trend</a:t>
            </a:r>
            <a:endParaRPr lang="en-US" sz="1700" dirty="0"/>
          </a:p>
          <a:p>
            <a:pPr marL="228600" indent="-228600">
              <a:spcAft>
                <a:spcPts val="900"/>
              </a:spcAft>
              <a:buSzPct val="100000"/>
              <a:buChar char="•"/>
            </a:pPr>
            <a:r>
              <a:rPr lang="en-US" sz="1700" dirty="0">
                <a:solidFill>
                  <a:schemeClr val="tx1"/>
                </a:solidFill>
              </a:rPr>
              <a:t>Filter by category, month or free text</a:t>
            </a:r>
            <a:endParaRPr lang="en-US" sz="1700" dirty="0"/>
          </a:p>
          <a:p>
            <a:pPr marL="228600" indent="-228600">
              <a:spcAft>
                <a:spcPts val="900"/>
              </a:spcAft>
              <a:buSzPct val="100000"/>
              <a:buChar char="•"/>
            </a:pPr>
            <a:r>
              <a:rPr lang="en-US" sz="1700" dirty="0">
                <a:solidFill>
                  <a:schemeClr val="tx1"/>
                </a:solidFill>
              </a:rPr>
              <a:t>Add, edit and delete with validated forms</a:t>
            </a:r>
            <a:endParaRPr lang="en-US" sz="1700" dirty="0"/>
          </a:p>
          <a:p>
            <a:pPr marL="228600" indent="-228600">
              <a:spcAft>
                <a:spcPts val="900"/>
              </a:spcAft>
              <a:buSzPct val="100000"/>
              <a:buChar char="•"/>
            </a:pPr>
            <a:r>
              <a:rPr lang="en-US" sz="1700" dirty="0">
                <a:solidFill>
                  <a:schemeClr val="tx1"/>
                </a:solidFill>
              </a:rPr>
              <a:t>Responsive, with loading and error states</a:t>
            </a:r>
            <a:endParaRPr lang="en-US" sz="1700" dirty="0"/>
          </a:p>
        </p:txBody>
      </p:sp>
      <p:sp>
        <p:nvSpPr>
          <p:cNvPr id="8" name="Shape 6"/>
          <p:cNvSpPr/>
          <p:nvPr/>
        </p:nvSpPr>
        <p:spPr>
          <a:xfrm>
            <a:off x="5763463" y="1554480"/>
            <a:ext cx="5879592" cy="4083050"/>
          </a:xfrm>
          <a:prstGeom prst="rect">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pic>
        <p:nvPicPr>
          <p:cNvPr id="9" name="Image 0" descr="Expense Tracker dashboard with KPI cards, category breakdown, six-month trend and expense table">    </p:cNvPr>
          <p:cNvPicPr>
            <a:picLocks noChangeAspect="1"/>
          </p:cNvPicPr>
          <p:nvPr/>
        </p:nvPicPr>
        <p:blipFill>
          <a:blip r:embed="rId1"/>
          <a:stretch>
            <a:fillRect/>
          </a:stretch>
        </p:blipFill>
        <p:spPr>
          <a:xfrm>
            <a:off x="5763463" y="1554480"/>
            <a:ext cx="5879592" cy="4083050"/>
          </a:xfrm>
          <a:prstGeom prst="rect">
            <a:avLst/>
          </a:prstGeom>
        </p:spPr>
      </p:pic>
      <p:sp>
        <p:nvSpPr>
          <p:cNvPr id="10" name="Text 7"/>
          <p:cNvSpPr txBox="1"/>
          <p:nvPr/>
        </p:nvSpPr>
        <p:spPr>
          <a:xfrm>
            <a:off x="5763463" y="5747258"/>
            <a:ext cx="5879592" cy="274320"/>
          </a:xfrm>
          <a:prstGeom prst="rect">
            <a:avLst/>
          </a:prstGeom>
          <a:noFill/>
          <a:ln/>
        </p:spPr>
        <p:txBody>
          <a:bodyPr wrap="square" lIns="0" tIns="0" rIns="0" bIns="0" rtlCol="0" anchor="t"/>
          <a:lstStyle/>
          <a:p>
            <a:pPr indent="0" marL="0">
              <a:buNone/>
            </a:pPr>
            <a:r>
              <a:rPr lang="en-US" sz="1200" i="1" dirty="0">
                <a:solidFill>
                  <a:schemeClr val="accent5"/>
                </a:solidFill>
              </a:rPr>
              <a:t>Dashboard at localhost:3000, served by nginx from the Docker Compose stack</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329184"/>
          </a:xfrm>
          <a:prstGeom prst="rect">
            <a:avLst/>
          </a:prstGeom>
          <a:noFill/>
          <a:ln/>
        </p:spPr>
        <p:txBody>
          <a:bodyPr wrap="square" lIns="0" tIns="0" rIns="0" bIns="0" rtlCol="0" anchor="b"/>
          <a:lstStyle/>
          <a:p>
            <a:pPr algn="l" indent="0" marL="0">
              <a:buNone/>
            </a:pPr>
            <a:r>
              <a:rPr lang="en-US" sz="1400" b="1" dirty="0">
                <a:solidFill>
                  <a:schemeClr val="accent2"/>
                </a:solidFill>
              </a:rPr>
              <a:t>TECH STACK</a:t>
            </a:r>
            <a:endParaRPr lang="en-US" sz="1400" dirty="0"/>
          </a:p>
        </p:txBody>
      </p:sp>
      <p:sp>
        <p:nvSpPr>
          <p:cNvPr id="3" name="Text 0"/>
          <p:cNvSpPr/>
          <p:nvPr>
            <p:ph idx="101" type="title" hasCustomPrompt="1"/>
          </p:nvPr>
        </p:nvSpPr>
        <p:spPr>
          <a:xfrm>
            <a:off x="548640" y="64008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One tool per job, from code to cluster</a:t>
            </a:r>
            <a:endParaRPr lang="en-US" sz="3600" dirty="0"/>
          </a:p>
        </p:txBody>
      </p:sp>
      <p:sp>
        <p:nvSpPr>
          <p:cNvPr id="4" name="Stack App"/>
          <p:cNvSpPr/>
          <p:nvPr/>
        </p:nvSpPr>
        <p:spPr>
          <a:xfrm>
            <a:off x="548640" y="1554480"/>
            <a:ext cx="3515258" cy="1371600"/>
          </a:xfrm>
          <a:prstGeom prst="roundRect">
            <a:avLst>
              <a:gd name="adj" fmla="val 6667"/>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49808" y="1938528"/>
            <a:ext cx="603504" cy="603504"/>
          </a:xfrm>
          <a:prstGeom prst="ellipse">
            <a:avLst/>
          </a:prstGeom>
          <a:solidFill>
            <a:schemeClr val="accent1"/>
          </a:solidFill>
          <a:ln/>
        </p:spPr>
      </p:sp>
      <p:pic>
        <p:nvPicPr>
          <p:cNvPr id="6" name="Image 0" descr="App">    </p:cNvPr>
          <p:cNvPicPr>
            <a:picLocks noChangeAspect="1"/>
          </p:cNvPicPr>
          <p:nvPr/>
        </p:nvPicPr>
        <p:blipFill>
          <a:blip r:embed="rId1"/>
          <a:stretch>
            <a:fillRect/>
          </a:stretch>
        </p:blipFill>
        <p:spPr>
          <a:xfrm>
            <a:off x="882579" y="2071299"/>
            <a:ext cx="337962" cy="337962"/>
          </a:xfrm>
          <a:prstGeom prst="rect">
            <a:avLst/>
          </a:prstGeom>
        </p:spPr>
      </p:pic>
      <p:sp>
        <p:nvSpPr>
          <p:cNvPr id="7" name="Text 4"/>
          <p:cNvSpPr txBox="1"/>
          <p:nvPr/>
        </p:nvSpPr>
        <p:spPr>
          <a:xfrm>
            <a:off x="1536192" y="1627632"/>
            <a:ext cx="2372258" cy="1225296"/>
          </a:xfrm>
          <a:prstGeom prst="rect">
            <a:avLst/>
          </a:prstGeom>
          <a:noFill/>
          <a:ln/>
        </p:spPr>
        <p:txBody>
          <a:bodyPr wrap="square" lIns="0" tIns="0" rIns="0" bIns="0" rtlCol="0" anchor="ctr"/>
          <a:lstStyle/>
          <a:p>
            <a:pPr indent="0" marL="0">
              <a:spcAft>
                <a:spcPts val="400"/>
              </a:spcAft>
              <a:buNone/>
            </a:pPr>
            <a:r>
              <a:rPr lang="en-US" sz="1800" b="1" dirty="0">
                <a:solidFill>
                  <a:schemeClr val="tx1"/>
                </a:solidFill>
              </a:rPr>
              <a:t>App</a:t>
            </a:r>
            <a:endParaRPr lang="en-US" sz="1400" dirty="0"/>
          </a:p>
          <a:p>
            <a:pPr indent="0" marL="0">
              <a:spcAft>
                <a:spcPts val="400"/>
              </a:spcAft>
              <a:buNone/>
            </a:pPr>
            <a:r>
              <a:rPr lang="en-US" sz="1400" dirty="0">
                <a:solidFill>
                  <a:schemeClr val="accent5"/>
                </a:solidFill>
              </a:rPr>
              <a:t>FastAPI · React 18 · Vite 7 · served by nginx</a:t>
            </a:r>
            <a:endParaRPr lang="en-US" sz="1400" dirty="0"/>
          </a:p>
        </p:txBody>
      </p:sp>
      <p:sp>
        <p:nvSpPr>
          <p:cNvPr id="8" name="Stack Data"/>
          <p:cNvSpPr/>
          <p:nvPr/>
        </p:nvSpPr>
        <p:spPr>
          <a:xfrm>
            <a:off x="4338218" y="1554480"/>
            <a:ext cx="3515258" cy="1371600"/>
          </a:xfrm>
          <a:prstGeom prst="roundRect">
            <a:avLst>
              <a:gd name="adj" fmla="val 6667"/>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9" name="Shape 6"/>
          <p:cNvSpPr/>
          <p:nvPr/>
        </p:nvSpPr>
        <p:spPr>
          <a:xfrm>
            <a:off x="4539386" y="1938528"/>
            <a:ext cx="603504" cy="603504"/>
          </a:xfrm>
          <a:prstGeom prst="ellipse">
            <a:avLst/>
          </a:prstGeom>
          <a:solidFill>
            <a:schemeClr val="accent1"/>
          </a:solidFill>
          <a:ln/>
        </p:spPr>
      </p:sp>
      <p:pic>
        <p:nvPicPr>
          <p:cNvPr id="10" name="Image 1" descr="Data">    </p:cNvPr>
          <p:cNvPicPr>
            <a:picLocks noChangeAspect="1"/>
          </p:cNvPicPr>
          <p:nvPr/>
        </p:nvPicPr>
        <p:blipFill>
          <a:blip r:embed="rId2"/>
          <a:stretch>
            <a:fillRect/>
          </a:stretch>
        </p:blipFill>
        <p:spPr>
          <a:xfrm>
            <a:off x="4672157" y="2071299"/>
            <a:ext cx="337962" cy="337962"/>
          </a:xfrm>
          <a:prstGeom prst="rect">
            <a:avLst/>
          </a:prstGeom>
        </p:spPr>
      </p:pic>
      <p:sp>
        <p:nvSpPr>
          <p:cNvPr id="11" name="Text 7"/>
          <p:cNvSpPr txBox="1"/>
          <p:nvPr/>
        </p:nvSpPr>
        <p:spPr>
          <a:xfrm>
            <a:off x="5325770" y="1627632"/>
            <a:ext cx="2372258" cy="1225296"/>
          </a:xfrm>
          <a:prstGeom prst="rect">
            <a:avLst/>
          </a:prstGeom>
          <a:noFill/>
          <a:ln/>
        </p:spPr>
        <p:txBody>
          <a:bodyPr wrap="square" lIns="0" tIns="0" rIns="0" bIns="0" rtlCol="0" anchor="ctr"/>
          <a:lstStyle/>
          <a:p>
            <a:pPr indent="0" marL="0">
              <a:spcAft>
                <a:spcPts val="400"/>
              </a:spcAft>
              <a:buNone/>
            </a:pPr>
            <a:r>
              <a:rPr lang="en-US" sz="1800" b="1" dirty="0">
                <a:solidFill>
                  <a:schemeClr val="tx1"/>
                </a:solidFill>
              </a:rPr>
              <a:t>Data</a:t>
            </a:r>
            <a:endParaRPr lang="en-US" sz="1400" dirty="0"/>
          </a:p>
          <a:p>
            <a:pPr indent="0" marL="0">
              <a:spcAft>
                <a:spcPts val="400"/>
              </a:spcAft>
              <a:buNone/>
            </a:pPr>
            <a:r>
              <a:rPr lang="en-US" sz="1400" dirty="0">
                <a:solidFill>
                  <a:schemeClr val="accent5"/>
                </a:solidFill>
              </a:rPr>
              <a:t>PostgreSQL 16 · SQLAlchemy 2 · Alembic migrations</a:t>
            </a:r>
            <a:endParaRPr lang="en-US" sz="1400" dirty="0"/>
          </a:p>
        </p:txBody>
      </p:sp>
      <p:sp>
        <p:nvSpPr>
          <p:cNvPr id="12" name="Stack Quality &amp; Security"/>
          <p:cNvSpPr/>
          <p:nvPr/>
        </p:nvSpPr>
        <p:spPr>
          <a:xfrm>
            <a:off x="8127797" y="1554480"/>
            <a:ext cx="3515258" cy="1371600"/>
          </a:xfrm>
          <a:prstGeom prst="roundRect">
            <a:avLst>
              <a:gd name="adj" fmla="val 6667"/>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13" name="Shape 9"/>
          <p:cNvSpPr/>
          <p:nvPr/>
        </p:nvSpPr>
        <p:spPr>
          <a:xfrm>
            <a:off x="8328965" y="1938528"/>
            <a:ext cx="603504" cy="603504"/>
          </a:xfrm>
          <a:prstGeom prst="ellipse">
            <a:avLst/>
          </a:prstGeom>
          <a:solidFill>
            <a:schemeClr val="accent2"/>
          </a:solidFill>
          <a:ln/>
        </p:spPr>
      </p:sp>
      <p:pic>
        <p:nvPicPr>
          <p:cNvPr id="14" name="Image 2" descr="Quality &amp; Security">    </p:cNvPr>
          <p:cNvPicPr>
            <a:picLocks noChangeAspect="1"/>
          </p:cNvPicPr>
          <p:nvPr/>
        </p:nvPicPr>
        <p:blipFill>
          <a:blip r:embed="rId3"/>
          <a:stretch>
            <a:fillRect/>
          </a:stretch>
        </p:blipFill>
        <p:spPr>
          <a:xfrm>
            <a:off x="8461736" y="2071299"/>
            <a:ext cx="337962" cy="337962"/>
          </a:xfrm>
          <a:prstGeom prst="rect">
            <a:avLst/>
          </a:prstGeom>
        </p:spPr>
      </p:pic>
      <p:sp>
        <p:nvSpPr>
          <p:cNvPr id="15" name="Text 10"/>
          <p:cNvSpPr txBox="1"/>
          <p:nvPr/>
        </p:nvSpPr>
        <p:spPr>
          <a:xfrm>
            <a:off x="9115349" y="1627632"/>
            <a:ext cx="2372258" cy="1225296"/>
          </a:xfrm>
          <a:prstGeom prst="rect">
            <a:avLst/>
          </a:prstGeom>
          <a:noFill/>
          <a:ln/>
        </p:spPr>
        <p:txBody>
          <a:bodyPr wrap="square" lIns="0" tIns="0" rIns="0" bIns="0" rtlCol="0" anchor="ctr"/>
          <a:lstStyle/>
          <a:p>
            <a:pPr indent="0" marL="0">
              <a:spcAft>
                <a:spcPts val="400"/>
              </a:spcAft>
              <a:buNone/>
            </a:pPr>
            <a:r>
              <a:rPr lang="en-US" sz="1800" b="1" dirty="0">
                <a:solidFill>
                  <a:schemeClr val="tx1"/>
                </a:solidFill>
              </a:rPr>
              <a:t>Quality &amp; Security</a:t>
            </a:r>
            <a:endParaRPr lang="en-US" sz="1400" dirty="0"/>
          </a:p>
          <a:p>
            <a:pPr indent="0" marL="0">
              <a:spcAft>
                <a:spcPts val="400"/>
              </a:spcAft>
              <a:buNone/>
            </a:pPr>
            <a:r>
              <a:rPr lang="en-US" sz="1400" dirty="0">
                <a:solidFill>
                  <a:schemeClr val="accent5"/>
                </a:solidFill>
              </a:rPr>
              <a:t>pytest · ruff · Bandit · pip-audit · Gitleaks · Trivy</a:t>
            </a:r>
            <a:endParaRPr lang="en-US" sz="1400" dirty="0"/>
          </a:p>
        </p:txBody>
      </p:sp>
      <p:sp>
        <p:nvSpPr>
          <p:cNvPr id="16" name="Stack Containers"/>
          <p:cNvSpPr/>
          <p:nvPr/>
        </p:nvSpPr>
        <p:spPr>
          <a:xfrm>
            <a:off x="548640" y="3127248"/>
            <a:ext cx="3515258" cy="1371600"/>
          </a:xfrm>
          <a:prstGeom prst="roundRect">
            <a:avLst>
              <a:gd name="adj" fmla="val 6667"/>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17" name="Shape 12"/>
          <p:cNvSpPr/>
          <p:nvPr/>
        </p:nvSpPr>
        <p:spPr>
          <a:xfrm>
            <a:off x="749808" y="3511296"/>
            <a:ext cx="603504" cy="603504"/>
          </a:xfrm>
          <a:prstGeom prst="ellipse">
            <a:avLst/>
          </a:prstGeom>
          <a:solidFill>
            <a:schemeClr val="accent1"/>
          </a:solidFill>
          <a:ln/>
        </p:spPr>
      </p:sp>
      <p:pic>
        <p:nvPicPr>
          <p:cNvPr id="18" name="Image 3" descr="Containers">    </p:cNvPr>
          <p:cNvPicPr>
            <a:picLocks noChangeAspect="1"/>
          </p:cNvPicPr>
          <p:nvPr/>
        </p:nvPicPr>
        <p:blipFill>
          <a:blip r:embed="rId4"/>
          <a:stretch>
            <a:fillRect/>
          </a:stretch>
        </p:blipFill>
        <p:spPr>
          <a:xfrm>
            <a:off x="882579" y="3644067"/>
            <a:ext cx="337962" cy="337962"/>
          </a:xfrm>
          <a:prstGeom prst="rect">
            <a:avLst/>
          </a:prstGeom>
        </p:spPr>
      </p:pic>
      <p:sp>
        <p:nvSpPr>
          <p:cNvPr id="19" name="Text 13"/>
          <p:cNvSpPr txBox="1"/>
          <p:nvPr/>
        </p:nvSpPr>
        <p:spPr>
          <a:xfrm>
            <a:off x="1536192" y="3200400"/>
            <a:ext cx="2372258" cy="1225296"/>
          </a:xfrm>
          <a:prstGeom prst="rect">
            <a:avLst/>
          </a:prstGeom>
          <a:noFill/>
          <a:ln/>
        </p:spPr>
        <p:txBody>
          <a:bodyPr wrap="square" lIns="0" tIns="0" rIns="0" bIns="0" rtlCol="0" anchor="ctr"/>
          <a:lstStyle/>
          <a:p>
            <a:pPr indent="0" marL="0">
              <a:spcAft>
                <a:spcPts val="400"/>
              </a:spcAft>
              <a:buNone/>
            </a:pPr>
            <a:r>
              <a:rPr lang="en-US" sz="1800" b="1" dirty="0">
                <a:solidFill>
                  <a:schemeClr val="tx1"/>
                </a:solidFill>
              </a:rPr>
              <a:t>Containers</a:t>
            </a:r>
            <a:endParaRPr lang="en-US" sz="1400" dirty="0"/>
          </a:p>
          <a:p>
            <a:pPr indent="0" marL="0">
              <a:spcAft>
                <a:spcPts val="400"/>
              </a:spcAft>
              <a:buNone/>
            </a:pPr>
            <a:r>
              <a:rPr lang="en-US" sz="1400" dirty="0">
                <a:solidFill>
                  <a:schemeClr val="accent5"/>
                </a:solidFill>
              </a:rPr>
              <a:t>Docker multi-stage builds · Compose · non-root images</a:t>
            </a:r>
            <a:endParaRPr lang="en-US" sz="1400" dirty="0"/>
          </a:p>
        </p:txBody>
      </p:sp>
      <p:sp>
        <p:nvSpPr>
          <p:cNvPr id="20" name="Stack CI/CD"/>
          <p:cNvSpPr/>
          <p:nvPr/>
        </p:nvSpPr>
        <p:spPr>
          <a:xfrm>
            <a:off x="4338218" y="3127248"/>
            <a:ext cx="3515258" cy="1371600"/>
          </a:xfrm>
          <a:prstGeom prst="roundRect">
            <a:avLst>
              <a:gd name="adj" fmla="val 6667"/>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21" name="Shape 15"/>
          <p:cNvSpPr/>
          <p:nvPr/>
        </p:nvSpPr>
        <p:spPr>
          <a:xfrm>
            <a:off x="4539386" y="3511296"/>
            <a:ext cx="603504" cy="603504"/>
          </a:xfrm>
          <a:prstGeom prst="ellipse">
            <a:avLst/>
          </a:prstGeom>
          <a:solidFill>
            <a:schemeClr val="accent1"/>
          </a:solidFill>
          <a:ln/>
        </p:spPr>
      </p:sp>
      <p:pic>
        <p:nvPicPr>
          <p:cNvPr id="22" name="Image 4" descr="CI/CD">    </p:cNvPr>
          <p:cNvPicPr>
            <a:picLocks noChangeAspect="1"/>
          </p:cNvPicPr>
          <p:nvPr/>
        </p:nvPicPr>
        <p:blipFill>
          <a:blip r:embed="rId5"/>
          <a:stretch>
            <a:fillRect/>
          </a:stretch>
        </p:blipFill>
        <p:spPr>
          <a:xfrm>
            <a:off x="4672157" y="3644067"/>
            <a:ext cx="337962" cy="337962"/>
          </a:xfrm>
          <a:prstGeom prst="rect">
            <a:avLst/>
          </a:prstGeom>
        </p:spPr>
      </p:pic>
      <p:sp>
        <p:nvSpPr>
          <p:cNvPr id="23" name="Text 16"/>
          <p:cNvSpPr txBox="1"/>
          <p:nvPr/>
        </p:nvSpPr>
        <p:spPr>
          <a:xfrm>
            <a:off x="5325770" y="3200400"/>
            <a:ext cx="2372258" cy="1225296"/>
          </a:xfrm>
          <a:prstGeom prst="rect">
            <a:avLst/>
          </a:prstGeom>
          <a:noFill/>
          <a:ln/>
        </p:spPr>
        <p:txBody>
          <a:bodyPr wrap="square" lIns="0" tIns="0" rIns="0" bIns="0" rtlCol="0" anchor="ctr"/>
          <a:lstStyle/>
          <a:p>
            <a:pPr indent="0" marL="0">
              <a:spcAft>
                <a:spcPts val="400"/>
              </a:spcAft>
              <a:buNone/>
            </a:pPr>
            <a:r>
              <a:rPr lang="en-US" sz="1800" b="1" dirty="0">
                <a:solidFill>
                  <a:schemeClr val="tx1"/>
                </a:solidFill>
              </a:rPr>
              <a:t>CI/CD</a:t>
            </a:r>
            <a:endParaRPr lang="en-US" sz="1400" dirty="0"/>
          </a:p>
          <a:p>
            <a:pPr indent="0" marL="0">
              <a:spcAft>
                <a:spcPts val="400"/>
              </a:spcAft>
              <a:buNone/>
            </a:pPr>
            <a:r>
              <a:rPr lang="en-US" sz="1400" dirty="0">
                <a:solidFill>
                  <a:schemeClr val="accent5"/>
                </a:solidFill>
              </a:rPr>
              <a:t>GitHub Actions · GHCR images tagged with the git SHA</a:t>
            </a:r>
            <a:endParaRPr lang="en-US" sz="1400" dirty="0"/>
          </a:p>
        </p:txBody>
      </p:sp>
      <p:sp>
        <p:nvSpPr>
          <p:cNvPr id="24" name="Stack IaC"/>
          <p:cNvSpPr/>
          <p:nvPr/>
        </p:nvSpPr>
        <p:spPr>
          <a:xfrm>
            <a:off x="8127797" y="3127248"/>
            <a:ext cx="3515258" cy="1371600"/>
          </a:xfrm>
          <a:prstGeom prst="roundRect">
            <a:avLst>
              <a:gd name="adj" fmla="val 6667"/>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25" name="Shape 18"/>
          <p:cNvSpPr/>
          <p:nvPr/>
        </p:nvSpPr>
        <p:spPr>
          <a:xfrm>
            <a:off x="8328965" y="3511296"/>
            <a:ext cx="603504" cy="603504"/>
          </a:xfrm>
          <a:prstGeom prst="ellipse">
            <a:avLst/>
          </a:prstGeom>
          <a:solidFill>
            <a:schemeClr val="accent1"/>
          </a:solidFill>
          <a:ln/>
        </p:spPr>
      </p:sp>
      <p:pic>
        <p:nvPicPr>
          <p:cNvPr id="26" name="Image 5" descr="IaC">    </p:cNvPr>
          <p:cNvPicPr>
            <a:picLocks noChangeAspect="1"/>
          </p:cNvPicPr>
          <p:nvPr/>
        </p:nvPicPr>
        <p:blipFill>
          <a:blip r:embed="rId6"/>
          <a:stretch>
            <a:fillRect/>
          </a:stretch>
        </p:blipFill>
        <p:spPr>
          <a:xfrm>
            <a:off x="8461736" y="3644067"/>
            <a:ext cx="337962" cy="337962"/>
          </a:xfrm>
          <a:prstGeom prst="rect">
            <a:avLst/>
          </a:prstGeom>
        </p:spPr>
      </p:pic>
      <p:sp>
        <p:nvSpPr>
          <p:cNvPr id="27" name="Text 19"/>
          <p:cNvSpPr txBox="1"/>
          <p:nvPr/>
        </p:nvSpPr>
        <p:spPr>
          <a:xfrm>
            <a:off x="9115349" y="3200400"/>
            <a:ext cx="2372258" cy="1225296"/>
          </a:xfrm>
          <a:prstGeom prst="rect">
            <a:avLst/>
          </a:prstGeom>
          <a:noFill/>
          <a:ln/>
        </p:spPr>
        <p:txBody>
          <a:bodyPr wrap="square" lIns="0" tIns="0" rIns="0" bIns="0" rtlCol="0" anchor="ctr"/>
          <a:lstStyle/>
          <a:p>
            <a:pPr indent="0" marL="0">
              <a:spcAft>
                <a:spcPts val="400"/>
              </a:spcAft>
              <a:buNone/>
            </a:pPr>
            <a:r>
              <a:rPr lang="en-US" sz="1800" b="1" dirty="0">
                <a:solidFill>
                  <a:schemeClr val="tx1"/>
                </a:solidFill>
              </a:rPr>
              <a:t>IaC</a:t>
            </a:r>
            <a:endParaRPr lang="en-US" sz="1400" dirty="0"/>
          </a:p>
          <a:p>
            <a:pPr indent="0" marL="0">
              <a:spcAft>
                <a:spcPts val="400"/>
              </a:spcAft>
              <a:buNone/>
            </a:pPr>
            <a:r>
              <a:rPr lang="en-US" sz="1400" dirty="0">
                <a:solidFill>
                  <a:schemeClr val="accent5"/>
                </a:solidFill>
              </a:rPr>
              <a:t>Terraform 1.16 · AWS VPC + EKS 1.31 (ap-south-1)</a:t>
            </a:r>
            <a:endParaRPr lang="en-US" sz="1400" dirty="0"/>
          </a:p>
        </p:txBody>
      </p:sp>
      <p:sp>
        <p:nvSpPr>
          <p:cNvPr id="28" name="Stack Orchestration"/>
          <p:cNvSpPr/>
          <p:nvPr/>
        </p:nvSpPr>
        <p:spPr>
          <a:xfrm>
            <a:off x="548640" y="4700016"/>
            <a:ext cx="3515258" cy="1371600"/>
          </a:xfrm>
          <a:prstGeom prst="roundRect">
            <a:avLst>
              <a:gd name="adj" fmla="val 6667"/>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29" name="Shape 21"/>
          <p:cNvSpPr/>
          <p:nvPr/>
        </p:nvSpPr>
        <p:spPr>
          <a:xfrm>
            <a:off x="749808" y="5084064"/>
            <a:ext cx="603504" cy="603504"/>
          </a:xfrm>
          <a:prstGeom prst="ellipse">
            <a:avLst/>
          </a:prstGeom>
          <a:solidFill>
            <a:schemeClr val="accent1"/>
          </a:solidFill>
          <a:ln/>
        </p:spPr>
      </p:sp>
      <p:pic>
        <p:nvPicPr>
          <p:cNvPr id="30" name="Image 6" descr="Orchestration">    </p:cNvPr>
          <p:cNvPicPr>
            <a:picLocks noChangeAspect="1"/>
          </p:cNvPicPr>
          <p:nvPr/>
        </p:nvPicPr>
        <p:blipFill>
          <a:blip r:embed="rId7"/>
          <a:stretch>
            <a:fillRect/>
          </a:stretch>
        </p:blipFill>
        <p:spPr>
          <a:xfrm>
            <a:off x="882579" y="5216835"/>
            <a:ext cx="337962" cy="337962"/>
          </a:xfrm>
          <a:prstGeom prst="rect">
            <a:avLst/>
          </a:prstGeom>
        </p:spPr>
      </p:pic>
      <p:sp>
        <p:nvSpPr>
          <p:cNvPr id="31" name="Text 22"/>
          <p:cNvSpPr txBox="1"/>
          <p:nvPr/>
        </p:nvSpPr>
        <p:spPr>
          <a:xfrm>
            <a:off x="1536192" y="4773168"/>
            <a:ext cx="2372258" cy="1225296"/>
          </a:xfrm>
          <a:prstGeom prst="rect">
            <a:avLst/>
          </a:prstGeom>
          <a:noFill/>
          <a:ln/>
        </p:spPr>
        <p:txBody>
          <a:bodyPr wrap="square" lIns="0" tIns="0" rIns="0" bIns="0" rtlCol="0" anchor="ctr"/>
          <a:lstStyle/>
          <a:p>
            <a:pPr indent="0" marL="0">
              <a:spcAft>
                <a:spcPts val="400"/>
              </a:spcAft>
              <a:buNone/>
            </a:pPr>
            <a:r>
              <a:rPr lang="en-US" sz="1800" b="1" dirty="0">
                <a:solidFill>
                  <a:schemeClr val="tx1"/>
                </a:solidFill>
              </a:rPr>
              <a:t>Orchestration</a:t>
            </a:r>
            <a:endParaRPr lang="en-US" sz="1400" dirty="0"/>
          </a:p>
          <a:p>
            <a:pPr indent="0" marL="0">
              <a:spcAft>
                <a:spcPts val="400"/>
              </a:spcAft>
              <a:buNone/>
            </a:pPr>
            <a:r>
              <a:rPr lang="en-US" sz="1400" dirty="0">
                <a:solidFill>
                  <a:schemeClr val="accent5"/>
                </a:solidFill>
              </a:rPr>
              <a:t>Kubernetes (k3s, EKS) · Helm · Traefik Ingress · HPA</a:t>
            </a:r>
            <a:endParaRPr lang="en-US" sz="1400" dirty="0"/>
          </a:p>
        </p:txBody>
      </p:sp>
      <p:sp>
        <p:nvSpPr>
          <p:cNvPr id="32" name="Stack Observability"/>
          <p:cNvSpPr/>
          <p:nvPr/>
        </p:nvSpPr>
        <p:spPr>
          <a:xfrm>
            <a:off x="4338218" y="4700016"/>
            <a:ext cx="3515258" cy="1371600"/>
          </a:xfrm>
          <a:prstGeom prst="roundRect">
            <a:avLst>
              <a:gd name="adj" fmla="val 6667"/>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33" name="Shape 24"/>
          <p:cNvSpPr/>
          <p:nvPr/>
        </p:nvSpPr>
        <p:spPr>
          <a:xfrm>
            <a:off x="4539386" y="5084064"/>
            <a:ext cx="603504" cy="603504"/>
          </a:xfrm>
          <a:prstGeom prst="ellipse">
            <a:avLst/>
          </a:prstGeom>
          <a:solidFill>
            <a:schemeClr val="accent1"/>
          </a:solidFill>
          <a:ln/>
        </p:spPr>
      </p:sp>
      <p:pic>
        <p:nvPicPr>
          <p:cNvPr id="34" name="Image 7" descr="Observability">    </p:cNvPr>
          <p:cNvPicPr>
            <a:picLocks noChangeAspect="1"/>
          </p:cNvPicPr>
          <p:nvPr/>
        </p:nvPicPr>
        <p:blipFill>
          <a:blip r:embed="rId8"/>
          <a:stretch>
            <a:fillRect/>
          </a:stretch>
        </p:blipFill>
        <p:spPr>
          <a:xfrm>
            <a:off x="4672157" y="5216835"/>
            <a:ext cx="337962" cy="337962"/>
          </a:xfrm>
          <a:prstGeom prst="rect">
            <a:avLst/>
          </a:prstGeom>
        </p:spPr>
      </p:pic>
      <p:sp>
        <p:nvSpPr>
          <p:cNvPr id="35" name="Text 25"/>
          <p:cNvSpPr txBox="1"/>
          <p:nvPr/>
        </p:nvSpPr>
        <p:spPr>
          <a:xfrm>
            <a:off x="5325770" y="4773168"/>
            <a:ext cx="2372258" cy="1225296"/>
          </a:xfrm>
          <a:prstGeom prst="rect">
            <a:avLst/>
          </a:prstGeom>
          <a:noFill/>
          <a:ln/>
        </p:spPr>
        <p:txBody>
          <a:bodyPr wrap="square" lIns="0" tIns="0" rIns="0" bIns="0" rtlCol="0" anchor="ctr"/>
          <a:lstStyle/>
          <a:p>
            <a:pPr indent="0" marL="0">
              <a:spcAft>
                <a:spcPts val="400"/>
              </a:spcAft>
              <a:buNone/>
            </a:pPr>
            <a:r>
              <a:rPr lang="en-US" sz="1800" b="1" dirty="0">
                <a:solidFill>
                  <a:schemeClr val="tx1"/>
                </a:solidFill>
              </a:rPr>
              <a:t>Observability</a:t>
            </a:r>
            <a:endParaRPr lang="en-US" sz="1400" dirty="0"/>
          </a:p>
          <a:p>
            <a:pPr indent="0" marL="0">
              <a:spcAft>
                <a:spcPts val="400"/>
              </a:spcAft>
              <a:buNone/>
            </a:pPr>
            <a:r>
              <a:rPr lang="en-US" sz="1400" dirty="0">
                <a:solidFill>
                  <a:schemeClr val="accent5"/>
                </a:solidFill>
              </a:rPr>
              <a:t>Prometheus · Grafana · Alertmanager · ServiceMonitor</a:t>
            </a:r>
            <a:endParaRPr lang="en-US" sz="1400" dirty="0"/>
          </a:p>
        </p:txBody>
      </p:sp>
      <p:sp>
        <p:nvSpPr>
          <p:cNvPr id="36" name="Stack GitOps"/>
          <p:cNvSpPr/>
          <p:nvPr/>
        </p:nvSpPr>
        <p:spPr>
          <a:xfrm>
            <a:off x="8127797" y="4700016"/>
            <a:ext cx="3515258" cy="1371600"/>
          </a:xfrm>
          <a:prstGeom prst="roundRect">
            <a:avLst>
              <a:gd name="adj" fmla="val 6667"/>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37" name="Shape 27"/>
          <p:cNvSpPr/>
          <p:nvPr/>
        </p:nvSpPr>
        <p:spPr>
          <a:xfrm>
            <a:off x="8328965" y="5084064"/>
            <a:ext cx="603504" cy="603504"/>
          </a:xfrm>
          <a:prstGeom prst="ellipse">
            <a:avLst/>
          </a:prstGeom>
          <a:solidFill>
            <a:schemeClr val="accent1"/>
          </a:solidFill>
          <a:ln/>
        </p:spPr>
      </p:sp>
      <p:pic>
        <p:nvPicPr>
          <p:cNvPr id="38" name="Image 8" descr="GitOps">    </p:cNvPr>
          <p:cNvPicPr>
            <a:picLocks noChangeAspect="1"/>
          </p:cNvPicPr>
          <p:nvPr/>
        </p:nvPicPr>
        <p:blipFill>
          <a:blip r:embed="rId9"/>
          <a:stretch>
            <a:fillRect/>
          </a:stretch>
        </p:blipFill>
        <p:spPr>
          <a:xfrm>
            <a:off x="8461736" y="5216835"/>
            <a:ext cx="337962" cy="337962"/>
          </a:xfrm>
          <a:prstGeom prst="rect">
            <a:avLst/>
          </a:prstGeom>
        </p:spPr>
      </p:pic>
      <p:sp>
        <p:nvSpPr>
          <p:cNvPr id="39" name="Text 28"/>
          <p:cNvSpPr txBox="1"/>
          <p:nvPr/>
        </p:nvSpPr>
        <p:spPr>
          <a:xfrm>
            <a:off x="9115349" y="4773168"/>
            <a:ext cx="2372258" cy="1225296"/>
          </a:xfrm>
          <a:prstGeom prst="rect">
            <a:avLst/>
          </a:prstGeom>
          <a:noFill/>
          <a:ln/>
        </p:spPr>
        <p:txBody>
          <a:bodyPr wrap="square" lIns="0" tIns="0" rIns="0" bIns="0" rtlCol="0" anchor="ctr"/>
          <a:lstStyle/>
          <a:p>
            <a:pPr indent="0" marL="0">
              <a:spcAft>
                <a:spcPts val="400"/>
              </a:spcAft>
              <a:buNone/>
            </a:pPr>
            <a:r>
              <a:rPr lang="en-US" sz="1800" b="1" dirty="0">
                <a:solidFill>
                  <a:schemeClr val="tx1"/>
                </a:solidFill>
              </a:rPr>
              <a:t>GitOps</a:t>
            </a:r>
            <a:endParaRPr lang="en-US" sz="1400" dirty="0"/>
          </a:p>
          <a:p>
            <a:pPr indent="0" marL="0">
              <a:spcAft>
                <a:spcPts val="400"/>
              </a:spcAft>
              <a:buNone/>
            </a:pPr>
            <a:r>
              <a:rPr lang="en-US" sz="1400" dirty="0">
                <a:solidFill>
                  <a:schemeClr val="accent5"/>
                </a:solidFill>
              </a:rPr>
              <a:t>Argo CD: automated sync, prune, self-heal</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329184"/>
          </a:xfrm>
          <a:prstGeom prst="rect">
            <a:avLst/>
          </a:prstGeom>
          <a:noFill/>
          <a:ln/>
        </p:spPr>
        <p:txBody>
          <a:bodyPr wrap="square" lIns="0" tIns="0" rIns="0" bIns="0" rtlCol="0" anchor="b"/>
          <a:lstStyle/>
          <a:p>
            <a:pPr algn="l" indent="0" marL="0">
              <a:buNone/>
            </a:pPr>
            <a:r>
              <a:rPr lang="en-US" sz="1400" b="1" dirty="0">
                <a:solidFill>
                  <a:schemeClr val="accent2"/>
                </a:solidFill>
              </a:rPr>
              <a:t>ARCHITECTURE</a:t>
            </a:r>
            <a:endParaRPr lang="en-US" sz="1400" dirty="0"/>
          </a:p>
        </p:txBody>
      </p:sp>
      <p:sp>
        <p:nvSpPr>
          <p:cNvPr id="3" name="Text 0"/>
          <p:cNvSpPr/>
          <p:nvPr>
            <p:ph idx="101" type="title" hasCustomPrompt="1"/>
          </p:nvPr>
        </p:nvSpPr>
        <p:spPr>
          <a:xfrm>
            <a:off x="548640" y="64008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How a request flows through the cluster</a:t>
            </a:r>
            <a:endParaRPr lang="en-US" sz="3600" dirty="0"/>
          </a:p>
        </p:txBody>
      </p:sp>
      <p:sp>
        <p:nvSpPr>
          <p:cNvPr id="4" name="Browser"/>
          <p:cNvSpPr/>
          <p:nvPr/>
        </p:nvSpPr>
        <p:spPr>
          <a:xfrm>
            <a:off x="548640" y="2743200"/>
            <a:ext cx="1234440" cy="1051560"/>
          </a:xfrm>
          <a:prstGeom prst="roundRect">
            <a:avLst>
              <a:gd name="adj" fmla="val 8696"/>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pic>
        <p:nvPicPr>
          <p:cNvPr id="5" name="Image 0" descr="Browser">    </p:cNvPr>
          <p:cNvPicPr>
            <a:picLocks noChangeAspect="1"/>
          </p:cNvPicPr>
          <p:nvPr/>
        </p:nvPicPr>
        <p:blipFill>
          <a:blip r:embed="rId1"/>
          <a:stretch>
            <a:fillRect/>
          </a:stretch>
        </p:blipFill>
        <p:spPr>
          <a:xfrm>
            <a:off x="982980" y="2852928"/>
            <a:ext cx="365760" cy="365760"/>
          </a:xfrm>
          <a:prstGeom prst="rect">
            <a:avLst/>
          </a:prstGeom>
        </p:spPr>
      </p:pic>
      <p:sp>
        <p:nvSpPr>
          <p:cNvPr id="6" name="Text 3"/>
          <p:cNvSpPr txBox="1"/>
          <p:nvPr/>
        </p:nvSpPr>
        <p:spPr>
          <a:xfrm>
            <a:off x="548640" y="3246120"/>
            <a:ext cx="1234440" cy="502920"/>
          </a:xfrm>
          <a:prstGeom prst="rect">
            <a:avLst/>
          </a:prstGeom>
          <a:noFill/>
          <a:ln/>
        </p:spPr>
        <p:txBody>
          <a:bodyPr wrap="square" lIns="0" tIns="0" rIns="0" bIns="0" rtlCol="0" anchor="t"/>
          <a:lstStyle/>
          <a:p>
            <a:pPr algn="ctr" indent="0" marL="0">
              <a:buNone/>
            </a:pPr>
            <a:r>
              <a:rPr lang="en-US" sz="1500" b="1" dirty="0">
                <a:solidFill>
                  <a:schemeClr val="tx1"/>
                </a:solidFill>
              </a:rPr>
              <a:t>Browser</a:t>
            </a:r>
            <a:endParaRPr lang="en-US" sz="1500" dirty="0"/>
          </a:p>
          <a:p>
            <a:pPr algn="ctr" indent="0" marL="0">
              <a:buNone/>
            </a:pPr>
            <a:r>
              <a:rPr lang="en-US" sz="1200" dirty="0">
                <a:solidFill>
                  <a:schemeClr val="accent5"/>
                </a:solidFill>
              </a:rPr>
              <a:t>expense.local</a:t>
            </a:r>
            <a:endParaRPr lang="en-US" sz="1500" dirty="0"/>
          </a:p>
        </p:txBody>
      </p:sp>
      <p:sp>
        <p:nvSpPr>
          <p:cNvPr id="7" name="Kubernetes cluster"/>
          <p:cNvSpPr/>
          <p:nvPr/>
        </p:nvSpPr>
        <p:spPr>
          <a:xfrm>
            <a:off x="2331720" y="1481328"/>
            <a:ext cx="9311335" cy="4690872"/>
          </a:xfrm>
          <a:prstGeom prst="roundRect">
            <a:avLst>
              <a:gd name="adj" fmla="val 2339"/>
            </a:avLst>
          </a:prstGeom>
          <a:solidFill>
            <a:schemeClr val="bg2"/>
          </a:solidFill>
          <a:ln w="12700">
            <a:solidFill>
              <a:schemeClr val="accent6"/>
            </a:solidFill>
            <a:prstDash val="solid"/>
          </a:ln>
        </p:spPr>
      </p:sp>
      <p:sp>
        <p:nvSpPr>
          <p:cNvPr id="8" name="Text 5"/>
          <p:cNvSpPr txBox="1"/>
          <p:nvPr/>
        </p:nvSpPr>
        <p:spPr>
          <a:xfrm>
            <a:off x="2514600" y="1536192"/>
            <a:ext cx="6400800" cy="292608"/>
          </a:xfrm>
          <a:prstGeom prst="rect">
            <a:avLst/>
          </a:prstGeom>
          <a:noFill/>
          <a:ln/>
        </p:spPr>
        <p:txBody>
          <a:bodyPr wrap="square" lIns="0" tIns="0" rIns="0" bIns="0" rtlCol="0" anchor="t"/>
          <a:lstStyle/>
          <a:p>
            <a:pPr indent="0" marL="0">
              <a:buNone/>
            </a:pPr>
            <a:r>
              <a:rPr lang="en-US" sz="1300" b="1" dirty="0">
                <a:solidFill>
                  <a:schemeClr val="tx2"/>
                </a:solidFill>
              </a:rPr>
              <a:t>Kubernetes cluster  ·  k3s locally, EKS on AWS</a:t>
            </a:r>
            <a:endParaRPr lang="en-US" sz="1300" dirty="0"/>
          </a:p>
        </p:txBody>
      </p:sp>
      <p:sp>
        <p:nvSpPr>
          <p:cNvPr id="9" name="Namespace expense-tracker"/>
          <p:cNvSpPr/>
          <p:nvPr/>
        </p:nvSpPr>
        <p:spPr>
          <a:xfrm>
            <a:off x="2514600" y="1874520"/>
            <a:ext cx="8942832" cy="2487168"/>
          </a:xfrm>
          <a:prstGeom prst="roundRect">
            <a:avLst>
              <a:gd name="adj" fmla="val 2941"/>
            </a:avLst>
          </a:prstGeom>
          <a:solidFill>
            <a:schemeClr val="bg1"/>
          </a:solidFill>
          <a:ln w="12700">
            <a:solidFill>
              <a:schemeClr val="accent1"/>
            </a:solidFill>
            <a:prstDash val="dash"/>
          </a:ln>
        </p:spPr>
      </p:sp>
      <p:sp>
        <p:nvSpPr>
          <p:cNvPr id="10" name="Text 7"/>
          <p:cNvSpPr txBox="1"/>
          <p:nvPr/>
        </p:nvSpPr>
        <p:spPr>
          <a:xfrm>
            <a:off x="2697480" y="1920240"/>
            <a:ext cx="6400800" cy="274320"/>
          </a:xfrm>
          <a:prstGeom prst="rect">
            <a:avLst/>
          </a:prstGeom>
          <a:noFill/>
          <a:ln/>
        </p:spPr>
        <p:txBody>
          <a:bodyPr wrap="square" lIns="0" tIns="0" rIns="0" bIns="0" rtlCol="0" anchor="t"/>
          <a:lstStyle/>
          <a:p>
            <a:pPr indent="0" marL="0">
              <a:buNone/>
            </a:pPr>
            <a:r>
              <a:rPr lang="en-US" sz="1200" b="1" dirty="0">
                <a:solidFill>
                  <a:schemeClr val="accent1"/>
                </a:solidFill>
              </a:rPr>
              <a:t>namespace expense-tracker  ·  Pod Security: restricted</a:t>
            </a:r>
            <a:endParaRPr lang="en-US" sz="1200" dirty="0"/>
          </a:p>
        </p:txBody>
      </p:sp>
      <p:sp>
        <p:nvSpPr>
          <p:cNvPr id="11" name="Namespace monitoring"/>
          <p:cNvSpPr/>
          <p:nvPr/>
        </p:nvSpPr>
        <p:spPr>
          <a:xfrm>
            <a:off x="2514600" y="4544568"/>
            <a:ext cx="8942832" cy="1463040"/>
          </a:xfrm>
          <a:prstGeom prst="roundRect">
            <a:avLst>
              <a:gd name="adj" fmla="val 5000"/>
            </a:avLst>
          </a:prstGeom>
          <a:solidFill>
            <a:schemeClr val="bg1"/>
          </a:solidFill>
          <a:ln w="12700">
            <a:solidFill>
              <a:schemeClr val="accent2"/>
            </a:solidFill>
            <a:prstDash val="dash"/>
          </a:ln>
        </p:spPr>
      </p:sp>
      <p:sp>
        <p:nvSpPr>
          <p:cNvPr id="12" name="Text 9"/>
          <p:cNvSpPr txBox="1"/>
          <p:nvPr/>
        </p:nvSpPr>
        <p:spPr>
          <a:xfrm>
            <a:off x="2697480" y="4590288"/>
            <a:ext cx="6400800" cy="274320"/>
          </a:xfrm>
          <a:prstGeom prst="rect">
            <a:avLst/>
          </a:prstGeom>
          <a:noFill/>
          <a:ln/>
        </p:spPr>
        <p:txBody>
          <a:bodyPr wrap="square" lIns="0" tIns="0" rIns="0" bIns="0" rtlCol="0" anchor="t"/>
          <a:lstStyle/>
          <a:p>
            <a:pPr indent="0" marL="0">
              <a:buNone/>
            </a:pPr>
            <a:r>
              <a:rPr lang="en-US" sz="1200" b="1" dirty="0">
                <a:solidFill>
                  <a:schemeClr val="accent2"/>
                </a:solidFill>
              </a:rPr>
              <a:t>namespace monitoring  ·  kube-prometheus-stack</a:t>
            </a:r>
            <a:endParaRPr lang="en-US" sz="1200" dirty="0"/>
          </a:p>
        </p:txBody>
      </p:sp>
      <p:sp>
        <p:nvSpPr>
          <p:cNvPr id="13" name="Ingress"/>
          <p:cNvSpPr/>
          <p:nvPr/>
        </p:nvSpPr>
        <p:spPr>
          <a:xfrm>
            <a:off x="2743200" y="2286000"/>
            <a:ext cx="1828800" cy="1828800"/>
          </a:xfrm>
          <a:prstGeom prst="roundRect">
            <a:avLst>
              <a:gd name="adj" fmla="val 4000"/>
            </a:avLst>
          </a:prstGeom>
          <a:solidFill>
            <a:schemeClr val="tx1"/>
          </a:solidFill>
          <a:ln/>
        </p:spPr>
      </p:sp>
      <p:pic>
        <p:nvPicPr>
          <p:cNvPr id="14" name="Image 1" descr="Traefik">    </p:cNvPr>
          <p:cNvPicPr>
            <a:picLocks noChangeAspect="1"/>
          </p:cNvPicPr>
          <p:nvPr/>
        </p:nvPicPr>
        <p:blipFill>
          <a:blip r:embed="rId2"/>
          <a:stretch>
            <a:fillRect/>
          </a:stretch>
        </p:blipFill>
        <p:spPr>
          <a:xfrm>
            <a:off x="3429000" y="2514600"/>
            <a:ext cx="457200" cy="457200"/>
          </a:xfrm>
          <a:prstGeom prst="rect">
            <a:avLst/>
          </a:prstGeom>
        </p:spPr>
      </p:pic>
      <p:sp>
        <p:nvSpPr>
          <p:cNvPr id="15" name="Text 11"/>
          <p:cNvSpPr txBox="1"/>
          <p:nvPr/>
        </p:nvSpPr>
        <p:spPr>
          <a:xfrm>
            <a:off x="2743200" y="3063240"/>
            <a:ext cx="1828800" cy="868680"/>
          </a:xfrm>
          <a:prstGeom prst="rect">
            <a:avLst/>
          </a:prstGeom>
          <a:noFill/>
          <a:ln/>
        </p:spPr>
        <p:txBody>
          <a:bodyPr wrap="square" lIns="0" tIns="0" rIns="0" bIns="0" rtlCol="0" anchor="t"/>
          <a:lstStyle/>
          <a:p>
            <a:pPr algn="ctr" indent="0" marL="0">
              <a:buNone/>
            </a:pPr>
            <a:r>
              <a:rPr lang="en-US" sz="1600" b="1" dirty="0">
                <a:solidFill>
                  <a:schemeClr val="bg1"/>
                </a:solidFill>
              </a:rPr>
              <a:t>Ingress</a:t>
            </a:r>
            <a:endParaRPr lang="en-US" sz="1400" dirty="0"/>
          </a:p>
          <a:p>
            <a:pPr algn="ctr" indent="0" marL="0">
              <a:buNone/>
            </a:pPr>
            <a:r>
              <a:rPr lang="en-US" sz="1200" dirty="0">
                <a:solidFill>
                  <a:schemeClr val="bg1"/>
                </a:solidFill>
              </a:rPr>
              <a:t>Traefik</a:t>
            </a:r>
            <a:endParaRPr lang="en-US" sz="1400" dirty="0"/>
          </a:p>
          <a:p>
            <a:pPr algn="ctr" indent="0" marL="0">
              <a:buNone/>
            </a:pPr>
            <a:r>
              <a:rPr lang="en-US" sz="1200" dirty="0">
                <a:solidFill>
                  <a:schemeClr val="bg1"/>
                </a:solidFill>
              </a:rPr>
              <a:t>host expense.local</a:t>
            </a:r>
            <a:endParaRPr lang="en-US" sz="1400" dirty="0"/>
          </a:p>
        </p:txBody>
      </p:sp>
      <p:sp>
        <p:nvSpPr>
          <p:cNvPr id="16" name="Frontend"/>
          <p:cNvSpPr/>
          <p:nvPr/>
        </p:nvSpPr>
        <p:spPr>
          <a:xfrm>
            <a:off x="5257800" y="2286000"/>
            <a:ext cx="2514600" cy="822960"/>
          </a:xfrm>
          <a:prstGeom prst="roundRect">
            <a:avLst>
              <a:gd name="adj" fmla="val 8889"/>
            </a:avLst>
          </a:prstGeom>
          <a:solidFill>
            <a:schemeClr val="accent1"/>
          </a:solidFill>
          <a:ln/>
        </p:spPr>
      </p:sp>
      <p:pic>
        <p:nvPicPr>
          <p:cNvPr id="17" name="Image 2" descr="Frontend">    </p:cNvPr>
          <p:cNvPicPr>
            <a:picLocks noChangeAspect="1"/>
          </p:cNvPicPr>
          <p:nvPr/>
        </p:nvPicPr>
        <p:blipFill>
          <a:blip r:embed="rId3"/>
          <a:stretch>
            <a:fillRect/>
          </a:stretch>
        </p:blipFill>
        <p:spPr>
          <a:xfrm>
            <a:off x="5422392" y="2505456"/>
            <a:ext cx="384048" cy="384048"/>
          </a:xfrm>
          <a:prstGeom prst="rect">
            <a:avLst/>
          </a:prstGeom>
        </p:spPr>
      </p:pic>
      <p:sp>
        <p:nvSpPr>
          <p:cNvPr id="18" name="Text 13"/>
          <p:cNvSpPr txBox="1"/>
          <p:nvPr/>
        </p:nvSpPr>
        <p:spPr>
          <a:xfrm>
            <a:off x="5916168" y="2286000"/>
            <a:ext cx="1783080" cy="822960"/>
          </a:xfrm>
          <a:prstGeom prst="rect">
            <a:avLst/>
          </a:prstGeom>
          <a:noFill/>
          <a:ln/>
        </p:spPr>
        <p:txBody>
          <a:bodyPr wrap="square" lIns="0" tIns="0" rIns="0" bIns="0" rtlCol="0" anchor="ctr"/>
          <a:lstStyle/>
          <a:p>
            <a:pPr indent="0" marL="0">
              <a:buNone/>
            </a:pPr>
            <a:r>
              <a:rPr lang="en-US" sz="1500" b="1" dirty="0">
                <a:solidFill>
                  <a:schemeClr val="bg1"/>
                </a:solidFill>
              </a:rPr>
              <a:t>Frontend</a:t>
            </a:r>
            <a:endParaRPr lang="en-US" sz="1400" dirty="0"/>
          </a:p>
          <a:p>
            <a:pPr indent="0" marL="0">
              <a:buNone/>
            </a:pPr>
            <a:r>
              <a:rPr lang="en-US" sz="1200" dirty="0">
                <a:solidFill>
                  <a:schemeClr val="bg1"/>
                </a:solidFill>
              </a:rPr>
              <a:t>nginx · 2 pods · :8080</a:t>
            </a:r>
            <a:endParaRPr lang="en-US" sz="1400" dirty="0"/>
          </a:p>
        </p:txBody>
      </p:sp>
      <p:sp>
        <p:nvSpPr>
          <p:cNvPr id="19" name="Backend"/>
          <p:cNvSpPr/>
          <p:nvPr/>
        </p:nvSpPr>
        <p:spPr>
          <a:xfrm>
            <a:off x="5257800" y="3291840"/>
            <a:ext cx="2514600" cy="822960"/>
          </a:xfrm>
          <a:prstGeom prst="roundRect">
            <a:avLst>
              <a:gd name="adj" fmla="val 8889"/>
            </a:avLst>
          </a:prstGeom>
          <a:solidFill>
            <a:schemeClr val="accent1"/>
          </a:solidFill>
          <a:ln/>
        </p:spPr>
      </p:sp>
      <p:pic>
        <p:nvPicPr>
          <p:cNvPr id="20" name="Image 3" descr="Backend API">    </p:cNvPr>
          <p:cNvPicPr>
            <a:picLocks noChangeAspect="1"/>
          </p:cNvPicPr>
          <p:nvPr/>
        </p:nvPicPr>
        <p:blipFill>
          <a:blip r:embed="rId4"/>
          <a:stretch>
            <a:fillRect/>
          </a:stretch>
        </p:blipFill>
        <p:spPr>
          <a:xfrm>
            <a:off x="5422392" y="3511296"/>
            <a:ext cx="384048" cy="384048"/>
          </a:xfrm>
          <a:prstGeom prst="rect">
            <a:avLst/>
          </a:prstGeom>
        </p:spPr>
      </p:pic>
      <p:sp>
        <p:nvSpPr>
          <p:cNvPr id="21" name="Text 15"/>
          <p:cNvSpPr txBox="1"/>
          <p:nvPr/>
        </p:nvSpPr>
        <p:spPr>
          <a:xfrm>
            <a:off x="5916168" y="3291840"/>
            <a:ext cx="1783080" cy="822960"/>
          </a:xfrm>
          <a:prstGeom prst="rect">
            <a:avLst/>
          </a:prstGeom>
          <a:noFill/>
          <a:ln/>
        </p:spPr>
        <p:txBody>
          <a:bodyPr wrap="square" lIns="0" tIns="0" rIns="0" bIns="0" rtlCol="0" anchor="ctr"/>
          <a:lstStyle/>
          <a:p>
            <a:pPr indent="0" marL="0">
              <a:buNone/>
            </a:pPr>
            <a:r>
              <a:rPr lang="en-US" sz="1500" b="1" dirty="0">
                <a:solidFill>
                  <a:schemeClr val="bg1"/>
                </a:solidFill>
              </a:rPr>
              <a:t>Backend API</a:t>
            </a:r>
            <a:endParaRPr lang="en-US" sz="1400" dirty="0"/>
          </a:p>
          <a:p>
            <a:pPr indent="0" marL="0">
              <a:buNone/>
            </a:pPr>
            <a:r>
              <a:rPr lang="en-US" sz="1200" dirty="0">
                <a:solidFill>
                  <a:schemeClr val="bg1"/>
                </a:solidFill>
              </a:rPr>
              <a:t>FastAPI · 2 → 4 pods (HPA)</a:t>
            </a:r>
            <a:endParaRPr lang="en-US" sz="1400" dirty="0"/>
          </a:p>
        </p:txBody>
      </p:sp>
      <p:sp>
        <p:nvSpPr>
          <p:cNvPr id="22" name="PostgreSQL"/>
          <p:cNvSpPr/>
          <p:nvPr/>
        </p:nvSpPr>
        <p:spPr>
          <a:xfrm>
            <a:off x="8412480" y="3291840"/>
            <a:ext cx="2788920" cy="822960"/>
          </a:xfrm>
          <a:prstGeom prst="roundRect">
            <a:avLst>
              <a:gd name="adj" fmla="val 8889"/>
            </a:avLst>
          </a:prstGeom>
          <a:solidFill>
            <a:schemeClr val="tx2"/>
          </a:solidFill>
          <a:ln/>
        </p:spPr>
      </p:sp>
      <p:pic>
        <p:nvPicPr>
          <p:cNvPr id="23" name="Image 4" descr="PostgreSQL 16">    </p:cNvPr>
          <p:cNvPicPr>
            <a:picLocks noChangeAspect="1"/>
          </p:cNvPicPr>
          <p:nvPr/>
        </p:nvPicPr>
        <p:blipFill>
          <a:blip r:embed="rId5"/>
          <a:stretch>
            <a:fillRect/>
          </a:stretch>
        </p:blipFill>
        <p:spPr>
          <a:xfrm>
            <a:off x="8577072" y="3511296"/>
            <a:ext cx="384048" cy="384048"/>
          </a:xfrm>
          <a:prstGeom prst="rect">
            <a:avLst/>
          </a:prstGeom>
        </p:spPr>
      </p:pic>
      <p:sp>
        <p:nvSpPr>
          <p:cNvPr id="24" name="Text 17"/>
          <p:cNvSpPr txBox="1"/>
          <p:nvPr/>
        </p:nvSpPr>
        <p:spPr>
          <a:xfrm>
            <a:off x="9070848" y="3291840"/>
            <a:ext cx="2057400" cy="822960"/>
          </a:xfrm>
          <a:prstGeom prst="rect">
            <a:avLst/>
          </a:prstGeom>
          <a:noFill/>
          <a:ln/>
        </p:spPr>
        <p:txBody>
          <a:bodyPr wrap="square" lIns="0" tIns="0" rIns="0" bIns="0" rtlCol="0" anchor="ctr"/>
          <a:lstStyle/>
          <a:p>
            <a:pPr indent="0" marL="0">
              <a:buNone/>
            </a:pPr>
            <a:r>
              <a:rPr lang="en-US" sz="1500" b="1" dirty="0">
                <a:solidFill>
                  <a:schemeClr val="bg1"/>
                </a:solidFill>
              </a:rPr>
              <a:t>PostgreSQL 16</a:t>
            </a:r>
            <a:endParaRPr lang="en-US" sz="1400" dirty="0"/>
          </a:p>
          <a:p>
            <a:pPr indent="0" marL="0">
              <a:buNone/>
            </a:pPr>
            <a:r>
              <a:rPr lang="en-US" sz="1200" dirty="0">
                <a:solidFill>
                  <a:schemeClr val="bg1"/>
                </a:solidFill>
              </a:rPr>
              <a:t>StatefulSet + PVC</a:t>
            </a:r>
            <a:endParaRPr lang="en-US" sz="1400" dirty="0"/>
          </a:p>
        </p:txBody>
      </p:sp>
      <p:sp>
        <p:nvSpPr>
          <p:cNvPr id="25" name="Config"/>
          <p:cNvSpPr/>
          <p:nvPr/>
        </p:nvSpPr>
        <p:spPr>
          <a:xfrm>
            <a:off x="8412480" y="2286000"/>
            <a:ext cx="2788920" cy="822960"/>
          </a:xfrm>
          <a:prstGeom prst="roundRect">
            <a:avLst>
              <a:gd name="adj" fmla="val 8889"/>
            </a:avLst>
          </a:prstGeom>
          <a:solidFill>
            <a:schemeClr val="bg2"/>
          </a:solidFill>
          <a:ln/>
        </p:spPr>
      </p:sp>
      <p:pic>
        <p:nvPicPr>
          <p:cNvPr id="26" name="Image 5" descr="ConfigMap + Secret">    </p:cNvPr>
          <p:cNvPicPr>
            <a:picLocks noChangeAspect="1"/>
          </p:cNvPicPr>
          <p:nvPr/>
        </p:nvPicPr>
        <p:blipFill>
          <a:blip r:embed="rId6"/>
          <a:stretch>
            <a:fillRect/>
          </a:stretch>
        </p:blipFill>
        <p:spPr>
          <a:xfrm>
            <a:off x="8577072" y="2505456"/>
            <a:ext cx="384048" cy="384048"/>
          </a:xfrm>
          <a:prstGeom prst="rect">
            <a:avLst/>
          </a:prstGeom>
        </p:spPr>
      </p:pic>
      <p:sp>
        <p:nvSpPr>
          <p:cNvPr id="27" name="Text 19"/>
          <p:cNvSpPr txBox="1"/>
          <p:nvPr/>
        </p:nvSpPr>
        <p:spPr>
          <a:xfrm>
            <a:off x="9070848" y="2286000"/>
            <a:ext cx="2057400" cy="822960"/>
          </a:xfrm>
          <a:prstGeom prst="rect">
            <a:avLst/>
          </a:prstGeom>
          <a:noFill/>
          <a:ln/>
        </p:spPr>
        <p:txBody>
          <a:bodyPr wrap="square" lIns="0" tIns="0" rIns="0" bIns="0" rtlCol="0" anchor="ctr"/>
          <a:lstStyle/>
          <a:p>
            <a:pPr indent="0" marL="0">
              <a:buNone/>
            </a:pPr>
            <a:r>
              <a:rPr lang="en-US" sz="1500" b="1" dirty="0">
                <a:solidFill>
                  <a:schemeClr val="tx1"/>
                </a:solidFill>
              </a:rPr>
              <a:t>ConfigMap + Secret</a:t>
            </a:r>
            <a:endParaRPr lang="en-US" sz="1400" dirty="0"/>
          </a:p>
          <a:p>
            <a:pPr indent="0" marL="0">
              <a:buNone/>
            </a:pPr>
            <a:r>
              <a:rPr lang="en-US" sz="1200" dirty="0">
                <a:solidFill>
                  <a:schemeClr val="tx1"/>
                </a:solidFill>
              </a:rPr>
              <a:t>app settings · DATABASE_URL</a:t>
            </a:r>
            <a:endParaRPr lang="en-US" sz="1400" dirty="0"/>
          </a:p>
        </p:txBody>
      </p:sp>
      <p:sp>
        <p:nvSpPr>
          <p:cNvPr id="28" name="Prometheus"/>
          <p:cNvSpPr/>
          <p:nvPr/>
        </p:nvSpPr>
        <p:spPr>
          <a:xfrm>
            <a:off x="5257800" y="4956048"/>
            <a:ext cx="2514600" cy="868680"/>
          </a:xfrm>
          <a:prstGeom prst="roundRect">
            <a:avLst>
              <a:gd name="adj" fmla="val 8421"/>
            </a:avLst>
          </a:prstGeom>
          <a:solidFill>
            <a:schemeClr val="accent2"/>
          </a:solidFill>
          <a:ln/>
        </p:spPr>
      </p:sp>
      <p:pic>
        <p:nvPicPr>
          <p:cNvPr id="29" name="Image 6" descr="Prometheus">    </p:cNvPr>
          <p:cNvPicPr>
            <a:picLocks noChangeAspect="1"/>
          </p:cNvPicPr>
          <p:nvPr/>
        </p:nvPicPr>
        <p:blipFill>
          <a:blip r:embed="rId7"/>
          <a:stretch>
            <a:fillRect/>
          </a:stretch>
        </p:blipFill>
        <p:spPr>
          <a:xfrm>
            <a:off x="5422392" y="5198364"/>
            <a:ext cx="384048" cy="384048"/>
          </a:xfrm>
          <a:prstGeom prst="rect">
            <a:avLst/>
          </a:prstGeom>
        </p:spPr>
      </p:pic>
      <p:sp>
        <p:nvSpPr>
          <p:cNvPr id="30" name="Text 21"/>
          <p:cNvSpPr txBox="1"/>
          <p:nvPr/>
        </p:nvSpPr>
        <p:spPr>
          <a:xfrm>
            <a:off x="5916168" y="4956048"/>
            <a:ext cx="1783080" cy="868680"/>
          </a:xfrm>
          <a:prstGeom prst="rect">
            <a:avLst/>
          </a:prstGeom>
          <a:noFill/>
          <a:ln/>
        </p:spPr>
        <p:txBody>
          <a:bodyPr wrap="square" lIns="0" tIns="0" rIns="0" bIns="0" rtlCol="0" anchor="ctr"/>
          <a:lstStyle/>
          <a:p>
            <a:pPr indent="0" marL="0">
              <a:buNone/>
            </a:pPr>
            <a:r>
              <a:rPr lang="en-US" sz="1500" b="1" dirty="0">
                <a:solidFill>
                  <a:schemeClr val="bg1"/>
                </a:solidFill>
              </a:rPr>
              <a:t>Prometheus</a:t>
            </a:r>
            <a:endParaRPr lang="en-US" sz="1400" dirty="0"/>
          </a:p>
          <a:p>
            <a:pPr indent="0" marL="0">
              <a:buNone/>
            </a:pPr>
            <a:r>
              <a:rPr lang="en-US" sz="1200" dirty="0">
                <a:solidFill>
                  <a:schemeClr val="bg1"/>
                </a:solidFill>
              </a:rPr>
              <a:t>scrapes /metrics every 15 s</a:t>
            </a:r>
            <a:endParaRPr lang="en-US" sz="1400" dirty="0"/>
          </a:p>
        </p:txBody>
      </p:sp>
      <p:sp>
        <p:nvSpPr>
          <p:cNvPr id="31" name="Grafana"/>
          <p:cNvSpPr/>
          <p:nvPr/>
        </p:nvSpPr>
        <p:spPr>
          <a:xfrm>
            <a:off x="8412480" y="4956048"/>
            <a:ext cx="2788920" cy="868680"/>
          </a:xfrm>
          <a:prstGeom prst="roundRect">
            <a:avLst>
              <a:gd name="adj" fmla="val 8421"/>
            </a:avLst>
          </a:prstGeom>
          <a:solidFill>
            <a:schemeClr val="accent4"/>
          </a:solidFill>
          <a:ln/>
        </p:spPr>
      </p:sp>
      <p:pic>
        <p:nvPicPr>
          <p:cNvPr id="32" name="Image 7" descr="Grafana">    </p:cNvPr>
          <p:cNvPicPr>
            <a:picLocks noChangeAspect="1"/>
          </p:cNvPicPr>
          <p:nvPr/>
        </p:nvPicPr>
        <p:blipFill>
          <a:blip r:embed="rId8"/>
          <a:stretch>
            <a:fillRect/>
          </a:stretch>
        </p:blipFill>
        <p:spPr>
          <a:xfrm>
            <a:off x="8577072" y="5198364"/>
            <a:ext cx="384048" cy="384048"/>
          </a:xfrm>
          <a:prstGeom prst="rect">
            <a:avLst/>
          </a:prstGeom>
        </p:spPr>
      </p:pic>
      <p:sp>
        <p:nvSpPr>
          <p:cNvPr id="33" name="Text 23"/>
          <p:cNvSpPr txBox="1"/>
          <p:nvPr/>
        </p:nvSpPr>
        <p:spPr>
          <a:xfrm>
            <a:off x="9070848" y="4956048"/>
            <a:ext cx="2057400" cy="868680"/>
          </a:xfrm>
          <a:prstGeom prst="rect">
            <a:avLst/>
          </a:prstGeom>
          <a:noFill/>
          <a:ln/>
        </p:spPr>
        <p:txBody>
          <a:bodyPr wrap="square" lIns="0" tIns="0" rIns="0" bIns="0" rtlCol="0" anchor="ctr"/>
          <a:lstStyle/>
          <a:p>
            <a:pPr indent="0" marL="0">
              <a:buNone/>
            </a:pPr>
            <a:r>
              <a:rPr lang="en-US" sz="1500" b="1" dirty="0">
                <a:solidFill>
                  <a:schemeClr val="tx1"/>
                </a:solidFill>
              </a:rPr>
              <a:t>Grafana</a:t>
            </a:r>
            <a:endParaRPr lang="en-US" sz="1400" dirty="0"/>
          </a:p>
          <a:p>
            <a:pPr indent="0" marL="0">
              <a:buNone/>
            </a:pPr>
            <a:r>
              <a:rPr lang="en-US" sz="1200" dirty="0">
                <a:solidFill>
                  <a:schemeClr val="tx1"/>
                </a:solidFill>
              </a:rPr>
              <a:t>API overview dashboard</a:t>
            </a:r>
            <a:endParaRPr lang="en-US" sz="1400" dirty="0"/>
          </a:p>
        </p:txBody>
      </p:sp>
      <p:sp>
        <p:nvSpPr>
          <p:cNvPr id="34" name="Alertmanager"/>
          <p:cNvSpPr/>
          <p:nvPr/>
        </p:nvSpPr>
        <p:spPr>
          <a:xfrm>
            <a:off x="2743200" y="4956048"/>
            <a:ext cx="1828800" cy="868680"/>
          </a:xfrm>
          <a:prstGeom prst="roundRect">
            <a:avLst>
              <a:gd name="adj" fmla="val 8421"/>
            </a:avLst>
          </a:prstGeom>
          <a:solidFill>
            <a:schemeClr val="accent4"/>
          </a:solidFill>
          <a:ln/>
        </p:spPr>
      </p:sp>
      <p:pic>
        <p:nvPicPr>
          <p:cNvPr id="35" name="Image 8" descr="Alertmanager">    </p:cNvPr>
          <p:cNvPicPr>
            <a:picLocks noChangeAspect="1"/>
          </p:cNvPicPr>
          <p:nvPr/>
        </p:nvPicPr>
        <p:blipFill>
          <a:blip r:embed="rId9"/>
          <a:stretch>
            <a:fillRect/>
          </a:stretch>
        </p:blipFill>
        <p:spPr>
          <a:xfrm>
            <a:off x="2907792" y="5198364"/>
            <a:ext cx="384048" cy="384048"/>
          </a:xfrm>
          <a:prstGeom prst="rect">
            <a:avLst/>
          </a:prstGeom>
        </p:spPr>
      </p:pic>
      <p:sp>
        <p:nvSpPr>
          <p:cNvPr id="36" name="Text 25"/>
          <p:cNvSpPr txBox="1"/>
          <p:nvPr/>
        </p:nvSpPr>
        <p:spPr>
          <a:xfrm>
            <a:off x="3401568" y="4956048"/>
            <a:ext cx="1097280" cy="868680"/>
          </a:xfrm>
          <a:prstGeom prst="rect">
            <a:avLst/>
          </a:prstGeom>
          <a:noFill/>
          <a:ln/>
        </p:spPr>
        <p:txBody>
          <a:bodyPr wrap="square" lIns="0" tIns="0" rIns="0" bIns="0" rtlCol="0" anchor="ctr"/>
          <a:lstStyle/>
          <a:p>
            <a:pPr indent="0" marL="0">
              <a:buNone/>
            </a:pPr>
            <a:r>
              <a:rPr lang="en-US" sz="1500" b="1" dirty="0">
                <a:solidFill>
                  <a:schemeClr val="tx1"/>
                </a:solidFill>
              </a:rPr>
              <a:t>Alertmanager</a:t>
            </a:r>
            <a:endParaRPr lang="en-US" sz="1400" dirty="0"/>
          </a:p>
          <a:p>
            <a:pPr indent="0" marL="0">
              <a:buNone/>
            </a:pPr>
            <a:r>
              <a:rPr lang="en-US" sz="1200" dirty="0">
                <a:solidFill>
                  <a:schemeClr val="tx1"/>
                </a:solidFill>
              </a:rPr>
              <a:t>5 alert rules</a:t>
            </a:r>
            <a:endParaRPr lang="en-US" sz="1400" dirty="0"/>
          </a:p>
        </p:txBody>
      </p:sp>
      <p:sp>
        <p:nvSpPr>
          <p:cNvPr id="37" name="Browser to Ingress"/>
          <p:cNvSpPr/>
          <p:nvPr/>
        </p:nvSpPr>
        <p:spPr>
          <a:xfrm>
            <a:off x="1783080" y="3268980"/>
            <a:ext cx="960120" cy="0"/>
          </a:xfrm>
          <a:prstGeom prst="line">
            <a:avLst/>
          </a:prstGeom>
          <a:noFill/>
          <a:ln w="25400">
            <a:solidFill>
              <a:schemeClr val="accent5"/>
            </a:solidFill>
            <a:prstDash val="solid"/>
            <a:tailEnd type="triangle"/>
          </a:ln>
        </p:spPr>
      </p:sp>
      <p:sp>
        <p:nvSpPr>
          <p:cNvPr id="38" name="Text 27"/>
          <p:cNvSpPr txBox="1"/>
          <p:nvPr/>
        </p:nvSpPr>
        <p:spPr>
          <a:xfrm>
            <a:off x="1801368" y="2944368"/>
            <a:ext cx="502920" cy="274320"/>
          </a:xfrm>
          <a:prstGeom prst="rect">
            <a:avLst/>
          </a:prstGeom>
          <a:noFill/>
          <a:ln/>
        </p:spPr>
        <p:txBody>
          <a:bodyPr wrap="square" lIns="0" tIns="0" rIns="0" bIns="0" rtlCol="0" anchor="t"/>
          <a:lstStyle/>
          <a:p>
            <a:pPr algn="ctr" indent="0" marL="0">
              <a:buNone/>
            </a:pPr>
            <a:r>
              <a:rPr lang="en-US" sz="1200" b="1" dirty="0">
                <a:solidFill>
                  <a:schemeClr val="accent5"/>
                </a:solidFill>
              </a:rPr>
              <a:t>HTTP</a:t>
            </a:r>
            <a:endParaRPr lang="en-US" sz="1200" dirty="0"/>
          </a:p>
        </p:txBody>
      </p:sp>
      <p:sp>
        <p:nvSpPr>
          <p:cNvPr id="39" name="Shape 28"/>
          <p:cNvSpPr/>
          <p:nvPr/>
        </p:nvSpPr>
        <p:spPr>
          <a:xfrm>
            <a:off x="4572000" y="2697480"/>
            <a:ext cx="685800" cy="0"/>
          </a:xfrm>
          <a:prstGeom prst="line">
            <a:avLst/>
          </a:prstGeom>
          <a:noFill/>
          <a:ln w="25400">
            <a:solidFill>
              <a:schemeClr val="accent5"/>
            </a:solidFill>
            <a:prstDash val="solid"/>
            <a:tailEnd type="triangle"/>
          </a:ln>
        </p:spPr>
      </p:sp>
      <p:sp>
        <p:nvSpPr>
          <p:cNvPr id="40" name="Text 29"/>
          <p:cNvSpPr txBox="1"/>
          <p:nvPr/>
        </p:nvSpPr>
        <p:spPr>
          <a:xfrm>
            <a:off x="4617720" y="2377440"/>
            <a:ext cx="594360" cy="274320"/>
          </a:xfrm>
          <a:prstGeom prst="rect">
            <a:avLst/>
          </a:prstGeom>
          <a:noFill/>
          <a:ln/>
        </p:spPr>
        <p:txBody>
          <a:bodyPr wrap="square" lIns="0" tIns="0" rIns="0" bIns="0" rtlCol="0" anchor="t"/>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a:t>
            </a:r>
            <a:endParaRPr lang="en-US" sz="1400" dirty="0"/>
          </a:p>
        </p:txBody>
      </p:sp>
      <p:sp>
        <p:nvSpPr>
          <p:cNvPr id="41" name="Shape 30"/>
          <p:cNvSpPr/>
          <p:nvPr/>
        </p:nvSpPr>
        <p:spPr>
          <a:xfrm>
            <a:off x="4572000" y="3703320"/>
            <a:ext cx="685800" cy="0"/>
          </a:xfrm>
          <a:prstGeom prst="line">
            <a:avLst/>
          </a:prstGeom>
          <a:noFill/>
          <a:ln w="25400">
            <a:solidFill>
              <a:schemeClr val="accent5"/>
            </a:solidFill>
            <a:prstDash val="solid"/>
            <a:tailEnd type="triangle"/>
          </a:ln>
        </p:spPr>
      </p:sp>
      <p:sp>
        <p:nvSpPr>
          <p:cNvPr id="42" name="Text 31"/>
          <p:cNvSpPr txBox="1"/>
          <p:nvPr/>
        </p:nvSpPr>
        <p:spPr>
          <a:xfrm>
            <a:off x="4590288" y="3383280"/>
            <a:ext cx="640080" cy="274320"/>
          </a:xfrm>
          <a:prstGeom prst="rect">
            <a:avLst/>
          </a:prstGeom>
          <a:noFill/>
          <a:ln/>
        </p:spPr>
        <p:txBody>
          <a:bodyPr wrap="square" lIns="0" tIns="0" rIns="0" bIns="0" rtlCol="0" anchor="t"/>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/api</a:t>
            </a:r>
            <a:endParaRPr lang="en-US" sz="1400" dirty="0"/>
          </a:p>
        </p:txBody>
      </p:sp>
      <p:sp>
        <p:nvSpPr>
          <p:cNvPr id="43" name="Shape 32"/>
          <p:cNvSpPr/>
          <p:nvPr/>
        </p:nvSpPr>
        <p:spPr>
          <a:xfrm>
            <a:off x="7772400" y="3703320"/>
            <a:ext cx="640080" cy="0"/>
          </a:xfrm>
          <a:prstGeom prst="line">
            <a:avLst/>
          </a:prstGeom>
          <a:noFill/>
          <a:ln w="25400">
            <a:solidFill>
              <a:schemeClr val="accent5"/>
            </a:solidFill>
            <a:prstDash val="solid"/>
            <a:tailEnd type="triangle"/>
          </a:ln>
        </p:spPr>
      </p:sp>
      <p:sp>
        <p:nvSpPr>
          <p:cNvPr id="44" name="Text 33"/>
          <p:cNvSpPr txBox="1"/>
          <p:nvPr/>
        </p:nvSpPr>
        <p:spPr>
          <a:xfrm>
            <a:off x="7772400" y="3383280"/>
            <a:ext cx="640080" cy="274320"/>
          </a:xfrm>
          <a:prstGeom prst="rect">
            <a:avLst/>
          </a:prstGeom>
          <a:noFill/>
          <a:ln/>
        </p:spPr>
        <p:txBody>
          <a:bodyPr wrap="square" lIns="0" tIns="0" rIns="0" bIns="0" rtlCol="0" anchor="t"/>
          <a:lstStyle/>
          <a:p>
            <a:pPr algn="ctr" indent="0" marL="0">
              <a:buNone/>
            </a:pPr>
            <a:r>
              <a:rPr lang="en-US" sz="1200" b="1" dirty="0">
                <a:solidFill>
                  <a:schemeClr val="accent5"/>
                </a:solidFill>
              </a:rPr>
              <a:t>SQL</a:t>
            </a:r>
            <a:endParaRPr lang="en-US" sz="1200" dirty="0"/>
          </a:p>
        </p:txBody>
      </p:sp>
      <p:sp>
        <p:nvSpPr>
          <p:cNvPr id="45" name="Metrics scrape"/>
          <p:cNvSpPr/>
          <p:nvPr/>
        </p:nvSpPr>
        <p:spPr>
          <a:xfrm>
            <a:off x="6515100" y="4114800"/>
            <a:ext cx="0" cy="841248"/>
          </a:xfrm>
          <a:prstGeom prst="line">
            <a:avLst/>
          </a:prstGeom>
          <a:noFill/>
          <a:ln w="25400">
            <a:solidFill>
              <a:schemeClr val="accent2"/>
            </a:solidFill>
            <a:prstDash val="solid"/>
            <a:tailEnd type="triangle"/>
          </a:ln>
        </p:spPr>
      </p:sp>
      <p:sp>
        <p:nvSpPr>
          <p:cNvPr id="46" name="Shape 35"/>
          <p:cNvSpPr/>
          <p:nvPr/>
        </p:nvSpPr>
        <p:spPr>
          <a:xfrm>
            <a:off x="7772400" y="5390388"/>
            <a:ext cx="640080" cy="0"/>
          </a:xfrm>
          <a:prstGeom prst="line">
            <a:avLst/>
          </a:prstGeom>
          <a:noFill/>
          <a:ln w="25400">
            <a:solidFill>
              <a:schemeClr val="accent2"/>
            </a:solidFill>
            <a:prstDash val="solid"/>
            <a:tailEnd type="triangle"/>
          </a:ln>
        </p:spPr>
      </p:sp>
      <p:sp>
        <p:nvSpPr>
          <p:cNvPr id="47" name="Shape 36"/>
          <p:cNvSpPr/>
          <p:nvPr/>
        </p:nvSpPr>
        <p:spPr>
          <a:xfrm flipH="1">
            <a:off x="4572000" y="5390388"/>
            <a:ext cx="685800" cy="0"/>
          </a:xfrm>
          <a:prstGeom prst="line">
            <a:avLst/>
          </a:prstGeom>
          <a:noFill/>
          <a:ln w="25400">
            <a:solidFill>
              <a:schemeClr val="accent2"/>
            </a:solidFill>
            <a:prstDash val="solid"/>
            <a:tailEnd type="triangle"/>
          </a:ln>
        </p:spPr>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329184"/>
          </a:xfrm>
          <a:prstGeom prst="rect">
            <a:avLst/>
          </a:prstGeom>
          <a:noFill/>
          <a:ln/>
        </p:spPr>
        <p:txBody>
          <a:bodyPr wrap="square" lIns="0" tIns="0" rIns="0" bIns="0" rtlCol="0" anchor="b"/>
          <a:lstStyle/>
          <a:p>
            <a:pPr algn="l" indent="0" marL="0">
              <a:buNone/>
            </a:pPr>
            <a:r>
              <a:rPr lang="en-US" sz="1400" b="1" dirty="0">
                <a:solidFill>
                  <a:schemeClr val="accent2"/>
                </a:solidFill>
              </a:rPr>
              <a:t>CI/CD</a:t>
            </a:r>
            <a:endParaRPr lang="en-US" sz="1400" dirty="0"/>
          </a:p>
        </p:txBody>
      </p:sp>
      <p:sp>
        <p:nvSpPr>
          <p:cNvPr id="3" name="Text 0"/>
          <p:cNvSpPr/>
          <p:nvPr>
            <p:ph idx="101" type="title" hasCustomPrompt="1"/>
          </p:nvPr>
        </p:nvSpPr>
        <p:spPr>
          <a:xfrm>
            <a:off x="548640" y="64008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GitHub Actions: five jobs, one security gate</a:t>
            </a:r>
            <a:endParaRPr lang="en-US" sz="3600" dirty="0"/>
          </a:p>
        </p:txBody>
      </p:sp>
      <p:sp>
        <p:nvSpPr>
          <p:cNvPr id="4" name="Trigger"/>
          <p:cNvSpPr/>
          <p:nvPr/>
        </p:nvSpPr>
        <p:spPr>
          <a:xfrm>
            <a:off x="548640" y="2286000"/>
            <a:ext cx="1463040" cy="1463040"/>
          </a:xfrm>
          <a:prstGeom prst="roundRect">
            <a:avLst>
              <a:gd name="adj" fmla="val 6250"/>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1005840" y="2432304"/>
            <a:ext cx="548640" cy="548640"/>
          </a:xfrm>
          <a:prstGeom prst="ellipse">
            <a:avLst/>
          </a:prstGeom>
          <a:solidFill>
            <a:schemeClr val="tx1"/>
          </a:solidFill>
          <a:ln/>
        </p:spPr>
      </p:sp>
      <p:pic>
        <p:nvPicPr>
          <p:cNvPr id="6" name="Image 0" descr="GitHub">    </p:cNvPr>
          <p:cNvPicPr>
            <a:picLocks noChangeAspect="1"/>
          </p:cNvPicPr>
          <p:nvPr/>
        </p:nvPicPr>
        <p:blipFill>
          <a:blip r:embed="rId1"/>
          <a:stretch>
            <a:fillRect/>
          </a:stretch>
        </p:blipFill>
        <p:spPr>
          <a:xfrm>
            <a:off x="1126541" y="2553005"/>
            <a:ext cx="307238" cy="307238"/>
          </a:xfrm>
          <a:prstGeom prst="rect">
            <a:avLst/>
          </a:prstGeom>
        </p:spPr>
      </p:pic>
      <p:sp>
        <p:nvSpPr>
          <p:cNvPr id="7" name="Text 4"/>
          <p:cNvSpPr txBox="1"/>
          <p:nvPr/>
        </p:nvSpPr>
        <p:spPr>
          <a:xfrm>
            <a:off x="548640" y="3063240"/>
            <a:ext cx="1463040" cy="594360"/>
          </a:xfrm>
          <a:prstGeom prst="rect">
            <a:avLst/>
          </a:prstGeom>
          <a:noFill/>
          <a:ln/>
        </p:spPr>
        <p:txBody>
          <a:bodyPr wrap="square" lIns="0" tIns="0" rIns="0" bIns="0" rtlCol="0" anchor="t"/>
          <a:lstStyle/>
          <a:p>
            <a:pPr algn="ctr" indent="0" marL="0">
              <a:buNone/>
            </a:pPr>
            <a:r>
              <a:rPr lang="en-US" sz="1600" b="1" dirty="0">
                <a:solidFill>
                  <a:schemeClr val="tx1"/>
                </a:solidFill>
              </a:rPr>
              <a:t>git push</a:t>
            </a:r>
            <a:endParaRPr lang="en-US" sz="1600" dirty="0"/>
          </a:p>
          <a:p>
            <a:pPr algn="ctr" indent="0" marL="0">
              <a:buNone/>
            </a:pPr>
            <a:r>
              <a:rPr lang="en-US" sz="1300" dirty="0">
                <a:solidFill>
                  <a:schemeClr val="accent5"/>
                </a:solidFill>
              </a:rPr>
              <a:t>or PR to main</a:t>
            </a:r>
            <a:endParaRPr lang="en-US" sz="1600" dirty="0"/>
          </a:p>
        </p:txBody>
      </p:sp>
      <p:sp>
        <p:nvSpPr>
          <p:cNvPr id="8" name="Job backend-test"/>
          <p:cNvSpPr/>
          <p:nvPr/>
        </p:nvSpPr>
        <p:spPr>
          <a:xfrm>
            <a:off x="2423160" y="1554480"/>
            <a:ext cx="3108960" cy="914400"/>
          </a:xfrm>
          <a:prstGeom prst="roundRect">
            <a:avLst>
              <a:gd name="adj" fmla="val 10000"/>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9" name="Shape 6"/>
          <p:cNvSpPr/>
          <p:nvPr/>
        </p:nvSpPr>
        <p:spPr>
          <a:xfrm>
            <a:off x="2587752" y="1773936"/>
            <a:ext cx="475488" cy="475488"/>
          </a:xfrm>
          <a:prstGeom prst="ellipse">
            <a:avLst/>
          </a:prstGeom>
          <a:solidFill>
            <a:schemeClr val="accent1"/>
          </a:solidFill>
          <a:ln/>
        </p:spPr>
      </p:sp>
      <p:pic>
        <p:nvPicPr>
          <p:cNvPr id="10" name="Image 1" descr="backend-test">    </p:cNvPr>
          <p:cNvPicPr>
            <a:picLocks noChangeAspect="1"/>
          </p:cNvPicPr>
          <p:nvPr/>
        </p:nvPicPr>
        <p:blipFill>
          <a:blip r:embed="rId2"/>
          <a:stretch>
            <a:fillRect/>
          </a:stretch>
        </p:blipFill>
        <p:spPr>
          <a:xfrm>
            <a:off x="2692359" y="1878543"/>
            <a:ext cx="266273" cy="266273"/>
          </a:xfrm>
          <a:prstGeom prst="rect">
            <a:avLst/>
          </a:prstGeom>
        </p:spPr>
      </p:pic>
      <p:sp>
        <p:nvSpPr>
          <p:cNvPr id="11" name="Text 7"/>
          <p:cNvSpPr txBox="1"/>
          <p:nvPr/>
        </p:nvSpPr>
        <p:spPr>
          <a:xfrm>
            <a:off x="3200400" y="1554480"/>
            <a:ext cx="2240280" cy="914400"/>
          </a:xfrm>
          <a:prstGeom prst="rect">
            <a:avLst/>
          </a:prstGeom>
          <a:noFill/>
          <a:ln/>
        </p:spPr>
        <p:txBody>
          <a:bodyPr wrap="square" lIns="0" tIns="0" rIns="0" bIns="0" rtlCol="0" anchor="ctr"/>
          <a:lstStyle/>
          <a:p>
            <a:pPr indent="0" marL="0">
              <a:spcAft>
                <a:spcPts val="200"/>
              </a:spcAft>
              <a:buNone/>
            </a:pPr>
            <a:r>
              <a:rPr lang="en-US" sz="1500" b="1" dirty="0">
                <a:solidFill>
                  <a:schemeClr val="tx1"/>
                </a:solidFill>
                <a:latin typeface="Courier New" pitchFamily="34" charset="0"/>
                <a:ea typeface="Courier New" pitchFamily="34" charset="-122"/>
                <a:cs typeface="Courier New" pitchFamily="34" charset="-120"/>
              </a:rPr>
              <a:t>backend-test</a:t>
            </a:r>
            <a:pPr indent="0" marL="0">
              <a:spcAft>
                <a:spcPts val="200"/>
              </a:spcAft>
              <a:buNone/>
            </a:pPr>
            <a:r>
              <a:rPr lang="en-US" sz="1300" dirty="0">
                <a:solidFill>
                  <a:schemeClr val="accent5"/>
                </a:solidFill>
              </a:rPr>
              <a:t>  21 s</a:t>
            </a:r>
            <a:endParaRPr lang="en-US" sz="1400" dirty="0"/>
          </a:p>
          <a:p>
            <a:pPr indent="0" marL="0">
              <a:spcAft>
                <a:spcPts val="200"/>
              </a:spcAft>
              <a:buNone/>
            </a:pPr>
            <a:r>
              <a:rPr lang="en-US" sz="1400" dirty="0">
                <a:solidFill>
                  <a:schemeClr val="accent5"/>
                </a:solidFill>
              </a:rPr>
              <a:t>ruff + pytest (20 tests)</a:t>
            </a:r>
            <a:endParaRPr lang="en-US" sz="1400" dirty="0"/>
          </a:p>
        </p:txBody>
      </p:sp>
      <p:sp>
        <p:nvSpPr>
          <p:cNvPr id="12" name="Shape 8"/>
          <p:cNvSpPr/>
          <p:nvPr/>
        </p:nvSpPr>
        <p:spPr>
          <a:xfrm flipV="1">
            <a:off x="2011680" y="2011680"/>
            <a:ext cx="411480" cy="1005840"/>
          </a:xfrm>
          <a:prstGeom prst="line">
            <a:avLst/>
          </a:prstGeom>
          <a:noFill/>
          <a:ln w="25400">
            <a:solidFill>
              <a:schemeClr val="accent5"/>
            </a:solidFill>
            <a:prstDash val="solid"/>
            <a:tailEnd type="triangle"/>
          </a:ln>
        </p:spPr>
      </p:sp>
      <p:sp>
        <p:nvSpPr>
          <p:cNvPr id="13" name="Shape 9"/>
          <p:cNvSpPr/>
          <p:nvPr/>
        </p:nvSpPr>
        <p:spPr>
          <a:xfrm>
            <a:off x="5532120" y="2011680"/>
            <a:ext cx="411480" cy="0"/>
          </a:xfrm>
          <a:prstGeom prst="line">
            <a:avLst/>
          </a:prstGeom>
          <a:noFill/>
          <a:ln w="25400">
            <a:solidFill>
              <a:schemeClr val="accent5"/>
            </a:solidFill>
            <a:prstDash val="solid"/>
            <a:tailEnd type="triangle"/>
          </a:ln>
        </p:spPr>
      </p:sp>
      <p:sp>
        <p:nvSpPr>
          <p:cNvPr id="14" name="Job frontend-build"/>
          <p:cNvSpPr/>
          <p:nvPr/>
        </p:nvSpPr>
        <p:spPr>
          <a:xfrm>
            <a:off x="2423160" y="2560320"/>
            <a:ext cx="3108960" cy="914400"/>
          </a:xfrm>
          <a:prstGeom prst="roundRect">
            <a:avLst>
              <a:gd name="adj" fmla="val 10000"/>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15" name="Shape 11"/>
          <p:cNvSpPr/>
          <p:nvPr/>
        </p:nvSpPr>
        <p:spPr>
          <a:xfrm>
            <a:off x="2587752" y="2779776"/>
            <a:ext cx="475488" cy="475488"/>
          </a:xfrm>
          <a:prstGeom prst="ellipse">
            <a:avLst/>
          </a:prstGeom>
          <a:solidFill>
            <a:schemeClr val="accent1"/>
          </a:solidFill>
          <a:ln/>
        </p:spPr>
      </p:sp>
      <p:pic>
        <p:nvPicPr>
          <p:cNvPr id="16" name="Image 2" descr="frontend-build">    </p:cNvPr>
          <p:cNvPicPr>
            <a:picLocks noChangeAspect="1"/>
          </p:cNvPicPr>
          <p:nvPr/>
        </p:nvPicPr>
        <p:blipFill>
          <a:blip r:embed="rId3"/>
          <a:stretch>
            <a:fillRect/>
          </a:stretch>
        </p:blipFill>
        <p:spPr>
          <a:xfrm>
            <a:off x="2692359" y="2884383"/>
            <a:ext cx="266273" cy="266273"/>
          </a:xfrm>
          <a:prstGeom prst="rect">
            <a:avLst/>
          </a:prstGeom>
        </p:spPr>
      </p:pic>
      <p:sp>
        <p:nvSpPr>
          <p:cNvPr id="17" name="Text 12"/>
          <p:cNvSpPr txBox="1"/>
          <p:nvPr/>
        </p:nvSpPr>
        <p:spPr>
          <a:xfrm>
            <a:off x="3200400" y="2560320"/>
            <a:ext cx="2240280" cy="914400"/>
          </a:xfrm>
          <a:prstGeom prst="rect">
            <a:avLst/>
          </a:prstGeom>
          <a:noFill/>
          <a:ln/>
        </p:spPr>
        <p:txBody>
          <a:bodyPr wrap="square" lIns="0" tIns="0" rIns="0" bIns="0" rtlCol="0" anchor="ctr"/>
          <a:lstStyle/>
          <a:p>
            <a:pPr indent="0" marL="0">
              <a:spcAft>
                <a:spcPts val="200"/>
              </a:spcAft>
              <a:buNone/>
            </a:pPr>
            <a:r>
              <a:rPr lang="en-US" sz="1500" b="1" dirty="0">
                <a:solidFill>
                  <a:schemeClr val="tx1"/>
                </a:solidFill>
                <a:latin typeface="Courier New" pitchFamily="34" charset="0"/>
                <a:ea typeface="Courier New" pitchFamily="34" charset="-122"/>
                <a:cs typeface="Courier New" pitchFamily="34" charset="-120"/>
              </a:rPr>
              <a:t>frontend-build</a:t>
            </a:r>
            <a:pPr indent="0" marL="0">
              <a:spcAft>
                <a:spcPts val="200"/>
              </a:spcAft>
              <a:buNone/>
            </a:pPr>
            <a:r>
              <a:rPr lang="en-US" sz="1300" dirty="0">
                <a:solidFill>
                  <a:schemeClr val="accent5"/>
                </a:solidFill>
              </a:rPr>
              <a:t>  8 s</a:t>
            </a:r>
            <a:endParaRPr lang="en-US" sz="1400" dirty="0"/>
          </a:p>
          <a:p>
            <a:pPr indent="0" marL="0">
              <a:spcAft>
                <a:spcPts val="200"/>
              </a:spcAft>
              <a:buNone/>
            </a:pPr>
            <a:r>
              <a:rPr lang="en-US" sz="1400" dirty="0">
                <a:solidFill>
                  <a:schemeClr val="accent5"/>
                </a:solidFill>
              </a:rPr>
              <a:t>npm ci, build, npm audit</a:t>
            </a:r>
            <a:endParaRPr lang="en-US" sz="1400" dirty="0"/>
          </a:p>
        </p:txBody>
      </p:sp>
      <p:sp>
        <p:nvSpPr>
          <p:cNvPr id="18" name="Shape 13"/>
          <p:cNvSpPr/>
          <p:nvPr/>
        </p:nvSpPr>
        <p:spPr>
          <a:xfrm>
            <a:off x="2011680" y="3017520"/>
            <a:ext cx="411480" cy="0"/>
          </a:xfrm>
          <a:prstGeom prst="line">
            <a:avLst/>
          </a:prstGeom>
          <a:noFill/>
          <a:ln w="25400">
            <a:solidFill>
              <a:schemeClr val="accent5"/>
            </a:solidFill>
            <a:prstDash val="solid"/>
            <a:tailEnd type="triangle"/>
          </a:ln>
        </p:spPr>
      </p:sp>
      <p:sp>
        <p:nvSpPr>
          <p:cNvPr id="19" name="Shape 14"/>
          <p:cNvSpPr/>
          <p:nvPr/>
        </p:nvSpPr>
        <p:spPr>
          <a:xfrm>
            <a:off x="5532120" y="3017520"/>
            <a:ext cx="411480" cy="0"/>
          </a:xfrm>
          <a:prstGeom prst="line">
            <a:avLst/>
          </a:prstGeom>
          <a:noFill/>
          <a:ln w="25400">
            <a:solidFill>
              <a:schemeClr val="accent5"/>
            </a:solidFill>
            <a:prstDash val="solid"/>
            <a:tailEnd type="triangle"/>
          </a:ln>
        </p:spPr>
      </p:sp>
      <p:sp>
        <p:nvSpPr>
          <p:cNvPr id="20" name="Job security-static"/>
          <p:cNvSpPr/>
          <p:nvPr/>
        </p:nvSpPr>
        <p:spPr>
          <a:xfrm>
            <a:off x="2423160" y="3566160"/>
            <a:ext cx="3108960" cy="914400"/>
          </a:xfrm>
          <a:prstGeom prst="roundRect">
            <a:avLst>
              <a:gd name="adj" fmla="val 10000"/>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21" name="Shape 16"/>
          <p:cNvSpPr/>
          <p:nvPr/>
        </p:nvSpPr>
        <p:spPr>
          <a:xfrm>
            <a:off x="2587752" y="3785616"/>
            <a:ext cx="475488" cy="475488"/>
          </a:xfrm>
          <a:prstGeom prst="ellipse">
            <a:avLst/>
          </a:prstGeom>
          <a:solidFill>
            <a:schemeClr val="accent2"/>
          </a:solidFill>
          <a:ln/>
        </p:spPr>
      </p:sp>
      <p:pic>
        <p:nvPicPr>
          <p:cNvPr id="22" name="Image 3" descr="security-static">    </p:cNvPr>
          <p:cNvPicPr>
            <a:picLocks noChangeAspect="1"/>
          </p:cNvPicPr>
          <p:nvPr/>
        </p:nvPicPr>
        <p:blipFill>
          <a:blip r:embed="rId4"/>
          <a:stretch>
            <a:fillRect/>
          </a:stretch>
        </p:blipFill>
        <p:spPr>
          <a:xfrm>
            <a:off x="2692359" y="3890223"/>
            <a:ext cx="266273" cy="266273"/>
          </a:xfrm>
          <a:prstGeom prst="rect">
            <a:avLst/>
          </a:prstGeom>
        </p:spPr>
      </p:pic>
      <p:sp>
        <p:nvSpPr>
          <p:cNvPr id="23" name="Text 17"/>
          <p:cNvSpPr txBox="1"/>
          <p:nvPr/>
        </p:nvSpPr>
        <p:spPr>
          <a:xfrm>
            <a:off x="3200400" y="3566160"/>
            <a:ext cx="2240280" cy="914400"/>
          </a:xfrm>
          <a:prstGeom prst="rect">
            <a:avLst/>
          </a:prstGeom>
          <a:noFill/>
          <a:ln/>
        </p:spPr>
        <p:txBody>
          <a:bodyPr wrap="square" lIns="0" tIns="0" rIns="0" bIns="0" rtlCol="0" anchor="ctr"/>
          <a:lstStyle/>
          <a:p>
            <a:pPr indent="0" marL="0">
              <a:spcAft>
                <a:spcPts val="200"/>
              </a:spcAft>
              <a:buNone/>
            </a:pPr>
            <a:r>
              <a:rPr lang="en-US" sz="1500" b="1" dirty="0">
                <a:solidFill>
                  <a:schemeClr val="tx1"/>
                </a:solidFill>
                <a:latin typeface="Courier New" pitchFamily="34" charset="0"/>
                <a:ea typeface="Courier New" pitchFamily="34" charset="-122"/>
                <a:cs typeface="Courier New" pitchFamily="34" charset="-120"/>
              </a:rPr>
              <a:t>security-static</a:t>
            </a:r>
            <a:pPr indent="0" marL="0">
              <a:spcAft>
                <a:spcPts val="200"/>
              </a:spcAft>
              <a:buNone/>
            </a:pPr>
            <a:r>
              <a:rPr lang="en-US" sz="1300" dirty="0">
                <a:solidFill>
                  <a:schemeClr val="accent5"/>
                </a:solidFill>
              </a:rPr>
              <a:t>  23 s</a:t>
            </a:r>
            <a:endParaRPr lang="en-US" sz="1400" dirty="0"/>
          </a:p>
          <a:p>
            <a:pPr indent="0" marL="0">
              <a:spcAft>
                <a:spcPts val="200"/>
              </a:spcAft>
              <a:buNone/>
            </a:pPr>
            <a:r>
              <a:rPr lang="en-US" sz="1400" dirty="0">
                <a:solidFill>
                  <a:schemeClr val="accent5"/>
                </a:solidFill>
              </a:rPr>
              <a:t>Bandit, pip-audit, Gitleaks</a:t>
            </a:r>
            <a:endParaRPr lang="en-US" sz="1400" dirty="0"/>
          </a:p>
        </p:txBody>
      </p:sp>
      <p:sp>
        <p:nvSpPr>
          <p:cNvPr id="24" name="Shape 18"/>
          <p:cNvSpPr/>
          <p:nvPr/>
        </p:nvSpPr>
        <p:spPr>
          <a:xfrm>
            <a:off x="2011680" y="3017520"/>
            <a:ext cx="411480" cy="1005840"/>
          </a:xfrm>
          <a:prstGeom prst="line">
            <a:avLst/>
          </a:prstGeom>
          <a:noFill/>
          <a:ln w="25400">
            <a:solidFill>
              <a:schemeClr val="accent5"/>
            </a:solidFill>
            <a:prstDash val="solid"/>
            <a:tailEnd type="triangle"/>
          </a:ln>
        </p:spPr>
      </p:sp>
      <p:sp>
        <p:nvSpPr>
          <p:cNvPr id="25" name="Shape 19"/>
          <p:cNvSpPr/>
          <p:nvPr/>
        </p:nvSpPr>
        <p:spPr>
          <a:xfrm>
            <a:off x="5532120" y="4023360"/>
            <a:ext cx="411480" cy="0"/>
          </a:xfrm>
          <a:prstGeom prst="line">
            <a:avLst/>
          </a:prstGeom>
          <a:noFill/>
          <a:ln w="25400">
            <a:solidFill>
              <a:schemeClr val="accent5"/>
            </a:solidFill>
            <a:prstDash val="solid"/>
            <a:tailEnd type="triangle"/>
          </a:ln>
        </p:spPr>
      </p:sp>
      <p:sp>
        <p:nvSpPr>
          <p:cNvPr id="26" name="Job build-scan-push"/>
          <p:cNvSpPr/>
          <p:nvPr/>
        </p:nvSpPr>
        <p:spPr>
          <a:xfrm>
            <a:off x="5943600" y="1554480"/>
            <a:ext cx="3291840" cy="2926080"/>
          </a:xfrm>
          <a:prstGeom prst="roundRect">
            <a:avLst>
              <a:gd name="adj" fmla="val 3125"/>
            </a:avLst>
          </a:prstGeom>
          <a:solidFill>
            <a:schemeClr val="accent3"/>
          </a:solidFill>
          <a:ln w="12700">
            <a:solidFill>
              <a:schemeClr val="accent1"/>
            </a:solidFill>
            <a:prstDash val="solid"/>
          </a:ln>
          <a:effectLst>
            <a:outerShdw sx="100000" sy="100000" kx="0" ky="0" algn="bl" rotWithShape="0" blurRad="101600" dist="25400" dir="5400000">
              <a:srgbClr val="000000">
                <a:alpha val="10000"/>
              </a:srgbClr>
            </a:outerShdw>
          </a:effectLst>
        </p:spPr>
      </p:sp>
      <p:sp>
        <p:nvSpPr>
          <p:cNvPr id="27" name="Text 21"/>
          <p:cNvSpPr txBox="1"/>
          <p:nvPr/>
        </p:nvSpPr>
        <p:spPr>
          <a:xfrm>
            <a:off x="6172200" y="1664208"/>
            <a:ext cx="2926080" cy="36576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build-scan-push</a:t>
            </a:r>
            <a:pPr indent="0" marL="0">
              <a:buNone/>
            </a:pPr>
            <a:r>
              <a:rPr lang="en-US" sz="1300" dirty="0">
                <a:solidFill>
                  <a:schemeClr val="accent5"/>
                </a:solidFill>
              </a:rPr>
              <a:t>  1 m 43 s</a:t>
            </a:r>
            <a:endParaRPr lang="en-US" sz="1400" dirty="0"/>
          </a:p>
        </p:txBody>
      </p:sp>
      <p:sp>
        <p:nvSpPr>
          <p:cNvPr id="28" name="Shape 22"/>
          <p:cNvSpPr/>
          <p:nvPr/>
        </p:nvSpPr>
        <p:spPr>
          <a:xfrm>
            <a:off x="6172200" y="2194560"/>
            <a:ext cx="384048" cy="384048"/>
          </a:xfrm>
          <a:prstGeom prst="ellipse">
            <a:avLst/>
          </a:prstGeom>
          <a:solidFill>
            <a:schemeClr val="accent1"/>
          </a:solidFill>
          <a:ln/>
        </p:spPr>
      </p:sp>
      <p:pic>
        <p:nvPicPr>
          <p:cNvPr id="29" name="Image 4" descr="icon">    </p:cNvPr>
          <p:cNvPicPr>
            <a:picLocks noChangeAspect="1"/>
          </p:cNvPicPr>
          <p:nvPr/>
        </p:nvPicPr>
        <p:blipFill>
          <a:blip r:embed="rId5"/>
          <a:stretch>
            <a:fillRect/>
          </a:stretch>
        </p:blipFill>
        <p:spPr>
          <a:xfrm>
            <a:off x="6256691" y="2279051"/>
            <a:ext cx="215067" cy="215067"/>
          </a:xfrm>
          <a:prstGeom prst="rect">
            <a:avLst/>
          </a:prstGeom>
        </p:spPr>
      </p:pic>
      <p:sp>
        <p:nvSpPr>
          <p:cNvPr id="30" name="Text 23"/>
          <p:cNvSpPr txBox="1"/>
          <p:nvPr/>
        </p:nvSpPr>
        <p:spPr>
          <a:xfrm>
            <a:off x="6693408" y="2148840"/>
            <a:ext cx="2377440" cy="475488"/>
          </a:xfrm>
          <a:prstGeom prst="rect">
            <a:avLst/>
          </a:prstGeom>
          <a:noFill/>
          <a:ln/>
        </p:spPr>
        <p:txBody>
          <a:bodyPr wrap="square" lIns="0" tIns="0" rIns="0" bIns="0" rtlCol="0" anchor="ctr"/>
          <a:lstStyle/>
          <a:p>
            <a:pPr indent="0" marL="0">
              <a:buNone/>
            </a:pPr>
            <a:r>
              <a:rPr lang="en-US" sz="1400" dirty="0">
                <a:solidFill>
                  <a:schemeClr val="tx1"/>
                </a:solidFill>
              </a:rPr>
              <a:t>docker build both images</a:t>
            </a:r>
            <a:endParaRPr lang="en-US" sz="1400" dirty="0"/>
          </a:p>
        </p:txBody>
      </p:sp>
      <p:sp>
        <p:nvSpPr>
          <p:cNvPr id="31" name="Shape 24"/>
          <p:cNvSpPr/>
          <p:nvPr/>
        </p:nvSpPr>
        <p:spPr>
          <a:xfrm>
            <a:off x="6172200" y="2761488"/>
            <a:ext cx="384048" cy="384048"/>
          </a:xfrm>
          <a:prstGeom prst="ellipse">
            <a:avLst/>
          </a:prstGeom>
          <a:solidFill>
            <a:schemeClr val="accent2"/>
          </a:solidFill>
          <a:ln/>
        </p:spPr>
      </p:sp>
      <p:pic>
        <p:nvPicPr>
          <p:cNvPr id="32" name="Image 5" descr="icon">    </p:cNvPr>
          <p:cNvPicPr>
            <a:picLocks noChangeAspect="1"/>
          </p:cNvPicPr>
          <p:nvPr/>
        </p:nvPicPr>
        <p:blipFill>
          <a:blip r:embed="rId6"/>
          <a:stretch>
            <a:fillRect/>
          </a:stretch>
        </p:blipFill>
        <p:spPr>
          <a:xfrm>
            <a:off x="6256691" y="2845979"/>
            <a:ext cx="215067" cy="215067"/>
          </a:xfrm>
          <a:prstGeom prst="rect">
            <a:avLst/>
          </a:prstGeom>
        </p:spPr>
      </p:pic>
      <p:sp>
        <p:nvSpPr>
          <p:cNvPr id="33" name="Text 25"/>
          <p:cNvSpPr txBox="1"/>
          <p:nvPr/>
        </p:nvSpPr>
        <p:spPr>
          <a:xfrm>
            <a:off x="6693408" y="2715768"/>
            <a:ext cx="2377440" cy="475488"/>
          </a:xfrm>
          <a:prstGeom prst="rect">
            <a:avLst/>
          </a:prstGeom>
          <a:noFill/>
          <a:ln/>
        </p:spPr>
        <p:txBody>
          <a:bodyPr wrap="square" lIns="0" tIns="0" rIns="0" bIns="0" rtlCol="0" anchor="ctr"/>
          <a:lstStyle/>
          <a:p>
            <a:pPr indent="0" marL="0">
              <a:buNone/>
            </a:pPr>
            <a:r>
              <a:rPr lang="en-US" sz="1400" b="1" dirty="0">
                <a:solidFill>
                  <a:schemeClr val="accent2"/>
                </a:solidFill>
              </a:rPr>
              <a:t>Trivy gate on both images: fails on HIGH/CRITICAL</a:t>
            </a:r>
            <a:endParaRPr lang="en-US" sz="1400" dirty="0"/>
          </a:p>
        </p:txBody>
      </p:sp>
      <p:sp>
        <p:nvSpPr>
          <p:cNvPr id="34" name="Shape 26"/>
          <p:cNvSpPr/>
          <p:nvPr/>
        </p:nvSpPr>
        <p:spPr>
          <a:xfrm>
            <a:off x="6172200" y="3328416"/>
            <a:ext cx="384048" cy="384048"/>
          </a:xfrm>
          <a:prstGeom prst="ellipse">
            <a:avLst/>
          </a:prstGeom>
          <a:solidFill>
            <a:schemeClr val="accent1"/>
          </a:solidFill>
          <a:ln/>
        </p:spPr>
      </p:sp>
      <p:pic>
        <p:nvPicPr>
          <p:cNvPr id="35" name="Image 6" descr="icon">    </p:cNvPr>
          <p:cNvPicPr>
            <a:picLocks noChangeAspect="1"/>
          </p:cNvPicPr>
          <p:nvPr/>
        </p:nvPicPr>
        <p:blipFill>
          <a:blip r:embed="rId7"/>
          <a:stretch>
            <a:fillRect/>
          </a:stretch>
        </p:blipFill>
        <p:spPr>
          <a:xfrm>
            <a:off x="6256691" y="3412907"/>
            <a:ext cx="215067" cy="215067"/>
          </a:xfrm>
          <a:prstGeom prst="rect">
            <a:avLst/>
          </a:prstGeom>
        </p:spPr>
      </p:pic>
      <p:sp>
        <p:nvSpPr>
          <p:cNvPr id="36" name="Text 27"/>
          <p:cNvSpPr txBox="1"/>
          <p:nvPr/>
        </p:nvSpPr>
        <p:spPr>
          <a:xfrm>
            <a:off x="6693408" y="3282696"/>
            <a:ext cx="2377440" cy="475488"/>
          </a:xfrm>
          <a:prstGeom prst="rect">
            <a:avLst/>
          </a:prstGeom>
          <a:noFill/>
          <a:ln/>
        </p:spPr>
        <p:txBody>
          <a:bodyPr wrap="square" lIns="0" tIns="0" rIns="0" bIns="0" rtlCol="0" anchor="ctr"/>
          <a:lstStyle/>
          <a:p>
            <a:pPr indent="0" marL="0">
              <a:buNone/>
            </a:pPr>
            <a:r>
              <a:rPr lang="en-US" sz="1400" dirty="0">
                <a:solidFill>
                  <a:schemeClr val="tx1"/>
                </a:solidFill>
              </a:rPr>
              <a:t>SARIF upload to GitHub</a:t>
            </a:r>
            <a:endParaRPr lang="en-US" sz="1400" dirty="0"/>
          </a:p>
        </p:txBody>
      </p:sp>
      <p:sp>
        <p:nvSpPr>
          <p:cNvPr id="37" name="Shape 28"/>
          <p:cNvSpPr/>
          <p:nvPr/>
        </p:nvSpPr>
        <p:spPr>
          <a:xfrm>
            <a:off x="6172200" y="3895344"/>
            <a:ext cx="384048" cy="384048"/>
          </a:xfrm>
          <a:prstGeom prst="ellipse">
            <a:avLst/>
          </a:prstGeom>
          <a:solidFill>
            <a:schemeClr val="accent1"/>
          </a:solidFill>
          <a:ln/>
        </p:spPr>
      </p:sp>
      <p:pic>
        <p:nvPicPr>
          <p:cNvPr id="38" name="Image 7" descr="icon">    </p:cNvPr>
          <p:cNvPicPr>
            <a:picLocks noChangeAspect="1"/>
          </p:cNvPicPr>
          <p:nvPr/>
        </p:nvPicPr>
        <p:blipFill>
          <a:blip r:embed="rId8"/>
          <a:stretch>
            <a:fillRect/>
          </a:stretch>
        </p:blipFill>
        <p:spPr>
          <a:xfrm>
            <a:off x="6256691" y="3979835"/>
            <a:ext cx="215067" cy="215067"/>
          </a:xfrm>
          <a:prstGeom prst="rect">
            <a:avLst/>
          </a:prstGeom>
        </p:spPr>
      </p:pic>
      <p:sp>
        <p:nvSpPr>
          <p:cNvPr id="39" name="Text 29"/>
          <p:cNvSpPr txBox="1"/>
          <p:nvPr/>
        </p:nvSpPr>
        <p:spPr>
          <a:xfrm>
            <a:off x="6693408" y="3849624"/>
            <a:ext cx="2377440" cy="475488"/>
          </a:xfrm>
          <a:prstGeom prst="rect">
            <a:avLst/>
          </a:prstGeom>
          <a:noFill/>
          <a:ln/>
        </p:spPr>
        <p:txBody>
          <a:bodyPr wrap="square" lIns="0" tIns="0" rIns="0" bIns="0" rtlCol="0" anchor="ctr"/>
          <a:lstStyle/>
          <a:p>
            <a:pPr indent="0" marL="0">
              <a:buNone/>
            </a:pPr>
            <a:r>
              <a:rPr lang="en-US" sz="1400" dirty="0">
                <a:solidFill>
                  <a:schemeClr val="tx1"/>
                </a:solidFill>
              </a:rPr>
              <a:t>push to GHCR as :&lt;git-sha&gt; (+ :latest on main)</a:t>
            </a:r>
            <a:endParaRPr lang="en-US" sz="1400" dirty="0"/>
          </a:p>
        </p:txBody>
      </p:sp>
      <p:sp>
        <p:nvSpPr>
          <p:cNvPr id="40" name="Shape 30"/>
          <p:cNvSpPr/>
          <p:nvPr/>
        </p:nvSpPr>
        <p:spPr>
          <a:xfrm>
            <a:off x="9235440" y="3017520"/>
            <a:ext cx="411480" cy="0"/>
          </a:xfrm>
          <a:prstGeom prst="line">
            <a:avLst/>
          </a:prstGeom>
          <a:noFill/>
          <a:ln w="25400">
            <a:solidFill>
              <a:schemeClr val="accent5"/>
            </a:solidFill>
            <a:prstDash val="solid"/>
            <a:tailEnd type="triangle"/>
          </a:ln>
        </p:spPr>
      </p:sp>
      <p:sp>
        <p:nvSpPr>
          <p:cNvPr id="41" name="Job deploy"/>
          <p:cNvSpPr/>
          <p:nvPr/>
        </p:nvSpPr>
        <p:spPr>
          <a:xfrm>
            <a:off x="9646920" y="2103120"/>
            <a:ext cx="1996135" cy="1828800"/>
          </a:xfrm>
          <a:prstGeom prst="roundRect">
            <a:avLst>
              <a:gd name="adj" fmla="val 5000"/>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42" name="Text 32"/>
          <p:cNvSpPr txBox="1"/>
          <p:nvPr/>
        </p:nvSpPr>
        <p:spPr>
          <a:xfrm>
            <a:off x="9829800" y="2103120"/>
            <a:ext cx="1676095" cy="1828800"/>
          </a:xfrm>
          <a:prstGeom prst="rect">
            <a:avLst/>
          </a:prstGeom>
          <a:noFill/>
          <a:ln/>
        </p:spPr>
        <p:txBody>
          <a:bodyPr wrap="square" lIns="0" tIns="0" rIns="0" bIns="0" rtlCol="0" anchor="ctr"/>
          <a:lstStyle/>
          <a:p>
            <a:pPr indent="0" marL="0">
              <a:spcAft>
                <a:spcPts val="400"/>
              </a:spcAft>
              <a:buNone/>
            </a:pPr>
            <a:r>
              <a:rPr lang="en-US" sz="1500" b="1" dirty="0">
                <a:solidFill>
                  <a:schemeClr val="tx1"/>
                </a:solidFill>
                <a:latin typeface="Courier New" pitchFamily="34" charset="0"/>
                <a:ea typeface="Courier New" pitchFamily="34" charset="-122"/>
                <a:cs typeface="Courier New" pitchFamily="34" charset="-120"/>
              </a:rPr>
              <a:t>deploy</a:t>
            </a:r>
            <a:pPr indent="0" marL="0">
              <a:spcAft>
                <a:spcPts val="400"/>
              </a:spcAft>
              <a:buNone/>
            </a:pPr>
            <a:r>
              <a:rPr lang="en-US" sz="1300" dirty="0">
                <a:solidFill>
                  <a:schemeClr val="accent5"/>
                </a:solidFill>
              </a:rPr>
              <a:t>  5 s</a:t>
            </a:r>
            <a:endParaRPr lang="en-US" sz="1400" dirty="0"/>
          </a:p>
          <a:p>
            <a:pPr indent="0" marL="0">
              <a:spcAft>
                <a:spcPts val="400"/>
              </a:spcAft>
              <a:buNone/>
            </a:pPr>
            <a:r>
              <a:rPr lang="en-US" sz="1400" dirty="0">
                <a:solidFill>
                  <a:schemeClr val="tx1"/>
                </a:solidFill>
              </a:rPr>
              <a:t>helm lint, then helm upgrade --install with the SHA tag</a:t>
            </a:r>
            <a:endParaRPr lang="en-US" sz="1400" dirty="0"/>
          </a:p>
          <a:p>
            <a:pPr indent="0" marL="0">
              <a:spcAft>
                <a:spcPts val="400"/>
              </a:spcAft>
              <a:buNone/>
            </a:pPr>
            <a:r>
              <a:rPr lang="en-US" sz="1300" dirty="0">
                <a:solidFill>
                  <a:schemeClr val="accent5"/>
                </a:solidFill>
              </a:rPr>
              <a:t>main branch only</a:t>
            </a:r>
            <a:endParaRPr lang="en-US" sz="1400" dirty="0"/>
          </a:p>
        </p:txBody>
      </p:sp>
      <p:sp>
        <p:nvSpPr>
          <p:cNvPr id="43" name="Text 33"/>
          <p:cNvSpPr txBox="1"/>
          <p:nvPr/>
        </p:nvSpPr>
        <p:spPr>
          <a:xfrm>
            <a:off x="548640" y="4645152"/>
            <a:ext cx="7315200" cy="292608"/>
          </a:xfrm>
          <a:prstGeom prst="rect">
            <a:avLst/>
          </a:prstGeom>
          <a:noFill/>
          <a:ln/>
        </p:spPr>
        <p:txBody>
          <a:bodyPr wrap="square" lIns="0" tIns="0" rIns="0" bIns="0" rtlCol="0" anchor="t"/>
          <a:lstStyle/>
          <a:p>
            <a:pPr indent="0" marL="0">
              <a:buNone/>
            </a:pPr>
            <a:r>
              <a:rPr lang="en-US" sz="1400" b="1" dirty="0">
                <a:solidFill>
                  <a:schemeClr val="accent5"/>
                </a:solidFill>
              </a:rPr>
              <a:t>What actually happened on the first push</a:t>
            </a:r>
            <a:endParaRPr lang="en-US" sz="1400" dirty="0"/>
          </a:p>
        </p:txBody>
      </p:sp>
      <p:sp>
        <p:nvSpPr>
          <p:cNvPr id="44" name="Story 1"/>
          <p:cNvSpPr/>
          <p:nvPr/>
        </p:nvSpPr>
        <p:spPr>
          <a:xfrm>
            <a:off x="548640" y="4983480"/>
            <a:ext cx="3429914" cy="1143000"/>
          </a:xfrm>
          <a:prstGeom prst="roundRect">
            <a:avLst>
              <a:gd name="adj" fmla="val 8000"/>
            </a:avLst>
          </a:prstGeom>
          <a:solidFill>
            <a:schemeClr val="accent4"/>
          </a:solidFill>
          <a:ln/>
        </p:spPr>
      </p:sp>
      <p:sp>
        <p:nvSpPr>
          <p:cNvPr id="45" name="Shape 35"/>
          <p:cNvSpPr/>
          <p:nvPr/>
        </p:nvSpPr>
        <p:spPr>
          <a:xfrm>
            <a:off x="731520" y="5312664"/>
            <a:ext cx="475488" cy="475488"/>
          </a:xfrm>
          <a:prstGeom prst="ellipse">
            <a:avLst/>
          </a:prstGeom>
          <a:solidFill>
            <a:schemeClr val="accent2"/>
          </a:solidFill>
          <a:ln/>
        </p:spPr>
      </p:sp>
      <p:pic>
        <p:nvPicPr>
          <p:cNvPr id="46" name="Image 8" descr="icon">    </p:cNvPr>
          <p:cNvPicPr>
            <a:picLocks noChangeAspect="1"/>
          </p:cNvPicPr>
          <p:nvPr/>
        </p:nvPicPr>
        <p:blipFill>
          <a:blip r:embed="rId9"/>
          <a:stretch>
            <a:fillRect/>
          </a:stretch>
        </p:blipFill>
        <p:spPr>
          <a:xfrm>
            <a:off x="836127" y="5417271"/>
            <a:ext cx="266273" cy="266273"/>
          </a:xfrm>
          <a:prstGeom prst="rect">
            <a:avLst/>
          </a:prstGeom>
        </p:spPr>
      </p:pic>
      <p:sp>
        <p:nvSpPr>
          <p:cNvPr id="47" name="Text 36"/>
          <p:cNvSpPr txBox="1"/>
          <p:nvPr/>
        </p:nvSpPr>
        <p:spPr>
          <a:xfrm>
            <a:off x="1353312" y="4983480"/>
            <a:ext cx="2515514" cy="1143000"/>
          </a:xfrm>
          <a:prstGeom prst="rect">
            <a:avLst/>
          </a:prstGeom>
          <a:noFill/>
          <a:ln/>
        </p:spPr>
        <p:txBody>
          <a:bodyPr wrap="square" lIns="0" tIns="0" rIns="0" bIns="0" rtlCol="0" anchor="ctr"/>
          <a:lstStyle/>
          <a:p>
            <a:pPr indent="0" marL="0">
              <a:buNone/>
            </a:pPr>
            <a:r>
              <a:rPr lang="en-US" sz="1500" b="1" dirty="0">
                <a:solidFill>
                  <a:schemeClr val="tx1"/>
                </a:solidFill>
              </a:rPr>
              <a:t>Run 1 failed after 29 s</a:t>
            </a:r>
            <a:endParaRPr lang="en-US" sz="1400" dirty="0"/>
          </a:p>
          <a:p>
            <a:pPr indent="0" marL="0">
              <a:buNone/>
            </a:pPr>
            <a:r>
              <a:rPr lang="en-US" sz="1300" dirty="0">
                <a:solidFill>
                  <a:schemeClr val="tx1"/>
                </a:solidFill>
              </a:rPr>
              <a:t>Gitleaks: my own DB-URL rule matched a README example</a:t>
            </a:r>
            <a:endParaRPr lang="en-US" sz="1400" dirty="0"/>
          </a:p>
        </p:txBody>
      </p:sp>
      <p:sp>
        <p:nvSpPr>
          <p:cNvPr id="48" name="Shape 37"/>
          <p:cNvSpPr/>
          <p:nvPr/>
        </p:nvSpPr>
        <p:spPr>
          <a:xfrm>
            <a:off x="4033418" y="5554980"/>
            <a:ext cx="292608" cy="0"/>
          </a:xfrm>
          <a:prstGeom prst="line">
            <a:avLst/>
          </a:prstGeom>
          <a:noFill/>
          <a:ln w="25400">
            <a:solidFill>
              <a:schemeClr val="accent5"/>
            </a:solidFill>
            <a:prstDash val="solid"/>
            <a:tailEnd type="triangle"/>
          </a:ln>
        </p:spPr>
      </p:sp>
      <p:sp>
        <p:nvSpPr>
          <p:cNvPr id="49" name="Story 2"/>
          <p:cNvSpPr/>
          <p:nvPr/>
        </p:nvSpPr>
        <p:spPr>
          <a:xfrm>
            <a:off x="4380890" y="4983480"/>
            <a:ext cx="3429914" cy="1143000"/>
          </a:xfrm>
          <a:prstGeom prst="roundRect">
            <a:avLst>
              <a:gd name="adj" fmla="val 8000"/>
            </a:avLst>
          </a:prstGeom>
          <a:solidFill>
            <a:schemeClr val="bg2"/>
          </a:solidFill>
          <a:ln/>
        </p:spPr>
      </p:sp>
      <p:sp>
        <p:nvSpPr>
          <p:cNvPr id="50" name="Shape 39"/>
          <p:cNvSpPr/>
          <p:nvPr/>
        </p:nvSpPr>
        <p:spPr>
          <a:xfrm>
            <a:off x="4563770" y="5312664"/>
            <a:ext cx="475488" cy="475488"/>
          </a:xfrm>
          <a:prstGeom prst="ellipse">
            <a:avLst/>
          </a:prstGeom>
          <a:solidFill>
            <a:schemeClr val="tx2"/>
          </a:solidFill>
          <a:ln/>
        </p:spPr>
      </p:sp>
      <p:pic>
        <p:nvPicPr>
          <p:cNvPr id="51" name="Image 9" descr="icon">    </p:cNvPr>
          <p:cNvPicPr>
            <a:picLocks noChangeAspect="1"/>
          </p:cNvPicPr>
          <p:nvPr/>
        </p:nvPicPr>
        <p:blipFill>
          <a:blip r:embed="rId10"/>
          <a:stretch>
            <a:fillRect/>
          </a:stretch>
        </p:blipFill>
        <p:spPr>
          <a:xfrm>
            <a:off x="4668378" y="5417271"/>
            <a:ext cx="266273" cy="266273"/>
          </a:xfrm>
          <a:prstGeom prst="rect">
            <a:avLst/>
          </a:prstGeom>
        </p:spPr>
      </p:pic>
      <p:sp>
        <p:nvSpPr>
          <p:cNvPr id="52" name="Text 40"/>
          <p:cNvSpPr txBox="1"/>
          <p:nvPr/>
        </p:nvSpPr>
        <p:spPr>
          <a:xfrm>
            <a:off x="5185562" y="4983480"/>
            <a:ext cx="2515514" cy="1143000"/>
          </a:xfrm>
          <a:prstGeom prst="rect">
            <a:avLst/>
          </a:prstGeom>
          <a:noFill/>
          <a:ln/>
        </p:spPr>
        <p:txBody>
          <a:bodyPr wrap="square" lIns="0" tIns="0" rIns="0" bIns="0" rtlCol="0" anchor="ctr"/>
          <a:lstStyle/>
          <a:p>
            <a:pPr indent="0" marL="0">
              <a:buNone/>
            </a:pPr>
            <a:r>
              <a:rPr lang="en-US" sz="1500" b="1" dirty="0">
                <a:solidFill>
                  <a:schemeClr val="tx1"/>
                </a:solidFill>
              </a:rPr>
              <a:t>Fix in commit ec416e2</a:t>
            </a:r>
            <a:endParaRPr lang="en-US" sz="1400" dirty="0"/>
          </a:p>
          <a:p>
            <a:pPr indent="0" marL="0">
              <a:buNone/>
            </a:pPr>
            <a:r>
              <a:rPr lang="en-US" sz="1300" dirty="0">
                <a:solidFill>
                  <a:schemeClr val="tx1"/>
                </a:solidFill>
              </a:rPr>
              <a:t>Placeholders in the docs + allow-list; the rule stays on</a:t>
            </a:r>
            <a:endParaRPr lang="en-US" sz="1400" dirty="0"/>
          </a:p>
        </p:txBody>
      </p:sp>
      <p:sp>
        <p:nvSpPr>
          <p:cNvPr id="53" name="Shape 41"/>
          <p:cNvSpPr/>
          <p:nvPr/>
        </p:nvSpPr>
        <p:spPr>
          <a:xfrm>
            <a:off x="7865669" y="5554980"/>
            <a:ext cx="292608" cy="0"/>
          </a:xfrm>
          <a:prstGeom prst="line">
            <a:avLst/>
          </a:prstGeom>
          <a:noFill/>
          <a:ln w="25400">
            <a:solidFill>
              <a:schemeClr val="accent5"/>
            </a:solidFill>
            <a:prstDash val="solid"/>
            <a:tailEnd type="triangle"/>
          </a:ln>
        </p:spPr>
      </p:sp>
      <p:sp>
        <p:nvSpPr>
          <p:cNvPr id="54" name="Story 3"/>
          <p:cNvSpPr/>
          <p:nvPr/>
        </p:nvSpPr>
        <p:spPr>
          <a:xfrm>
            <a:off x="8213141" y="4983480"/>
            <a:ext cx="3429914" cy="1143000"/>
          </a:xfrm>
          <a:prstGeom prst="roundRect">
            <a:avLst>
              <a:gd name="adj" fmla="val 8000"/>
            </a:avLst>
          </a:prstGeom>
          <a:solidFill>
            <a:schemeClr val="accent3"/>
          </a:solidFill>
          <a:ln/>
        </p:spPr>
      </p:sp>
      <p:sp>
        <p:nvSpPr>
          <p:cNvPr id="55" name="Shape 43"/>
          <p:cNvSpPr/>
          <p:nvPr/>
        </p:nvSpPr>
        <p:spPr>
          <a:xfrm>
            <a:off x="8396021" y="5312664"/>
            <a:ext cx="475488" cy="475488"/>
          </a:xfrm>
          <a:prstGeom prst="ellipse">
            <a:avLst/>
          </a:prstGeom>
          <a:solidFill>
            <a:schemeClr val="accent1"/>
          </a:solidFill>
          <a:ln/>
        </p:spPr>
      </p:sp>
      <p:pic>
        <p:nvPicPr>
          <p:cNvPr id="56" name="Image 10" descr="icon">    </p:cNvPr>
          <p:cNvPicPr>
            <a:picLocks noChangeAspect="1"/>
          </p:cNvPicPr>
          <p:nvPr/>
        </p:nvPicPr>
        <p:blipFill>
          <a:blip r:embed="rId11"/>
          <a:stretch>
            <a:fillRect/>
          </a:stretch>
        </p:blipFill>
        <p:spPr>
          <a:xfrm>
            <a:off x="8500628" y="5417271"/>
            <a:ext cx="266273" cy="266273"/>
          </a:xfrm>
          <a:prstGeom prst="rect">
            <a:avLst/>
          </a:prstGeom>
        </p:spPr>
      </p:pic>
      <p:sp>
        <p:nvSpPr>
          <p:cNvPr id="57" name="Text 44"/>
          <p:cNvSpPr txBox="1"/>
          <p:nvPr/>
        </p:nvSpPr>
        <p:spPr>
          <a:xfrm>
            <a:off x="9017813" y="4983480"/>
            <a:ext cx="2515514" cy="1143000"/>
          </a:xfrm>
          <a:prstGeom prst="rect">
            <a:avLst/>
          </a:prstGeom>
          <a:noFill/>
          <a:ln/>
        </p:spPr>
        <p:txBody>
          <a:bodyPr wrap="square" lIns="0" tIns="0" rIns="0" bIns="0" rtlCol="0" anchor="ctr"/>
          <a:lstStyle/>
          <a:p>
            <a:pPr indent="0" marL="0">
              <a:buNone/>
            </a:pPr>
            <a:r>
              <a:rPr lang="en-US" sz="1500" b="1" dirty="0">
                <a:solidFill>
                  <a:schemeClr val="tx1"/>
                </a:solidFill>
              </a:rPr>
              <a:t>Run 2 green in 2 m 21 s</a:t>
            </a:r>
            <a:endParaRPr lang="en-US" sz="1400" dirty="0"/>
          </a:p>
          <a:p>
            <a:pPr indent="0" marL="0">
              <a:buNone/>
            </a:pPr>
            <a:r>
              <a:rPr lang="en-US" sz="1300" dirty="0">
                <a:solidFill>
                  <a:schemeClr val="tx1"/>
                </a:solidFill>
              </a:rPr>
              <a:t>All 5 jobs passed; images pushed with the SHA tag</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329184"/>
          </a:xfrm>
          <a:prstGeom prst="rect">
            <a:avLst/>
          </a:prstGeom>
          <a:noFill/>
          <a:ln/>
        </p:spPr>
        <p:txBody>
          <a:bodyPr wrap="square" lIns="0" tIns="0" rIns="0" bIns="0" rtlCol="0" anchor="b"/>
          <a:lstStyle/>
          <a:p>
            <a:pPr algn="l" indent="0" marL="0">
              <a:buNone/>
            </a:pPr>
            <a:r>
              <a:rPr lang="en-US" sz="1400" b="1" dirty="0">
                <a:solidFill>
                  <a:schemeClr val="accent2"/>
                </a:solidFill>
              </a:rPr>
              <a:t>DEVSECOPS</a:t>
            </a:r>
            <a:endParaRPr lang="en-US" sz="1400" dirty="0"/>
          </a:p>
        </p:txBody>
      </p:sp>
      <p:sp>
        <p:nvSpPr>
          <p:cNvPr id="3" name="Text 0"/>
          <p:cNvSpPr/>
          <p:nvPr>
            <p:ph idx="101" type="title" hasCustomPrompt="1"/>
          </p:nvPr>
        </p:nvSpPr>
        <p:spPr>
          <a:xfrm>
            <a:off x="548640" y="64008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Security checks at every stage</a:t>
            </a:r>
            <a:endParaRPr lang="en-US" sz="3600" dirty="0"/>
          </a:p>
        </p:txBody>
      </p:sp>
      <p:sp>
        <p:nvSpPr>
          <p:cNvPr id="4" name="Trivy result"/>
          <p:cNvSpPr/>
          <p:nvPr/>
        </p:nvSpPr>
        <p:spPr>
          <a:xfrm>
            <a:off x="548640" y="1554480"/>
            <a:ext cx="3566160" cy="4572000"/>
          </a:xfrm>
          <a:prstGeom prst="roundRect">
            <a:avLst>
              <a:gd name="adj" fmla="val 2564"/>
            </a:avLst>
          </a:prstGeom>
          <a:solidFill>
            <a:schemeClr val="accent1"/>
          </a:solidFill>
          <a:ln/>
          <a:effectLst>
            <a:outerShdw sx="100000" sy="100000" kx="0" ky="0" algn="bl" rotWithShape="0" blurRad="101600" dist="25400" dir="5400000">
              <a:srgbClr val="000000">
                <a:alpha val="10000"/>
              </a:srgbClr>
            </a:outerShdw>
          </a:effectLst>
        </p:spPr>
      </p:sp>
      <p:sp>
        <p:nvSpPr>
          <p:cNvPr id="5" name="Text 3"/>
          <p:cNvSpPr txBox="1"/>
          <p:nvPr/>
        </p:nvSpPr>
        <p:spPr>
          <a:xfrm>
            <a:off x="868680" y="1691640"/>
            <a:ext cx="2926080" cy="1417320"/>
          </a:xfrm>
          <a:prstGeom prst="rect">
            <a:avLst/>
          </a:prstGeom>
          <a:noFill/>
          <a:ln/>
        </p:spPr>
        <p:txBody>
          <a:bodyPr wrap="square" lIns="0" tIns="0" rIns="0" bIns="0" rtlCol="0" anchor="ctr"/>
          <a:lstStyle/>
          <a:p>
            <a:pPr indent="0" marL="0">
              <a:buNone/>
            </a:pPr>
            <a:r>
              <a:rPr lang="en-US" sz="11000" b="1" dirty="0">
                <a:solidFill>
                  <a:schemeClr val="bg1"/>
                </a:solidFill>
              </a:rPr>
              <a:t>0</a:t>
            </a:r>
            <a:endParaRPr lang="en-US" sz="11000" dirty="0"/>
          </a:p>
        </p:txBody>
      </p:sp>
      <p:sp>
        <p:nvSpPr>
          <p:cNvPr id="6" name="Text 4"/>
          <p:cNvSpPr txBox="1"/>
          <p:nvPr/>
        </p:nvSpPr>
        <p:spPr>
          <a:xfrm>
            <a:off x="868680" y="3154680"/>
            <a:ext cx="3017520" cy="411480"/>
          </a:xfrm>
          <a:prstGeom prst="rect">
            <a:avLst/>
          </a:prstGeom>
          <a:noFill/>
          <a:ln/>
        </p:spPr>
        <p:txBody>
          <a:bodyPr wrap="square" lIns="0" tIns="0" rIns="0" bIns="0" rtlCol="0" anchor="t"/>
          <a:lstStyle/>
          <a:p>
            <a:pPr indent="0" marL="0">
              <a:buNone/>
            </a:pPr>
            <a:r>
              <a:rPr lang="en-US" sz="1900" b="1" dirty="0">
                <a:solidFill>
                  <a:schemeClr val="bg1"/>
                </a:solidFill>
              </a:rPr>
              <a:t>HIGH / CRITICAL fixable CVEs</a:t>
            </a:r>
            <a:endParaRPr lang="en-US" sz="1900" dirty="0"/>
          </a:p>
        </p:txBody>
      </p:sp>
      <p:sp>
        <p:nvSpPr>
          <p:cNvPr id="7" name="Text 5"/>
          <p:cNvSpPr txBox="1"/>
          <p:nvPr/>
        </p:nvSpPr>
        <p:spPr>
          <a:xfrm>
            <a:off x="868680" y="3566160"/>
            <a:ext cx="3017520" cy="365760"/>
          </a:xfrm>
          <a:prstGeom prst="rect">
            <a:avLst/>
          </a:prstGeom>
          <a:noFill/>
          <a:ln/>
        </p:spPr>
        <p:txBody>
          <a:bodyPr wrap="square" lIns="0" tIns="0" rIns="0" bIns="0" rtlCol="0" anchor="t"/>
          <a:lstStyle/>
          <a:p>
            <a:pPr indent="0" marL="0">
              <a:buNone/>
            </a:pPr>
            <a:r>
              <a:rPr lang="en-US" sz="1600" dirty="0">
                <a:solidFill>
                  <a:schemeClr val="bg1"/>
                </a:solidFill>
              </a:rPr>
              <a:t>in both images at the Trivy gate</a:t>
            </a:r>
            <a:endParaRPr lang="en-US" sz="1600" dirty="0"/>
          </a:p>
        </p:txBody>
      </p:sp>
      <p:sp>
        <p:nvSpPr>
          <p:cNvPr id="8" name="Text 6"/>
          <p:cNvSpPr txBox="1"/>
          <p:nvPr/>
        </p:nvSpPr>
        <p:spPr>
          <a:xfrm>
            <a:off x="868680" y="4114800"/>
            <a:ext cx="2971800" cy="1828800"/>
          </a:xfrm>
          <a:prstGeom prst="rect">
            <a:avLst/>
          </a:prstGeom>
          <a:noFill/>
          <a:ln/>
        </p:spPr>
        <p:txBody>
          <a:bodyPr wrap="square" lIns="0" tIns="0" rIns="0" bIns="0" rtlCol="0" anchor="b"/>
          <a:lstStyle/>
          <a:p>
            <a:pPr indent="0" marL="0">
              <a:spcAft>
                <a:spcPts val="1000"/>
              </a:spcAft>
              <a:buNone/>
            </a:pPr>
            <a:r>
              <a:rPr lang="en-US" sz="1400" dirty="0">
                <a:solidFill>
                  <a:schemeClr val="bg1"/>
                </a:solidFill>
              </a:rPr>
              <a:t>Backend: Debian 13.7, 87 OS + 30 Python packages</a:t>
            </a:r>
            <a:endParaRPr lang="en-US" sz="1400" dirty="0"/>
          </a:p>
          <a:p>
            <a:pPr indent="0" marL="0">
              <a:spcAft>
                <a:spcPts val="1000"/>
              </a:spcAft>
              <a:buNone/>
            </a:pPr>
            <a:r>
              <a:rPr lang="en-US" sz="1400" dirty="0">
                <a:solidFill>
                  <a:schemeClr val="bg1"/>
                </a:solidFill>
              </a:rPr>
              <a:t>Frontend: Alpine 3.24.2, 70 OS packages</a:t>
            </a:r>
            <a:endParaRPr lang="en-US" sz="1400" dirty="0"/>
          </a:p>
          <a:p>
            <a:pPr indent="0" marL="0">
              <a:spcAft>
                <a:spcPts val="1000"/>
              </a:spcAft>
              <a:buNone/>
            </a:pPr>
            <a:r>
              <a:rPr lang="en-US" sz="1400" b="1" dirty="0">
                <a:solidFill>
                  <a:schemeClr val="bg1"/>
                </a:solidFill>
              </a:rPr>
              <a:t>A fixable HIGH/CRITICAL CVE turns the job red and nothing reaches GHCR.</a:t>
            </a:r>
            <a:endParaRPr lang="en-US" sz="1400" dirty="0"/>
          </a:p>
        </p:txBody>
      </p:sp>
      <p:sp>
        <p:nvSpPr>
          <p:cNvPr id="9" name="Pipeline gates"/>
          <p:cNvSpPr/>
          <p:nvPr/>
        </p:nvSpPr>
        <p:spPr>
          <a:xfrm>
            <a:off x="4389120" y="1554480"/>
            <a:ext cx="3520440" cy="4572000"/>
          </a:xfrm>
          <a:prstGeom prst="roundRect">
            <a:avLst>
              <a:gd name="adj" fmla="val 2597"/>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10" name="Shape 8"/>
          <p:cNvSpPr/>
          <p:nvPr/>
        </p:nvSpPr>
        <p:spPr>
          <a:xfrm>
            <a:off x="4617720" y="1755648"/>
            <a:ext cx="512064" cy="512064"/>
          </a:xfrm>
          <a:prstGeom prst="ellipse">
            <a:avLst/>
          </a:prstGeom>
          <a:solidFill>
            <a:schemeClr val="accent2"/>
          </a:solidFill>
          <a:ln/>
        </p:spPr>
      </p:sp>
      <p:pic>
        <p:nvPicPr>
          <p:cNvPr id="11" name="Image 0" descr="Gates in the pipeline">    </p:cNvPr>
          <p:cNvPicPr>
            <a:picLocks noChangeAspect="1"/>
          </p:cNvPicPr>
          <p:nvPr/>
        </p:nvPicPr>
        <p:blipFill>
          <a:blip r:embed="rId1"/>
          <a:stretch>
            <a:fillRect/>
          </a:stretch>
        </p:blipFill>
        <p:spPr>
          <a:xfrm>
            <a:off x="4730374" y="1868302"/>
            <a:ext cx="286756" cy="286756"/>
          </a:xfrm>
          <a:prstGeom prst="rect">
            <a:avLst/>
          </a:prstGeom>
        </p:spPr>
      </p:pic>
      <p:sp>
        <p:nvSpPr>
          <p:cNvPr id="12" name="Text 9"/>
          <p:cNvSpPr txBox="1"/>
          <p:nvPr/>
        </p:nvSpPr>
        <p:spPr>
          <a:xfrm>
            <a:off x="5257800" y="1755648"/>
            <a:ext cx="2514600" cy="512064"/>
          </a:xfrm>
          <a:prstGeom prst="rect">
            <a:avLst/>
          </a:prstGeom>
          <a:noFill/>
          <a:ln/>
        </p:spPr>
        <p:txBody>
          <a:bodyPr wrap="square" lIns="0" tIns="0" rIns="0" bIns="0" rtlCol="0" anchor="ctr"/>
          <a:lstStyle/>
          <a:p>
            <a:pPr indent="0" marL="0">
              <a:buNone/>
            </a:pPr>
            <a:r>
              <a:rPr lang="en-US" sz="1900" b="1" dirty="0">
                <a:solidFill>
                  <a:schemeClr val="tx1"/>
                </a:solidFill>
              </a:rPr>
              <a:t>Gates in the pipeline</a:t>
            </a:r>
            <a:endParaRPr lang="en-US" sz="1900" dirty="0"/>
          </a:p>
        </p:txBody>
      </p:sp>
      <p:sp>
        <p:nvSpPr>
          <p:cNvPr id="13" name="Text 10"/>
          <p:cNvSpPr txBox="1"/>
          <p:nvPr/>
        </p:nvSpPr>
        <p:spPr>
          <a:xfrm>
            <a:off x="4663440" y="2468880"/>
            <a:ext cx="3063240" cy="658368"/>
          </a:xfrm>
          <a:prstGeom prst="rect">
            <a:avLst/>
          </a:prstGeom>
          <a:noFill/>
          <a:ln/>
        </p:spPr>
        <p:txBody>
          <a:bodyPr wrap="square" lIns="0" tIns="0" rIns="0" bIns="0" rtlCol="0" anchor="t"/>
          <a:lstStyle/>
          <a:p>
            <a:pPr indent="0" marL="0">
              <a:buNone/>
            </a:pPr>
            <a:r>
              <a:rPr lang="en-US" sz="1600" b="1" dirty="0">
                <a:solidFill>
                  <a:schemeClr val="tx1"/>
                </a:solidFill>
              </a:rPr>
              <a:t>Gitleaks</a:t>
            </a:r>
            <a:endParaRPr lang="en-US" sz="1400" dirty="0"/>
          </a:p>
          <a:p>
            <a:pPr indent="0" marL="0">
              <a:buNone/>
            </a:pPr>
            <a:r>
              <a:rPr lang="en-US" sz="1400" dirty="0">
                <a:solidFill>
                  <a:schemeClr val="accent5"/>
                </a:solidFill>
              </a:rPr>
              <a:t>secrets, scanned over full git history</a:t>
            </a:r>
            <a:endParaRPr lang="en-US" sz="1400" dirty="0"/>
          </a:p>
        </p:txBody>
      </p:sp>
      <p:sp>
        <p:nvSpPr>
          <p:cNvPr id="14" name="Text 11"/>
          <p:cNvSpPr txBox="1"/>
          <p:nvPr/>
        </p:nvSpPr>
        <p:spPr>
          <a:xfrm>
            <a:off x="4663440" y="3182112"/>
            <a:ext cx="3063240" cy="658368"/>
          </a:xfrm>
          <a:prstGeom prst="rect">
            <a:avLst/>
          </a:prstGeom>
          <a:noFill/>
          <a:ln/>
        </p:spPr>
        <p:txBody>
          <a:bodyPr wrap="square" lIns="0" tIns="0" rIns="0" bIns="0" rtlCol="0" anchor="t"/>
          <a:lstStyle/>
          <a:p>
            <a:pPr indent="0" marL="0">
              <a:buNone/>
            </a:pPr>
            <a:r>
              <a:rPr lang="en-US" sz="1600" b="1" dirty="0">
                <a:solidFill>
                  <a:schemeClr val="tx1"/>
                </a:solidFill>
              </a:rPr>
              <a:t>Bandit</a:t>
            </a:r>
            <a:endParaRPr lang="en-US" sz="1400" dirty="0"/>
          </a:p>
          <a:p>
            <a:pPr indent="0" marL="0">
              <a:buNone/>
            </a:pPr>
            <a:r>
              <a:rPr lang="en-US" sz="1400" dirty="0">
                <a:solidFill>
                  <a:schemeClr val="accent5"/>
                </a:solidFill>
              </a:rPr>
              <a:t>Python static analysis (SAST)</a:t>
            </a:r>
            <a:endParaRPr lang="en-US" sz="1400" dirty="0"/>
          </a:p>
        </p:txBody>
      </p:sp>
      <p:sp>
        <p:nvSpPr>
          <p:cNvPr id="15" name="Text 12"/>
          <p:cNvSpPr txBox="1"/>
          <p:nvPr/>
        </p:nvSpPr>
        <p:spPr>
          <a:xfrm>
            <a:off x="4663440" y="3895344"/>
            <a:ext cx="3063240" cy="658368"/>
          </a:xfrm>
          <a:prstGeom prst="rect">
            <a:avLst/>
          </a:prstGeom>
          <a:noFill/>
          <a:ln/>
        </p:spPr>
        <p:txBody>
          <a:bodyPr wrap="square" lIns="0" tIns="0" rIns="0" bIns="0" rtlCol="0" anchor="t"/>
          <a:lstStyle/>
          <a:p>
            <a:pPr indent="0" marL="0">
              <a:buNone/>
            </a:pPr>
            <a:r>
              <a:rPr lang="en-US" sz="1600" b="1" dirty="0">
                <a:solidFill>
                  <a:schemeClr val="tx1"/>
                </a:solidFill>
              </a:rPr>
              <a:t>pip-audit --strict</a:t>
            </a:r>
            <a:endParaRPr lang="en-US" sz="1400" dirty="0"/>
          </a:p>
          <a:p>
            <a:pPr indent="0" marL="0">
              <a:buNone/>
            </a:pPr>
            <a:r>
              <a:rPr lang="en-US" sz="1400" dirty="0">
                <a:solidFill>
                  <a:schemeClr val="accent5"/>
                </a:solidFill>
              </a:rPr>
              <a:t>known CVEs in Python dependencies</a:t>
            </a:r>
            <a:endParaRPr lang="en-US" sz="1400" dirty="0"/>
          </a:p>
        </p:txBody>
      </p:sp>
      <p:sp>
        <p:nvSpPr>
          <p:cNvPr id="16" name="Text 13"/>
          <p:cNvSpPr txBox="1"/>
          <p:nvPr/>
        </p:nvSpPr>
        <p:spPr>
          <a:xfrm>
            <a:off x="4663440" y="4608576"/>
            <a:ext cx="3063240" cy="658368"/>
          </a:xfrm>
          <a:prstGeom prst="rect">
            <a:avLst/>
          </a:prstGeom>
          <a:noFill/>
          <a:ln/>
        </p:spPr>
        <p:txBody>
          <a:bodyPr wrap="square" lIns="0" tIns="0" rIns="0" bIns="0" rtlCol="0" anchor="t"/>
          <a:lstStyle/>
          <a:p>
            <a:pPr indent="0" marL="0">
              <a:buNone/>
            </a:pPr>
            <a:r>
              <a:rPr lang="en-US" sz="1600" b="1" dirty="0">
                <a:solidFill>
                  <a:schemeClr val="tx1"/>
                </a:solidFill>
              </a:rPr>
              <a:t>npm audit</a:t>
            </a:r>
            <a:endParaRPr lang="en-US" sz="1400" dirty="0"/>
          </a:p>
          <a:p>
            <a:pPr indent="0" marL="0">
              <a:buNone/>
            </a:pPr>
            <a:r>
              <a:rPr lang="en-US" sz="1400" dirty="0">
                <a:solidFill>
                  <a:schemeClr val="accent5"/>
                </a:solidFill>
              </a:rPr>
              <a:t>JS dependencies, fails on HIGH+</a:t>
            </a:r>
            <a:endParaRPr lang="en-US" sz="1400" dirty="0"/>
          </a:p>
        </p:txBody>
      </p:sp>
      <p:sp>
        <p:nvSpPr>
          <p:cNvPr id="17" name="Text 14"/>
          <p:cNvSpPr txBox="1"/>
          <p:nvPr/>
        </p:nvSpPr>
        <p:spPr>
          <a:xfrm>
            <a:off x="4663440" y="5321808"/>
            <a:ext cx="3063240" cy="658368"/>
          </a:xfrm>
          <a:prstGeom prst="rect">
            <a:avLst/>
          </a:prstGeom>
          <a:noFill/>
          <a:ln/>
        </p:spPr>
        <p:txBody>
          <a:bodyPr wrap="square" lIns="0" tIns="0" rIns="0" bIns="0" rtlCol="0" anchor="t"/>
          <a:lstStyle/>
          <a:p>
            <a:pPr indent="0" marL="0">
              <a:buNone/>
            </a:pPr>
            <a:r>
              <a:rPr lang="en-US" sz="1600" b="1" dirty="0">
                <a:solidFill>
                  <a:schemeClr val="tx1"/>
                </a:solidFill>
              </a:rPr>
              <a:t>Trivy</a:t>
            </a:r>
            <a:endParaRPr lang="en-US" sz="1400" dirty="0"/>
          </a:p>
          <a:p>
            <a:pPr indent="0" marL="0">
              <a:buNone/>
            </a:pPr>
            <a:r>
              <a:rPr lang="en-US" sz="1400" dirty="0">
                <a:solidFill>
                  <a:schemeClr val="accent5"/>
                </a:solidFill>
              </a:rPr>
              <a:t>both images, blocks the push</a:t>
            </a:r>
            <a:endParaRPr lang="en-US" sz="1400" dirty="0"/>
          </a:p>
        </p:txBody>
      </p:sp>
      <p:sp>
        <p:nvSpPr>
          <p:cNvPr id="18" name="Runtime hardening"/>
          <p:cNvSpPr/>
          <p:nvPr/>
        </p:nvSpPr>
        <p:spPr>
          <a:xfrm>
            <a:off x="8183880" y="1554480"/>
            <a:ext cx="3459175" cy="4572000"/>
          </a:xfrm>
          <a:prstGeom prst="roundRect">
            <a:avLst>
              <a:gd name="adj" fmla="val 2643"/>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19" name="Shape 16"/>
          <p:cNvSpPr/>
          <p:nvPr/>
        </p:nvSpPr>
        <p:spPr>
          <a:xfrm>
            <a:off x="8412480" y="1755648"/>
            <a:ext cx="512064" cy="512064"/>
          </a:xfrm>
          <a:prstGeom prst="ellipse">
            <a:avLst/>
          </a:prstGeom>
          <a:solidFill>
            <a:schemeClr val="accent1"/>
          </a:solidFill>
          <a:ln/>
        </p:spPr>
      </p:sp>
      <p:pic>
        <p:nvPicPr>
          <p:cNvPr id="20" name="Image 1" descr="Runtime hardening">    </p:cNvPr>
          <p:cNvPicPr>
            <a:picLocks noChangeAspect="1"/>
          </p:cNvPicPr>
          <p:nvPr/>
        </p:nvPicPr>
        <p:blipFill>
          <a:blip r:embed="rId2"/>
          <a:stretch>
            <a:fillRect/>
          </a:stretch>
        </p:blipFill>
        <p:spPr>
          <a:xfrm>
            <a:off x="8525134" y="1868302"/>
            <a:ext cx="286756" cy="286756"/>
          </a:xfrm>
          <a:prstGeom prst="rect">
            <a:avLst/>
          </a:prstGeom>
        </p:spPr>
      </p:pic>
      <p:sp>
        <p:nvSpPr>
          <p:cNvPr id="21" name="Text 17"/>
          <p:cNvSpPr txBox="1"/>
          <p:nvPr/>
        </p:nvSpPr>
        <p:spPr>
          <a:xfrm>
            <a:off x="9052560" y="1755648"/>
            <a:ext cx="2453335" cy="512064"/>
          </a:xfrm>
          <a:prstGeom prst="rect">
            <a:avLst/>
          </a:prstGeom>
          <a:noFill/>
          <a:ln/>
        </p:spPr>
        <p:txBody>
          <a:bodyPr wrap="square" lIns="0" tIns="0" rIns="0" bIns="0" rtlCol="0" anchor="ctr"/>
          <a:lstStyle/>
          <a:p>
            <a:pPr indent="0" marL="0">
              <a:buNone/>
            </a:pPr>
            <a:r>
              <a:rPr lang="en-US" sz="1900" b="1" dirty="0">
                <a:solidFill>
                  <a:schemeClr val="tx1"/>
                </a:solidFill>
              </a:rPr>
              <a:t>Runtime hardening</a:t>
            </a:r>
            <a:endParaRPr lang="en-US" sz="1900" dirty="0"/>
          </a:p>
        </p:txBody>
      </p:sp>
      <p:sp>
        <p:nvSpPr>
          <p:cNvPr id="22" name="Text 18"/>
          <p:cNvSpPr txBox="1"/>
          <p:nvPr/>
        </p:nvSpPr>
        <p:spPr>
          <a:xfrm>
            <a:off x="8458200" y="2468880"/>
            <a:ext cx="3001975" cy="658368"/>
          </a:xfrm>
          <a:prstGeom prst="rect">
            <a:avLst/>
          </a:prstGeom>
          <a:noFill/>
          <a:ln/>
        </p:spPr>
        <p:txBody>
          <a:bodyPr wrap="square" lIns="0" tIns="0" rIns="0" bIns="0" rtlCol="0" anchor="t"/>
          <a:lstStyle/>
          <a:p>
            <a:pPr indent="0" marL="0">
              <a:buNone/>
            </a:pPr>
            <a:r>
              <a:rPr lang="en-US" sz="1600" b="1" dirty="0">
                <a:solidFill>
                  <a:schemeClr val="tx1"/>
                </a:solidFill>
              </a:rPr>
              <a:t>Non-root users</a:t>
            </a:r>
            <a:endParaRPr lang="en-US" sz="1400" dirty="0"/>
          </a:p>
          <a:p>
            <a:pPr indent="0" marL="0">
              <a:buNone/>
            </a:pPr>
            <a:r>
              <a:rPr lang="en-US" sz="1400" dirty="0">
                <a:solidFill>
                  <a:schemeClr val="accent5"/>
                </a:solidFill>
              </a:rPr>
              <a:t>uid 10001 (API) and 101 (nginx)</a:t>
            </a:r>
            <a:endParaRPr lang="en-US" sz="1400" dirty="0"/>
          </a:p>
        </p:txBody>
      </p:sp>
      <p:sp>
        <p:nvSpPr>
          <p:cNvPr id="23" name="Text 19"/>
          <p:cNvSpPr txBox="1"/>
          <p:nvPr/>
        </p:nvSpPr>
        <p:spPr>
          <a:xfrm>
            <a:off x="8458200" y="3182112"/>
            <a:ext cx="3001975" cy="658368"/>
          </a:xfrm>
          <a:prstGeom prst="rect">
            <a:avLst/>
          </a:prstGeom>
          <a:noFill/>
          <a:ln/>
        </p:spPr>
        <p:txBody>
          <a:bodyPr wrap="square" lIns="0" tIns="0" rIns="0" bIns="0" rtlCol="0" anchor="t"/>
          <a:lstStyle/>
          <a:p>
            <a:pPr indent="0" marL="0">
              <a:buNone/>
            </a:pPr>
            <a:r>
              <a:rPr lang="en-US" sz="1600" b="1" dirty="0">
                <a:solidFill>
                  <a:schemeClr val="tx1"/>
                </a:solidFill>
              </a:rPr>
              <a:t>pip removed</a:t>
            </a:r>
            <a:endParaRPr lang="en-US" sz="1400" dirty="0"/>
          </a:p>
          <a:p>
            <a:pPr indent="0" marL="0">
              <a:buNone/>
            </a:pPr>
            <a:r>
              <a:rPr lang="en-US" sz="1400" dirty="0">
                <a:solidFill>
                  <a:schemeClr val="accent5"/>
                </a:solidFill>
              </a:rPr>
              <a:t>not present in the runtime image</a:t>
            </a:r>
            <a:endParaRPr lang="en-US" sz="1400" dirty="0"/>
          </a:p>
        </p:txBody>
      </p:sp>
      <p:sp>
        <p:nvSpPr>
          <p:cNvPr id="24" name="Text 20"/>
          <p:cNvSpPr txBox="1"/>
          <p:nvPr/>
        </p:nvSpPr>
        <p:spPr>
          <a:xfrm>
            <a:off x="8458200" y="3895344"/>
            <a:ext cx="3001975" cy="658368"/>
          </a:xfrm>
          <a:prstGeom prst="rect">
            <a:avLst/>
          </a:prstGeom>
          <a:noFill/>
          <a:ln/>
        </p:spPr>
        <p:txBody>
          <a:bodyPr wrap="square" lIns="0" tIns="0" rIns="0" bIns="0" rtlCol="0" anchor="t"/>
          <a:lstStyle/>
          <a:p>
            <a:pPr indent="0" marL="0">
              <a:buNone/>
            </a:pPr>
            <a:r>
              <a:rPr lang="en-US" sz="1600" b="1" dirty="0">
                <a:solidFill>
                  <a:schemeClr val="tx1"/>
                </a:solidFill>
              </a:rPr>
              <a:t>Read-only root filesystem</a:t>
            </a:r>
            <a:endParaRPr lang="en-US" sz="1400" dirty="0"/>
          </a:p>
          <a:p>
            <a:pPr indent="0" marL="0">
              <a:buNone/>
            </a:pPr>
            <a:r>
              <a:rPr lang="en-US" sz="1400" dirty="0">
                <a:solidFill>
                  <a:schemeClr val="accent5"/>
                </a:solidFill>
              </a:rPr>
              <a:t>emptyDirs only where writes are needed</a:t>
            </a:r>
            <a:endParaRPr lang="en-US" sz="1400" dirty="0"/>
          </a:p>
        </p:txBody>
      </p:sp>
      <p:sp>
        <p:nvSpPr>
          <p:cNvPr id="25" name="Text 21"/>
          <p:cNvSpPr txBox="1"/>
          <p:nvPr/>
        </p:nvSpPr>
        <p:spPr>
          <a:xfrm>
            <a:off x="8458200" y="4608576"/>
            <a:ext cx="3001975" cy="658368"/>
          </a:xfrm>
          <a:prstGeom prst="rect">
            <a:avLst/>
          </a:prstGeom>
          <a:noFill/>
          <a:ln/>
        </p:spPr>
        <p:txBody>
          <a:bodyPr wrap="square" lIns="0" tIns="0" rIns="0" bIns="0" rtlCol="0" anchor="t"/>
          <a:lstStyle/>
          <a:p>
            <a:pPr indent="0" marL="0">
              <a:buNone/>
            </a:pPr>
            <a:r>
              <a:rPr lang="en-US" sz="1600" b="1" dirty="0">
                <a:solidFill>
                  <a:schemeClr val="tx1"/>
                </a:solidFill>
              </a:rPr>
              <a:t>Drop ALL capabilities</a:t>
            </a:r>
            <a:endParaRPr lang="en-US" sz="1400" dirty="0"/>
          </a:p>
          <a:p>
            <a:pPr indent="0" marL="0">
              <a:buNone/>
            </a:pPr>
            <a:r>
              <a:rPr lang="en-US" sz="1400" dirty="0">
                <a:solidFill>
                  <a:schemeClr val="accent5"/>
                </a:solidFill>
              </a:rPr>
              <a:t>no privilege escalation, seccomp default</a:t>
            </a:r>
            <a:endParaRPr lang="en-US" sz="1400" dirty="0"/>
          </a:p>
        </p:txBody>
      </p:sp>
      <p:sp>
        <p:nvSpPr>
          <p:cNvPr id="26" name="Text 22"/>
          <p:cNvSpPr txBox="1"/>
          <p:nvPr/>
        </p:nvSpPr>
        <p:spPr>
          <a:xfrm>
            <a:off x="8458200" y="5321808"/>
            <a:ext cx="3001975" cy="658368"/>
          </a:xfrm>
          <a:prstGeom prst="rect">
            <a:avLst/>
          </a:prstGeom>
          <a:noFill/>
          <a:ln/>
        </p:spPr>
        <p:txBody>
          <a:bodyPr wrap="square" lIns="0" tIns="0" rIns="0" bIns="0" rtlCol="0" anchor="t"/>
          <a:lstStyle/>
          <a:p>
            <a:pPr indent="0" marL="0">
              <a:buNone/>
            </a:pPr>
            <a:r>
              <a:rPr lang="en-US" sz="1600" b="1" dirty="0">
                <a:solidFill>
                  <a:schemeClr val="tx1"/>
                </a:solidFill>
              </a:rPr>
              <a:t>Pod Security: restricted</a:t>
            </a:r>
            <a:endParaRPr lang="en-US" sz="1400" dirty="0"/>
          </a:p>
          <a:p>
            <a:pPr indent="0" marL="0">
              <a:buNone/>
            </a:pPr>
            <a:r>
              <a:rPr lang="en-US" sz="1400" dirty="0">
                <a:solidFill>
                  <a:schemeClr val="accent5"/>
                </a:solidFill>
              </a:rPr>
              <a:t>enforced on the namespace</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329184"/>
          </a:xfrm>
          <a:prstGeom prst="rect">
            <a:avLst/>
          </a:prstGeom>
          <a:noFill/>
          <a:ln/>
        </p:spPr>
        <p:txBody>
          <a:bodyPr wrap="square" lIns="0" tIns="0" rIns="0" bIns="0" rtlCol="0" anchor="b"/>
          <a:lstStyle/>
          <a:p>
            <a:pPr algn="l" indent="0" marL="0">
              <a:buNone/>
            </a:pPr>
            <a:r>
              <a:rPr lang="en-US" sz="1400" b="1" dirty="0">
                <a:solidFill>
                  <a:schemeClr val="accent2"/>
                </a:solidFill>
              </a:rPr>
              <a:t>INFRASTRUCTURE AS CODE</a:t>
            </a:r>
            <a:endParaRPr lang="en-US" sz="1400" dirty="0"/>
          </a:p>
        </p:txBody>
      </p:sp>
      <p:sp>
        <p:nvSpPr>
          <p:cNvPr id="3" name="Text 0"/>
          <p:cNvSpPr/>
          <p:nvPr>
            <p:ph idx="101" type="title" hasCustomPrompt="1"/>
          </p:nvPr>
        </p:nvSpPr>
        <p:spPr>
          <a:xfrm>
            <a:off x="548640" y="64008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Terraform: AWS VPC + EKS in ap-south-1</a:t>
            </a:r>
            <a:endParaRPr lang="en-US" sz="3600" dirty="0"/>
          </a:p>
        </p:txBody>
      </p:sp>
      <p:sp>
        <p:nvSpPr>
          <p:cNvPr id="4" name="AWS region"/>
          <p:cNvSpPr/>
          <p:nvPr/>
        </p:nvSpPr>
        <p:spPr>
          <a:xfrm>
            <a:off x="548640" y="1554480"/>
            <a:ext cx="6858000" cy="3611880"/>
          </a:xfrm>
          <a:prstGeom prst="roundRect">
            <a:avLst>
              <a:gd name="adj" fmla="val 2532"/>
            </a:avLst>
          </a:prstGeom>
          <a:solidFill>
            <a:schemeClr val="bg2"/>
          </a:solidFill>
          <a:ln w="12700">
            <a:solidFill>
              <a:schemeClr val="accent6"/>
            </a:solidFill>
            <a:prstDash val="solid"/>
          </a:ln>
        </p:spPr>
      </p:sp>
      <p:pic>
        <p:nvPicPr>
          <p:cNvPr id="5" name="Image 0" descr="AWS">    </p:cNvPr>
          <p:cNvPicPr>
            <a:picLocks noChangeAspect="1"/>
          </p:cNvPicPr>
          <p:nvPr/>
        </p:nvPicPr>
        <p:blipFill>
          <a:blip r:embed="rId1"/>
          <a:stretch>
            <a:fillRect/>
          </a:stretch>
        </p:blipFill>
        <p:spPr>
          <a:xfrm>
            <a:off x="713232" y="1609344"/>
            <a:ext cx="384048" cy="384048"/>
          </a:xfrm>
          <a:prstGeom prst="rect">
            <a:avLst/>
          </a:prstGeom>
        </p:spPr>
      </p:pic>
      <p:sp>
        <p:nvSpPr>
          <p:cNvPr id="6" name="Text 3"/>
          <p:cNvSpPr txBox="1"/>
          <p:nvPr/>
        </p:nvSpPr>
        <p:spPr>
          <a:xfrm>
            <a:off x="1207008" y="1609344"/>
            <a:ext cx="3657600" cy="384048"/>
          </a:xfrm>
          <a:prstGeom prst="rect">
            <a:avLst/>
          </a:prstGeom>
          <a:noFill/>
          <a:ln/>
        </p:spPr>
        <p:txBody>
          <a:bodyPr wrap="square" lIns="0" tIns="0" rIns="0" bIns="0" rtlCol="0" anchor="ctr"/>
          <a:lstStyle/>
          <a:p>
            <a:pPr indent="0" marL="0">
              <a:buNone/>
            </a:pPr>
            <a:r>
              <a:rPr lang="en-US" sz="1300" b="1" dirty="0">
                <a:solidFill>
                  <a:schemeClr val="tx2"/>
                </a:solidFill>
              </a:rPr>
              <a:t>region ap-south-1 (Mumbai)</a:t>
            </a:r>
            <a:endParaRPr lang="en-US" sz="1300" dirty="0"/>
          </a:p>
        </p:txBody>
      </p:sp>
      <p:sp>
        <p:nvSpPr>
          <p:cNvPr id="7" name="VPC"/>
          <p:cNvSpPr/>
          <p:nvPr/>
        </p:nvSpPr>
        <p:spPr>
          <a:xfrm>
            <a:off x="731520" y="2057400"/>
            <a:ext cx="4754880" cy="2926080"/>
          </a:xfrm>
          <a:prstGeom prst="roundRect">
            <a:avLst>
              <a:gd name="adj" fmla="val 2500"/>
            </a:avLst>
          </a:prstGeom>
          <a:solidFill>
            <a:schemeClr val="bg1"/>
          </a:solidFill>
          <a:ln w="12700">
            <a:solidFill>
              <a:schemeClr val="accent1"/>
            </a:solidFill>
            <a:prstDash val="dash"/>
          </a:ln>
        </p:spPr>
      </p:sp>
      <p:sp>
        <p:nvSpPr>
          <p:cNvPr id="8" name="Text 5"/>
          <p:cNvSpPr txBox="1"/>
          <p:nvPr/>
        </p:nvSpPr>
        <p:spPr>
          <a:xfrm>
            <a:off x="896112" y="2103120"/>
            <a:ext cx="4389120" cy="292608"/>
          </a:xfrm>
          <a:prstGeom prst="rect">
            <a:avLst/>
          </a:prstGeom>
          <a:noFill/>
          <a:ln/>
        </p:spPr>
        <p:txBody>
          <a:bodyPr wrap="square" lIns="0" tIns="0" rIns="0" bIns="0" rtlCol="0" anchor="ctr"/>
          <a:lstStyle/>
          <a:p>
            <a:pPr indent="0" marL="0">
              <a:buNone/>
            </a:pPr>
            <a:r>
              <a:rPr lang="en-US" sz="1200" b="1" dirty="0">
                <a:solidFill>
                  <a:schemeClr val="accent1"/>
                </a:solidFill>
              </a:rPr>
              <a:t>VPC 10.30.0.0/16  ·  2 availability zones</a:t>
            </a:r>
            <a:endParaRPr lang="en-US" sz="1200" dirty="0"/>
          </a:p>
        </p:txBody>
      </p:sp>
      <p:sp>
        <p:nvSpPr>
          <p:cNvPr id="9" name="Public subnet · 1a"/>
          <p:cNvSpPr/>
          <p:nvPr/>
        </p:nvSpPr>
        <p:spPr>
          <a:xfrm>
            <a:off x="914400" y="2468880"/>
            <a:ext cx="2148840" cy="1051560"/>
          </a:xfrm>
          <a:prstGeom prst="roundRect">
            <a:avLst>
              <a:gd name="adj" fmla="val 5217"/>
            </a:avLst>
          </a:prstGeom>
          <a:solidFill>
            <a:schemeClr val="accent4"/>
          </a:solidFill>
          <a:ln/>
        </p:spPr>
      </p:sp>
      <p:sp>
        <p:nvSpPr>
          <p:cNvPr id="10" name="Text 7"/>
          <p:cNvSpPr txBox="1"/>
          <p:nvPr/>
        </p:nvSpPr>
        <p:spPr>
          <a:xfrm>
            <a:off x="1051560" y="2542032"/>
            <a:ext cx="1874520" cy="502920"/>
          </a:xfrm>
          <a:prstGeom prst="rect">
            <a:avLst/>
          </a:prstGeom>
          <a:noFill/>
          <a:ln/>
        </p:spPr>
        <p:txBody>
          <a:bodyPr wrap="square" lIns="0" tIns="0" rIns="0" bIns="0" rtlCol="0" anchor="t"/>
          <a:lstStyle/>
          <a:p>
            <a:pPr indent="0" marL="0">
              <a:buNone/>
            </a:pPr>
            <a:r>
              <a:rPr lang="en-US" sz="1300" b="1" dirty="0">
                <a:solidFill>
                  <a:schemeClr val="tx1"/>
                </a:solidFill>
              </a:rPr>
              <a:t>Public subnet · 1a</a:t>
            </a:r>
            <a:endParaRPr lang="en-US" sz="1400" dirty="0"/>
          </a:p>
          <a:p>
            <a:pPr indent="0" marL="0">
              <a:buNone/>
            </a:pPr>
            <a:r>
              <a:rPr lang="en-US" sz="1200" dirty="0">
                <a:solidFill>
                  <a:schemeClr val="accent5"/>
                </a:solidFill>
              </a:rPr>
              <a:t>10.30.101.0/24</a:t>
            </a:r>
            <a:endParaRPr lang="en-US" sz="1400" dirty="0"/>
          </a:p>
        </p:txBody>
      </p:sp>
      <p:sp>
        <p:nvSpPr>
          <p:cNvPr id="11" name="Shape 8"/>
          <p:cNvSpPr/>
          <p:nvPr/>
        </p:nvSpPr>
        <p:spPr>
          <a:xfrm>
            <a:off x="1051560" y="3063240"/>
            <a:ext cx="1874520" cy="347472"/>
          </a:xfrm>
          <a:prstGeom prst="roundRect">
            <a:avLst>
              <a:gd name="adj" fmla="val 15789"/>
            </a:avLst>
          </a:prstGeom>
          <a:solidFill>
            <a:schemeClr val="accent2"/>
          </a:solidFill>
          <a:ln/>
        </p:spPr>
      </p:sp>
      <p:sp>
        <p:nvSpPr>
          <p:cNvPr id="12" name="Text 9"/>
          <p:cNvSpPr txBox="1"/>
          <p:nvPr/>
        </p:nvSpPr>
        <p:spPr>
          <a:xfrm>
            <a:off x="1051560" y="3063240"/>
            <a:ext cx="1874520" cy="347472"/>
          </a:xfrm>
          <a:prstGeom prst="rect">
            <a:avLst/>
          </a:prstGeom>
          <a:noFill/>
          <a:ln/>
        </p:spPr>
        <p:txBody>
          <a:bodyPr wrap="square" lIns="0" tIns="0" rIns="0" bIns="0" rtlCol="0" anchor="ctr"/>
          <a:lstStyle/>
          <a:p>
            <a:pPr algn="ctr" indent="0" marL="0">
              <a:buNone/>
            </a:pPr>
            <a:r>
              <a:rPr lang="en-US" sz="1200" b="1" dirty="0">
                <a:solidFill>
                  <a:schemeClr val="bg1"/>
                </a:solidFill>
              </a:rPr>
              <a:t>NAT gateway</a:t>
            </a:r>
            <a:endParaRPr lang="en-US" sz="1200" dirty="0"/>
          </a:p>
        </p:txBody>
      </p:sp>
      <p:sp>
        <p:nvSpPr>
          <p:cNvPr id="13" name="Public subnet · 1b"/>
          <p:cNvSpPr/>
          <p:nvPr/>
        </p:nvSpPr>
        <p:spPr>
          <a:xfrm>
            <a:off x="3154680" y="2468880"/>
            <a:ext cx="2148840" cy="1051560"/>
          </a:xfrm>
          <a:prstGeom prst="roundRect">
            <a:avLst>
              <a:gd name="adj" fmla="val 5217"/>
            </a:avLst>
          </a:prstGeom>
          <a:solidFill>
            <a:schemeClr val="accent4"/>
          </a:solidFill>
          <a:ln/>
        </p:spPr>
      </p:sp>
      <p:sp>
        <p:nvSpPr>
          <p:cNvPr id="14" name="Text 11"/>
          <p:cNvSpPr txBox="1"/>
          <p:nvPr/>
        </p:nvSpPr>
        <p:spPr>
          <a:xfrm>
            <a:off x="3291840" y="2542032"/>
            <a:ext cx="1874520" cy="502920"/>
          </a:xfrm>
          <a:prstGeom prst="rect">
            <a:avLst/>
          </a:prstGeom>
          <a:noFill/>
          <a:ln/>
        </p:spPr>
        <p:txBody>
          <a:bodyPr wrap="square" lIns="0" tIns="0" rIns="0" bIns="0" rtlCol="0" anchor="t"/>
          <a:lstStyle/>
          <a:p>
            <a:pPr indent="0" marL="0">
              <a:buNone/>
            </a:pPr>
            <a:r>
              <a:rPr lang="en-US" sz="1300" b="1" dirty="0">
                <a:solidFill>
                  <a:schemeClr val="tx1"/>
                </a:solidFill>
              </a:rPr>
              <a:t>Public subnet · 1b</a:t>
            </a:r>
            <a:endParaRPr lang="en-US" sz="1400" dirty="0"/>
          </a:p>
          <a:p>
            <a:pPr indent="0" marL="0">
              <a:buNone/>
            </a:pPr>
            <a:r>
              <a:rPr lang="en-US" sz="1200" dirty="0">
                <a:solidFill>
                  <a:schemeClr val="accent5"/>
                </a:solidFill>
              </a:rPr>
              <a:t>10.30.102.0/24</a:t>
            </a:r>
            <a:endParaRPr lang="en-US" sz="1400" dirty="0"/>
          </a:p>
        </p:txBody>
      </p:sp>
      <p:sp>
        <p:nvSpPr>
          <p:cNvPr id="15" name="Shape 12"/>
          <p:cNvSpPr/>
          <p:nvPr/>
        </p:nvSpPr>
        <p:spPr>
          <a:xfrm>
            <a:off x="3291840" y="3063240"/>
            <a:ext cx="1874520" cy="347472"/>
          </a:xfrm>
          <a:prstGeom prst="roundRect">
            <a:avLst>
              <a:gd name="adj" fmla="val 15789"/>
            </a:avLst>
          </a:prstGeom>
          <a:solidFill>
            <a:schemeClr val="accent2"/>
          </a:solidFill>
          <a:ln/>
        </p:spPr>
      </p:sp>
      <p:sp>
        <p:nvSpPr>
          <p:cNvPr id="16" name="Text 13"/>
          <p:cNvSpPr txBox="1"/>
          <p:nvPr/>
        </p:nvSpPr>
        <p:spPr>
          <a:xfrm>
            <a:off x="3291840" y="3063240"/>
            <a:ext cx="1874520" cy="347472"/>
          </a:xfrm>
          <a:prstGeom prst="rect">
            <a:avLst/>
          </a:prstGeom>
          <a:noFill/>
          <a:ln/>
        </p:spPr>
        <p:txBody>
          <a:bodyPr wrap="square" lIns="0" tIns="0" rIns="0" bIns="0" rtlCol="0" anchor="ctr"/>
          <a:lstStyle/>
          <a:p>
            <a:pPr algn="ctr" indent="0" marL="0">
              <a:buNone/>
            </a:pPr>
            <a:r>
              <a:rPr lang="en-US" sz="1200" b="1" dirty="0">
                <a:solidFill>
                  <a:schemeClr val="bg1"/>
                </a:solidFill>
              </a:rPr>
              <a:t>ELB-tagged</a:t>
            </a:r>
            <a:endParaRPr lang="en-US" sz="1200" dirty="0"/>
          </a:p>
        </p:txBody>
      </p:sp>
      <p:sp>
        <p:nvSpPr>
          <p:cNvPr id="17" name="Private subnet · 1a"/>
          <p:cNvSpPr/>
          <p:nvPr/>
        </p:nvSpPr>
        <p:spPr>
          <a:xfrm>
            <a:off x="914400" y="3657600"/>
            <a:ext cx="2148840" cy="1188720"/>
          </a:xfrm>
          <a:prstGeom prst="roundRect">
            <a:avLst>
              <a:gd name="adj" fmla="val 4615"/>
            </a:avLst>
          </a:prstGeom>
          <a:solidFill>
            <a:schemeClr val="accent3"/>
          </a:solidFill>
          <a:ln/>
        </p:spPr>
      </p:sp>
      <p:sp>
        <p:nvSpPr>
          <p:cNvPr id="18" name="Text 15"/>
          <p:cNvSpPr txBox="1"/>
          <p:nvPr/>
        </p:nvSpPr>
        <p:spPr>
          <a:xfrm>
            <a:off x="1051560" y="3730752"/>
            <a:ext cx="1874520" cy="502920"/>
          </a:xfrm>
          <a:prstGeom prst="rect">
            <a:avLst/>
          </a:prstGeom>
          <a:noFill/>
          <a:ln/>
        </p:spPr>
        <p:txBody>
          <a:bodyPr wrap="square" lIns="0" tIns="0" rIns="0" bIns="0" rtlCol="0" anchor="t"/>
          <a:lstStyle/>
          <a:p>
            <a:pPr indent="0" marL="0">
              <a:buNone/>
            </a:pPr>
            <a:r>
              <a:rPr lang="en-US" sz="1300" b="1" dirty="0">
                <a:solidFill>
                  <a:schemeClr val="tx1"/>
                </a:solidFill>
              </a:rPr>
              <a:t>Private subnet · 1a</a:t>
            </a:r>
            <a:endParaRPr lang="en-US" sz="1400" dirty="0"/>
          </a:p>
          <a:p>
            <a:pPr indent="0" marL="0">
              <a:buNone/>
            </a:pPr>
            <a:r>
              <a:rPr lang="en-US" sz="1200" dirty="0">
                <a:solidFill>
                  <a:schemeClr val="accent5"/>
                </a:solidFill>
              </a:rPr>
              <a:t>10.30.1.0/24</a:t>
            </a:r>
            <a:endParaRPr lang="en-US" sz="1400" dirty="0"/>
          </a:p>
        </p:txBody>
      </p:sp>
      <p:sp>
        <p:nvSpPr>
          <p:cNvPr id="19" name="Shape 16"/>
          <p:cNvSpPr/>
          <p:nvPr/>
        </p:nvSpPr>
        <p:spPr>
          <a:xfrm>
            <a:off x="1051560" y="4389120"/>
            <a:ext cx="1874520" cy="347472"/>
          </a:xfrm>
          <a:prstGeom prst="roundRect">
            <a:avLst>
              <a:gd name="adj" fmla="val 15789"/>
            </a:avLst>
          </a:prstGeom>
          <a:solidFill>
            <a:schemeClr val="accent1"/>
          </a:solidFill>
          <a:ln/>
        </p:spPr>
      </p:sp>
      <p:sp>
        <p:nvSpPr>
          <p:cNvPr id="20" name="Text 17"/>
          <p:cNvSpPr txBox="1"/>
          <p:nvPr/>
        </p:nvSpPr>
        <p:spPr>
          <a:xfrm>
            <a:off x="1051560" y="4389120"/>
            <a:ext cx="1874520" cy="347472"/>
          </a:xfrm>
          <a:prstGeom prst="rect">
            <a:avLst/>
          </a:prstGeom>
          <a:noFill/>
          <a:ln/>
        </p:spPr>
        <p:txBody>
          <a:bodyPr wrap="square" lIns="0" tIns="0" rIns="0" bIns="0" rtlCol="0" anchor="ctr"/>
          <a:lstStyle/>
          <a:p>
            <a:pPr algn="ctr" indent="0" marL="0">
              <a:buNone/>
            </a:pPr>
            <a:r>
              <a:rPr lang="en-US" sz="1200" b="1" dirty="0">
                <a:solidFill>
                  <a:schemeClr val="bg1"/>
                </a:solidFill>
              </a:rPr>
              <a:t>node · t3.medium</a:t>
            </a:r>
            <a:endParaRPr lang="en-US" sz="1200" dirty="0"/>
          </a:p>
        </p:txBody>
      </p:sp>
      <p:sp>
        <p:nvSpPr>
          <p:cNvPr id="21" name="Private subnet · 1b"/>
          <p:cNvSpPr/>
          <p:nvPr/>
        </p:nvSpPr>
        <p:spPr>
          <a:xfrm>
            <a:off x="3154680" y="3657600"/>
            <a:ext cx="2148840" cy="1188720"/>
          </a:xfrm>
          <a:prstGeom prst="roundRect">
            <a:avLst>
              <a:gd name="adj" fmla="val 4615"/>
            </a:avLst>
          </a:prstGeom>
          <a:solidFill>
            <a:schemeClr val="accent3"/>
          </a:solidFill>
          <a:ln/>
        </p:spPr>
      </p:sp>
      <p:sp>
        <p:nvSpPr>
          <p:cNvPr id="22" name="Text 19"/>
          <p:cNvSpPr txBox="1"/>
          <p:nvPr/>
        </p:nvSpPr>
        <p:spPr>
          <a:xfrm>
            <a:off x="3291840" y="3730752"/>
            <a:ext cx="1874520" cy="502920"/>
          </a:xfrm>
          <a:prstGeom prst="rect">
            <a:avLst/>
          </a:prstGeom>
          <a:noFill/>
          <a:ln/>
        </p:spPr>
        <p:txBody>
          <a:bodyPr wrap="square" lIns="0" tIns="0" rIns="0" bIns="0" rtlCol="0" anchor="t"/>
          <a:lstStyle/>
          <a:p>
            <a:pPr indent="0" marL="0">
              <a:buNone/>
            </a:pPr>
            <a:r>
              <a:rPr lang="en-US" sz="1300" b="1" dirty="0">
                <a:solidFill>
                  <a:schemeClr val="tx1"/>
                </a:solidFill>
              </a:rPr>
              <a:t>Private subnet · 1b</a:t>
            </a:r>
            <a:endParaRPr lang="en-US" sz="1400" dirty="0"/>
          </a:p>
          <a:p>
            <a:pPr indent="0" marL="0">
              <a:buNone/>
            </a:pPr>
            <a:r>
              <a:rPr lang="en-US" sz="1200" dirty="0">
                <a:solidFill>
                  <a:schemeClr val="accent5"/>
                </a:solidFill>
              </a:rPr>
              <a:t>10.30.2.0/24</a:t>
            </a:r>
            <a:endParaRPr lang="en-US" sz="1400" dirty="0"/>
          </a:p>
        </p:txBody>
      </p:sp>
      <p:sp>
        <p:nvSpPr>
          <p:cNvPr id="23" name="Shape 20"/>
          <p:cNvSpPr/>
          <p:nvPr/>
        </p:nvSpPr>
        <p:spPr>
          <a:xfrm>
            <a:off x="3291840" y="4389120"/>
            <a:ext cx="1874520" cy="347472"/>
          </a:xfrm>
          <a:prstGeom prst="roundRect">
            <a:avLst>
              <a:gd name="adj" fmla="val 15789"/>
            </a:avLst>
          </a:prstGeom>
          <a:solidFill>
            <a:schemeClr val="accent1"/>
          </a:solidFill>
          <a:ln/>
        </p:spPr>
      </p:sp>
      <p:sp>
        <p:nvSpPr>
          <p:cNvPr id="24" name="Text 21"/>
          <p:cNvSpPr txBox="1"/>
          <p:nvPr/>
        </p:nvSpPr>
        <p:spPr>
          <a:xfrm>
            <a:off x="3291840" y="4389120"/>
            <a:ext cx="1874520" cy="347472"/>
          </a:xfrm>
          <a:prstGeom prst="rect">
            <a:avLst/>
          </a:prstGeom>
          <a:noFill/>
          <a:ln/>
        </p:spPr>
        <p:txBody>
          <a:bodyPr wrap="square" lIns="0" tIns="0" rIns="0" bIns="0" rtlCol="0" anchor="ctr"/>
          <a:lstStyle/>
          <a:p>
            <a:pPr algn="ctr" indent="0" marL="0">
              <a:buNone/>
            </a:pPr>
            <a:r>
              <a:rPr lang="en-US" sz="1200" b="1" dirty="0">
                <a:solidFill>
                  <a:schemeClr val="bg1"/>
                </a:solidFill>
              </a:rPr>
              <a:t>node · t3.medium</a:t>
            </a:r>
            <a:endParaRPr lang="en-US" sz="1200" dirty="0"/>
          </a:p>
        </p:txBody>
      </p:sp>
      <p:sp>
        <p:nvSpPr>
          <p:cNvPr id="25" name="EKS control plane"/>
          <p:cNvSpPr/>
          <p:nvPr/>
        </p:nvSpPr>
        <p:spPr>
          <a:xfrm>
            <a:off x="5669280" y="2057400"/>
            <a:ext cx="1554480" cy="1097280"/>
          </a:xfrm>
          <a:prstGeom prst="roundRect">
            <a:avLst>
              <a:gd name="adj" fmla="val 5000"/>
            </a:avLst>
          </a:prstGeom>
          <a:solidFill>
            <a:schemeClr val="accent1"/>
          </a:solidFill>
          <a:ln/>
        </p:spPr>
      </p:sp>
      <p:sp>
        <p:nvSpPr>
          <p:cNvPr id="26" name="Text 23"/>
          <p:cNvSpPr txBox="1"/>
          <p:nvPr/>
        </p:nvSpPr>
        <p:spPr>
          <a:xfrm>
            <a:off x="5715000" y="2057400"/>
            <a:ext cx="1463040" cy="1097280"/>
          </a:xfrm>
          <a:prstGeom prst="rect">
            <a:avLst/>
          </a:prstGeom>
          <a:noFill/>
          <a:ln/>
        </p:spPr>
        <p:txBody>
          <a:bodyPr wrap="square" lIns="0" tIns="0" rIns="0" bIns="0" rtlCol="0" anchor="ctr"/>
          <a:lstStyle/>
          <a:p>
            <a:pPr algn="ctr" indent="0" marL="0">
              <a:buNone/>
            </a:pPr>
            <a:r>
              <a:rPr lang="en-US" sz="1300" b="1" dirty="0">
                <a:solidFill>
                  <a:schemeClr val="bg1"/>
                </a:solidFill>
              </a:rPr>
              <a:t>EKS 1.31</a:t>
            </a:r>
            <a:endParaRPr lang="en-US" sz="1400" dirty="0"/>
          </a:p>
          <a:p>
            <a:pPr algn="ctr" indent="0" marL="0">
              <a:buNone/>
            </a:pPr>
            <a:r>
              <a:rPr lang="en-US" sz="1100" dirty="0">
                <a:solidFill>
                  <a:schemeClr val="bg1"/>
                </a:solidFill>
              </a:rPr>
              <a:t>control plane</a:t>
            </a:r>
            <a:endParaRPr lang="en-US" sz="1400" dirty="0"/>
          </a:p>
        </p:txBody>
      </p:sp>
      <p:sp>
        <p:nvSpPr>
          <p:cNvPr id="27" name="Internet gateway"/>
          <p:cNvSpPr/>
          <p:nvPr/>
        </p:nvSpPr>
        <p:spPr>
          <a:xfrm>
            <a:off x="5669280" y="3291840"/>
            <a:ext cx="1554480" cy="685800"/>
          </a:xfrm>
          <a:prstGeom prst="roundRect">
            <a:avLst>
              <a:gd name="adj" fmla="val 8000"/>
            </a:avLst>
          </a:prstGeom>
          <a:solidFill>
            <a:schemeClr val="tx2"/>
          </a:solidFill>
          <a:ln/>
        </p:spPr>
      </p:sp>
      <p:sp>
        <p:nvSpPr>
          <p:cNvPr id="28" name="Text 25"/>
          <p:cNvSpPr txBox="1"/>
          <p:nvPr/>
        </p:nvSpPr>
        <p:spPr>
          <a:xfrm>
            <a:off x="5715000" y="3291840"/>
            <a:ext cx="1463040" cy="685800"/>
          </a:xfrm>
          <a:prstGeom prst="rect">
            <a:avLst/>
          </a:prstGeom>
          <a:noFill/>
          <a:ln/>
        </p:spPr>
        <p:txBody>
          <a:bodyPr wrap="square" lIns="0" tIns="0" rIns="0" bIns="0" rtlCol="0" anchor="ctr"/>
          <a:lstStyle/>
          <a:p>
            <a:pPr algn="ctr" indent="0" marL="0">
              <a:buNone/>
            </a:pPr>
            <a:r>
              <a:rPr lang="en-US" sz="1300" b="1" dirty="0">
                <a:solidFill>
                  <a:schemeClr val="bg1"/>
                </a:solidFill>
              </a:rPr>
              <a:t>Internet gateway</a:t>
            </a:r>
            <a:endParaRPr lang="en-US" sz="1400" dirty="0"/>
          </a:p>
        </p:txBody>
      </p:sp>
      <p:sp>
        <p:nvSpPr>
          <p:cNvPr id="29" name="IAM"/>
          <p:cNvSpPr/>
          <p:nvPr/>
        </p:nvSpPr>
        <p:spPr>
          <a:xfrm>
            <a:off x="5669280" y="4114800"/>
            <a:ext cx="1554480" cy="868680"/>
          </a:xfrm>
          <a:prstGeom prst="roundRect">
            <a:avLst>
              <a:gd name="adj" fmla="val 6316"/>
            </a:avLst>
          </a:prstGeom>
          <a:solidFill>
            <a:schemeClr val="bg1"/>
          </a:solidFill>
          <a:ln w="12700">
            <a:solidFill>
              <a:schemeClr val="accent6"/>
            </a:solidFill>
            <a:prstDash val="solid"/>
          </a:ln>
        </p:spPr>
      </p:sp>
      <p:sp>
        <p:nvSpPr>
          <p:cNvPr id="30" name="Text 27"/>
          <p:cNvSpPr txBox="1"/>
          <p:nvPr/>
        </p:nvSpPr>
        <p:spPr>
          <a:xfrm>
            <a:off x="5715000" y="4114800"/>
            <a:ext cx="1463040" cy="868680"/>
          </a:xfrm>
          <a:prstGeom prst="rect">
            <a:avLst/>
          </a:prstGeom>
          <a:noFill/>
          <a:ln/>
        </p:spPr>
        <p:txBody>
          <a:bodyPr wrap="square" lIns="0" tIns="0" rIns="0" bIns="0" rtlCol="0" anchor="ctr"/>
          <a:lstStyle/>
          <a:p>
            <a:pPr algn="ctr" indent="0" marL="0">
              <a:buNone/>
            </a:pPr>
            <a:r>
              <a:rPr lang="en-US" sz="1300" b="1" dirty="0">
                <a:solidFill>
                  <a:schemeClr val="tx1"/>
                </a:solidFill>
              </a:rPr>
              <a:t>IAM · OIDC · KMS</a:t>
            </a:r>
            <a:endParaRPr lang="en-US" sz="1400" dirty="0"/>
          </a:p>
          <a:p>
            <a:pPr algn="ctr" indent="0" marL="0">
              <a:buNone/>
            </a:pPr>
            <a:r>
              <a:rPr lang="en-US" sz="1100" dirty="0">
                <a:solidFill>
                  <a:schemeClr val="tx1"/>
                </a:solidFill>
              </a:rPr>
              <a:t>IRSA for EBS CSI</a:t>
            </a:r>
            <a:endParaRPr lang="en-US" sz="1400" dirty="0"/>
          </a:p>
        </p:txBody>
      </p:sp>
      <p:sp>
        <p:nvSpPr>
          <p:cNvPr id="31" name="Plan result"/>
          <p:cNvSpPr/>
          <p:nvPr/>
        </p:nvSpPr>
        <p:spPr>
          <a:xfrm>
            <a:off x="7726680" y="1554480"/>
            <a:ext cx="3916375" cy="1600200"/>
          </a:xfrm>
          <a:prstGeom prst="roundRect">
            <a:avLst>
              <a:gd name="adj" fmla="val 5714"/>
            </a:avLst>
          </a:prstGeom>
          <a:solidFill>
            <a:schemeClr val="accent3"/>
          </a:solidFill>
          <a:ln/>
        </p:spPr>
      </p:sp>
      <p:sp>
        <p:nvSpPr>
          <p:cNvPr id="32" name="Text 29"/>
          <p:cNvSpPr txBox="1"/>
          <p:nvPr/>
        </p:nvSpPr>
        <p:spPr>
          <a:xfrm>
            <a:off x="7955280" y="1627632"/>
            <a:ext cx="1463040" cy="1097280"/>
          </a:xfrm>
          <a:prstGeom prst="rect">
            <a:avLst/>
          </a:prstGeom>
          <a:noFill/>
          <a:ln/>
        </p:spPr>
        <p:txBody>
          <a:bodyPr wrap="square" lIns="0" tIns="0" rIns="0" bIns="0" rtlCol="0" anchor="ctr"/>
          <a:lstStyle/>
          <a:p>
            <a:pPr indent="0" marL="0">
              <a:buNone/>
            </a:pPr>
            <a:r>
              <a:rPr lang="en-US" sz="6600" b="1" dirty="0">
                <a:solidFill>
                  <a:schemeClr val="accent1"/>
                </a:solidFill>
              </a:rPr>
              <a:t>61</a:t>
            </a:r>
            <a:endParaRPr lang="en-US" sz="6600" dirty="0"/>
          </a:p>
        </p:txBody>
      </p:sp>
      <p:sp>
        <p:nvSpPr>
          <p:cNvPr id="33" name="Text 30"/>
          <p:cNvSpPr txBox="1"/>
          <p:nvPr/>
        </p:nvSpPr>
        <p:spPr>
          <a:xfrm>
            <a:off x="9418320" y="1691640"/>
            <a:ext cx="2087575" cy="1005840"/>
          </a:xfrm>
          <a:prstGeom prst="rect">
            <a:avLst/>
          </a:prstGeom>
          <a:noFill/>
          <a:ln/>
        </p:spPr>
        <p:txBody>
          <a:bodyPr wrap="square" lIns="0" tIns="0" rIns="0" bIns="0" rtlCol="0" anchor="ctr"/>
          <a:lstStyle/>
          <a:p>
            <a:pPr indent="0" marL="0">
              <a:buNone/>
            </a:pPr>
            <a:r>
              <a:rPr lang="en-US" sz="1800" b="1" dirty="0">
                <a:solidFill>
                  <a:schemeClr val="tx1"/>
                </a:solidFill>
              </a:rPr>
              <a:t>resources to add</a:t>
            </a:r>
            <a:endParaRPr lang="en-US" sz="1400" dirty="0"/>
          </a:p>
          <a:p>
            <a:pPr indent="0" marL="0">
              <a:buNone/>
            </a:pPr>
            <a:r>
              <a:rPr lang="en-US" sz="1400" dirty="0">
                <a:solidFill>
                  <a:schemeClr val="accent5"/>
                </a:solidFill>
              </a:rPr>
              <a:t>terraform plan</a:t>
            </a:r>
            <a:endParaRPr lang="en-US" sz="1400" dirty="0"/>
          </a:p>
          <a:p>
            <a:pPr indent="0" marL="0">
              <a:buNone/>
            </a:pPr>
            <a:r>
              <a:rPr lang="en-US" sz="1400" dirty="0">
                <a:solidFill>
                  <a:schemeClr val="accent5"/>
                </a:solidFill>
              </a:rPr>
              <a:t>0 to change, 0 to destroy</a:t>
            </a:r>
            <a:endParaRPr lang="en-US" sz="1400" dirty="0"/>
          </a:p>
        </p:txBody>
      </p:sp>
      <p:sp>
        <p:nvSpPr>
          <p:cNvPr id="34" name="Text 31"/>
          <p:cNvSpPr txBox="1"/>
          <p:nvPr/>
        </p:nvSpPr>
        <p:spPr>
          <a:xfrm>
            <a:off x="7955280" y="2697480"/>
            <a:ext cx="3550615" cy="365760"/>
          </a:xfrm>
          <a:prstGeom prst="rect">
            <a:avLst/>
          </a:prstGeom>
          <a:noFill/>
          <a:ln/>
        </p:spPr>
        <p:txBody>
          <a:bodyPr wrap="square" lIns="0" tIns="0" rIns="0" bIns="0" rtlCol="0" anchor="t"/>
          <a:lstStyle/>
          <a:p>
            <a:pPr indent="0" marL="0">
              <a:buNone/>
            </a:pPr>
            <a:r>
              <a:rPr lang="en-US" sz="1200" i="1" dirty="0">
                <a:solidFill>
                  <a:schemeClr val="accent5"/>
                </a:solidFill>
              </a:rPr>
              <a:t>init, fmt and validate pass; plan ran offline against LocalStack</a:t>
            </a:r>
            <a:endParaRPr lang="en-US" sz="1200" dirty="0"/>
          </a:p>
        </p:txBody>
      </p:sp>
      <p:sp>
        <p:nvSpPr>
          <p:cNvPr id="35" name="Cost control"/>
          <p:cNvSpPr/>
          <p:nvPr/>
        </p:nvSpPr>
        <p:spPr>
          <a:xfrm>
            <a:off x="7726680" y="3337560"/>
            <a:ext cx="3916375" cy="1828800"/>
          </a:xfrm>
          <a:prstGeom prst="roundRect">
            <a:avLst>
              <a:gd name="adj" fmla="val 5000"/>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36" name="Shape 33"/>
          <p:cNvSpPr/>
          <p:nvPr/>
        </p:nvSpPr>
        <p:spPr>
          <a:xfrm>
            <a:off x="7927848" y="3493008"/>
            <a:ext cx="457200" cy="457200"/>
          </a:xfrm>
          <a:prstGeom prst="ellipse">
            <a:avLst/>
          </a:prstGeom>
          <a:solidFill>
            <a:schemeClr val="accent2"/>
          </a:solidFill>
          <a:ln/>
        </p:spPr>
      </p:sp>
      <p:pic>
        <p:nvPicPr>
          <p:cNvPr id="37" name="Image 1" descr="Cost">    </p:cNvPr>
          <p:cNvPicPr>
            <a:picLocks noChangeAspect="1"/>
          </p:cNvPicPr>
          <p:nvPr/>
        </p:nvPicPr>
        <p:blipFill>
          <a:blip r:embed="rId2"/>
          <a:stretch>
            <a:fillRect/>
          </a:stretch>
        </p:blipFill>
        <p:spPr>
          <a:xfrm>
            <a:off x="8028432" y="3593592"/>
            <a:ext cx="256032" cy="256032"/>
          </a:xfrm>
          <a:prstGeom prst="rect">
            <a:avLst/>
          </a:prstGeom>
        </p:spPr>
      </p:pic>
      <p:sp>
        <p:nvSpPr>
          <p:cNvPr id="38" name="Text 34"/>
          <p:cNvSpPr txBox="1"/>
          <p:nvPr/>
        </p:nvSpPr>
        <p:spPr>
          <a:xfrm>
            <a:off x="8503920" y="3493008"/>
            <a:ext cx="3001975" cy="457200"/>
          </a:xfrm>
          <a:prstGeom prst="rect">
            <a:avLst/>
          </a:prstGeom>
          <a:noFill/>
          <a:ln/>
        </p:spPr>
        <p:txBody>
          <a:bodyPr wrap="square" lIns="0" tIns="0" rIns="0" bIns="0" rtlCol="0" anchor="ctr"/>
          <a:lstStyle/>
          <a:p>
            <a:pPr indent="0" marL="0">
              <a:buNone/>
            </a:pPr>
            <a:r>
              <a:rPr lang="en-US" sz="1800" b="1" dirty="0">
                <a:solidFill>
                  <a:schemeClr val="tx1"/>
                </a:solidFill>
              </a:rPr>
              <a:t>Cost control</a:t>
            </a:r>
            <a:endParaRPr lang="en-US" sz="1800" dirty="0"/>
          </a:p>
        </p:txBody>
      </p:sp>
      <p:sp>
        <p:nvSpPr>
          <p:cNvPr id="39" name="Text 35"/>
          <p:cNvSpPr txBox="1"/>
          <p:nvPr/>
        </p:nvSpPr>
        <p:spPr>
          <a:xfrm>
            <a:off x="7927848" y="4041648"/>
            <a:ext cx="3550615" cy="105156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chemeClr val="tx1"/>
                </a:solidFill>
              </a:rPr>
              <a:t>One NAT gateway shared by both AZs</a:t>
            </a:r>
            <a:endParaRPr lang="en-US" sz="1400" dirty="0"/>
          </a:p>
          <a:p>
            <a:pPr marL="228600" indent="-228600">
              <a:spcAft>
                <a:spcPts val="400"/>
              </a:spcAft>
              <a:buSzPct val="100000"/>
              <a:buChar char="•"/>
            </a:pPr>
            <a:r>
              <a:rPr lang="en-US" sz="1400" dirty="0">
                <a:solidFill>
                  <a:schemeClr val="tx1"/>
                </a:solidFill>
              </a:rPr>
              <a:t>t3.medium nodes: min 1, desired 2, max 3</a:t>
            </a:r>
            <a:endParaRPr lang="en-US" sz="1400" dirty="0"/>
          </a:p>
          <a:p>
            <a:pPr marL="228600" indent="-228600">
              <a:spcAft>
                <a:spcPts val="400"/>
              </a:spcAft>
              <a:buSzPct val="100000"/>
              <a:buChar char="•"/>
            </a:pPr>
            <a:r>
              <a:rPr lang="en-US" sz="1400" dirty="0">
                <a:solidFill>
                  <a:schemeClr val="tx1"/>
                </a:solidFill>
              </a:rPr>
              <a:t>~5–6 USD/day: destroy after each demo</a:t>
            </a:r>
            <a:endParaRPr lang="en-US" sz="1400" dirty="0"/>
          </a:p>
        </p:txBody>
      </p:sp>
      <p:sp>
        <p:nvSpPr>
          <p:cNvPr id="40" name="Step init"/>
          <p:cNvSpPr/>
          <p:nvPr/>
        </p:nvSpPr>
        <p:spPr>
          <a:xfrm>
            <a:off x="548640" y="5440680"/>
            <a:ext cx="1947672" cy="658368"/>
          </a:xfrm>
          <a:prstGeom prst="homePlate">
            <a:avLst/>
          </a:prstGeom>
          <a:solidFill>
            <a:schemeClr val="accent1"/>
          </a:solidFill>
          <a:ln/>
        </p:spPr>
      </p:sp>
      <p:sp>
        <p:nvSpPr>
          <p:cNvPr id="41" name="Text 37"/>
          <p:cNvSpPr txBox="1"/>
          <p:nvPr/>
        </p:nvSpPr>
        <p:spPr>
          <a:xfrm>
            <a:off x="822960" y="5440680"/>
            <a:ext cx="1399032" cy="658368"/>
          </a:xfrm>
          <a:prstGeom prst="rect">
            <a:avLst/>
          </a:prstGeom>
          <a:noFill/>
          <a:ln/>
        </p:spPr>
        <p:txBody>
          <a:bodyPr wrap="square" lIns="0" tIns="0" rIns="0" bIns="0" rtlCol="0" anchor="ctr"/>
          <a:lstStyle/>
          <a:p>
            <a:pPr algn="ctr" indent="0" marL="0">
              <a:buNone/>
            </a:pPr>
            <a:r>
              <a:rPr lang="en-US" sz="1500" b="1" dirty="0">
                <a:solidFill>
                  <a:schemeClr val="bg1"/>
                </a:solidFill>
              </a:rPr>
              <a:t>init</a:t>
            </a:r>
            <a:endParaRPr lang="en-US" sz="1500" dirty="0"/>
          </a:p>
        </p:txBody>
      </p:sp>
      <p:sp>
        <p:nvSpPr>
          <p:cNvPr id="42" name="Step fmt + validate"/>
          <p:cNvSpPr/>
          <p:nvPr/>
        </p:nvSpPr>
        <p:spPr>
          <a:xfrm>
            <a:off x="2377989" y="5440680"/>
            <a:ext cx="1947672" cy="658368"/>
          </a:xfrm>
          <a:prstGeom prst="chevron">
            <a:avLst/>
          </a:prstGeom>
          <a:solidFill>
            <a:schemeClr val="accent1"/>
          </a:solidFill>
          <a:ln/>
        </p:spPr>
      </p:sp>
      <p:sp>
        <p:nvSpPr>
          <p:cNvPr id="43" name="Text 39"/>
          <p:cNvSpPr txBox="1"/>
          <p:nvPr/>
        </p:nvSpPr>
        <p:spPr>
          <a:xfrm>
            <a:off x="2652309" y="5440680"/>
            <a:ext cx="1399032" cy="658368"/>
          </a:xfrm>
          <a:prstGeom prst="rect">
            <a:avLst/>
          </a:prstGeom>
          <a:noFill/>
          <a:ln/>
        </p:spPr>
        <p:txBody>
          <a:bodyPr wrap="square" lIns="0" tIns="0" rIns="0" bIns="0" rtlCol="0" anchor="ctr"/>
          <a:lstStyle/>
          <a:p>
            <a:pPr algn="ctr" indent="0" marL="0">
              <a:buNone/>
            </a:pPr>
            <a:r>
              <a:rPr lang="en-US" sz="1500" b="1" dirty="0">
                <a:solidFill>
                  <a:schemeClr val="bg1"/>
                </a:solidFill>
              </a:rPr>
              <a:t>fmt + validate</a:t>
            </a:r>
            <a:endParaRPr lang="en-US" sz="1500" dirty="0"/>
          </a:p>
        </p:txBody>
      </p:sp>
      <p:sp>
        <p:nvSpPr>
          <p:cNvPr id="44" name="Step plan"/>
          <p:cNvSpPr/>
          <p:nvPr/>
        </p:nvSpPr>
        <p:spPr>
          <a:xfrm>
            <a:off x="4207337" y="5440680"/>
            <a:ext cx="1947672" cy="658368"/>
          </a:xfrm>
          <a:prstGeom prst="chevron">
            <a:avLst/>
          </a:prstGeom>
          <a:solidFill>
            <a:schemeClr val="accent1"/>
          </a:solidFill>
          <a:ln/>
        </p:spPr>
      </p:sp>
      <p:sp>
        <p:nvSpPr>
          <p:cNvPr id="45" name="Text 41"/>
          <p:cNvSpPr txBox="1"/>
          <p:nvPr/>
        </p:nvSpPr>
        <p:spPr>
          <a:xfrm>
            <a:off x="4481657" y="5440680"/>
            <a:ext cx="1399032" cy="658368"/>
          </a:xfrm>
          <a:prstGeom prst="rect">
            <a:avLst/>
          </a:prstGeom>
          <a:noFill/>
          <a:ln/>
        </p:spPr>
        <p:txBody>
          <a:bodyPr wrap="square" lIns="0" tIns="0" rIns="0" bIns="0" rtlCol="0" anchor="ctr"/>
          <a:lstStyle/>
          <a:p>
            <a:pPr algn="ctr" indent="0" marL="0">
              <a:buNone/>
            </a:pPr>
            <a:r>
              <a:rPr lang="en-US" sz="1500" b="1" dirty="0">
                <a:solidFill>
                  <a:schemeClr val="bg1"/>
                </a:solidFill>
              </a:rPr>
              <a:t>plan</a:t>
            </a:r>
            <a:endParaRPr lang="en-US" sz="1500" dirty="0"/>
          </a:p>
        </p:txBody>
      </p:sp>
      <p:sp>
        <p:nvSpPr>
          <p:cNvPr id="46" name="Step apply"/>
          <p:cNvSpPr/>
          <p:nvPr/>
        </p:nvSpPr>
        <p:spPr>
          <a:xfrm>
            <a:off x="6036686" y="5440680"/>
            <a:ext cx="1947672" cy="658368"/>
          </a:xfrm>
          <a:prstGeom prst="chevron">
            <a:avLst/>
          </a:prstGeom>
          <a:solidFill>
            <a:schemeClr val="tx2"/>
          </a:solidFill>
          <a:ln/>
        </p:spPr>
      </p:sp>
      <p:sp>
        <p:nvSpPr>
          <p:cNvPr id="47" name="Text 43"/>
          <p:cNvSpPr txBox="1"/>
          <p:nvPr/>
        </p:nvSpPr>
        <p:spPr>
          <a:xfrm>
            <a:off x="6311006" y="5440680"/>
            <a:ext cx="1399032" cy="658368"/>
          </a:xfrm>
          <a:prstGeom prst="rect">
            <a:avLst/>
          </a:prstGeom>
          <a:noFill/>
          <a:ln/>
        </p:spPr>
        <p:txBody>
          <a:bodyPr wrap="square" lIns="0" tIns="0" rIns="0" bIns="0" rtlCol="0" anchor="ctr"/>
          <a:lstStyle/>
          <a:p>
            <a:pPr algn="ctr" indent="0" marL="0">
              <a:buNone/>
            </a:pPr>
            <a:r>
              <a:rPr lang="en-US" sz="1500" b="1" dirty="0">
                <a:solidFill>
                  <a:schemeClr val="bg1"/>
                </a:solidFill>
              </a:rPr>
              <a:t>apply</a:t>
            </a:r>
            <a:endParaRPr lang="en-US" sz="1500" dirty="0"/>
          </a:p>
        </p:txBody>
      </p:sp>
      <p:sp>
        <p:nvSpPr>
          <p:cNvPr id="48" name="Step check console"/>
          <p:cNvSpPr/>
          <p:nvPr/>
        </p:nvSpPr>
        <p:spPr>
          <a:xfrm>
            <a:off x="7866035" y="5440680"/>
            <a:ext cx="1947672" cy="658368"/>
          </a:xfrm>
          <a:prstGeom prst="chevron">
            <a:avLst/>
          </a:prstGeom>
          <a:solidFill>
            <a:schemeClr val="tx2"/>
          </a:solidFill>
          <a:ln/>
        </p:spPr>
      </p:sp>
      <p:sp>
        <p:nvSpPr>
          <p:cNvPr id="49" name="Text 45"/>
          <p:cNvSpPr txBox="1"/>
          <p:nvPr/>
        </p:nvSpPr>
        <p:spPr>
          <a:xfrm>
            <a:off x="8140355" y="5440680"/>
            <a:ext cx="1399032" cy="658368"/>
          </a:xfrm>
          <a:prstGeom prst="rect">
            <a:avLst/>
          </a:prstGeom>
          <a:noFill/>
          <a:ln/>
        </p:spPr>
        <p:txBody>
          <a:bodyPr wrap="square" lIns="0" tIns="0" rIns="0" bIns="0" rtlCol="0" anchor="ctr"/>
          <a:lstStyle/>
          <a:p>
            <a:pPr algn="ctr" indent="0" marL="0">
              <a:buNone/>
            </a:pPr>
            <a:r>
              <a:rPr lang="en-US" sz="1500" b="1" dirty="0">
                <a:solidFill>
                  <a:schemeClr val="bg1"/>
                </a:solidFill>
              </a:rPr>
              <a:t>check console</a:t>
            </a:r>
            <a:endParaRPr lang="en-US" sz="1500" dirty="0"/>
          </a:p>
        </p:txBody>
      </p:sp>
      <p:sp>
        <p:nvSpPr>
          <p:cNvPr id="50" name="Step destroy"/>
          <p:cNvSpPr/>
          <p:nvPr/>
        </p:nvSpPr>
        <p:spPr>
          <a:xfrm>
            <a:off x="9695383" y="5440680"/>
            <a:ext cx="1947672" cy="658368"/>
          </a:xfrm>
          <a:prstGeom prst="chevron">
            <a:avLst/>
          </a:prstGeom>
          <a:solidFill>
            <a:schemeClr val="accent2"/>
          </a:solidFill>
          <a:ln/>
        </p:spPr>
      </p:sp>
      <p:sp>
        <p:nvSpPr>
          <p:cNvPr id="51" name="Text 47"/>
          <p:cNvSpPr txBox="1"/>
          <p:nvPr/>
        </p:nvSpPr>
        <p:spPr>
          <a:xfrm>
            <a:off x="9969703" y="5440680"/>
            <a:ext cx="1399032" cy="658368"/>
          </a:xfrm>
          <a:prstGeom prst="rect">
            <a:avLst/>
          </a:prstGeom>
          <a:noFill/>
          <a:ln/>
        </p:spPr>
        <p:txBody>
          <a:bodyPr wrap="square" lIns="0" tIns="0" rIns="0" bIns="0" rtlCol="0" anchor="ctr"/>
          <a:lstStyle/>
          <a:p>
            <a:pPr algn="ctr" indent="0" marL="0">
              <a:buNone/>
            </a:pPr>
            <a:r>
              <a:rPr lang="en-US" sz="1500" b="1" dirty="0">
                <a:solidFill>
                  <a:schemeClr val="bg1"/>
                </a:solidFill>
              </a:rPr>
              <a:t>destroy</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329184"/>
          </a:xfrm>
          <a:prstGeom prst="rect">
            <a:avLst/>
          </a:prstGeom>
          <a:noFill/>
          <a:ln/>
        </p:spPr>
        <p:txBody>
          <a:bodyPr wrap="square" lIns="0" tIns="0" rIns="0" bIns="0" rtlCol="0" anchor="b"/>
          <a:lstStyle/>
          <a:p>
            <a:pPr algn="l" indent="0" marL="0">
              <a:buNone/>
            </a:pPr>
            <a:r>
              <a:rPr lang="en-US" sz="1400" b="1" dirty="0">
                <a:solidFill>
                  <a:schemeClr val="accent2"/>
                </a:solidFill>
              </a:rPr>
              <a:t>KUBERNETES + HELM</a:t>
            </a:r>
            <a:endParaRPr lang="en-US" sz="1400" dirty="0"/>
          </a:p>
        </p:txBody>
      </p:sp>
      <p:sp>
        <p:nvSpPr>
          <p:cNvPr id="3" name="Text 0"/>
          <p:cNvSpPr/>
          <p:nvPr>
            <p:ph idx="101" type="title" hasCustomPrompt="1"/>
          </p:nvPr>
        </p:nvSpPr>
        <p:spPr>
          <a:xfrm>
            <a:off x="548640" y="64008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One Helm chart, deployed by git SHA</a:t>
            </a:r>
            <a:endParaRPr lang="en-US" sz="3600" dirty="0"/>
          </a:p>
        </p:txBody>
      </p:sp>
      <p:sp>
        <p:nvSpPr>
          <p:cNvPr id="4" name="Shape 2"/>
          <p:cNvSpPr/>
          <p:nvPr/>
        </p:nvSpPr>
        <p:spPr>
          <a:xfrm>
            <a:off x="548640" y="1627632"/>
            <a:ext cx="512064" cy="512064"/>
          </a:xfrm>
          <a:prstGeom prst="ellipse">
            <a:avLst/>
          </a:prstGeom>
          <a:solidFill>
            <a:schemeClr val="accent1"/>
          </a:solidFill>
          <a:ln/>
        </p:spPr>
      </p:sp>
      <p:pic>
        <p:nvPicPr>
          <p:cNvPr id="5" name="Image 0" descr="Deployments">    </p:cNvPr>
          <p:cNvPicPr>
            <a:picLocks noChangeAspect="1"/>
          </p:cNvPicPr>
          <p:nvPr/>
        </p:nvPicPr>
        <p:blipFill>
          <a:blip r:embed="rId1"/>
          <a:stretch>
            <a:fillRect/>
          </a:stretch>
        </p:blipFill>
        <p:spPr>
          <a:xfrm>
            <a:off x="661294" y="1740286"/>
            <a:ext cx="286756" cy="286756"/>
          </a:xfrm>
          <a:prstGeom prst="rect">
            <a:avLst/>
          </a:prstGeom>
        </p:spPr>
      </p:pic>
      <p:sp>
        <p:nvSpPr>
          <p:cNvPr id="6" name="Text 3"/>
          <p:cNvSpPr txBox="1"/>
          <p:nvPr/>
        </p:nvSpPr>
        <p:spPr>
          <a:xfrm>
            <a:off x="1234440" y="1572768"/>
            <a:ext cx="3886200" cy="658368"/>
          </a:xfrm>
          <a:prstGeom prst="rect">
            <a:avLst/>
          </a:prstGeom>
          <a:noFill/>
          <a:ln/>
        </p:spPr>
        <p:txBody>
          <a:bodyPr wrap="square" lIns="0" tIns="0" rIns="0" bIns="0" rtlCol="0" anchor="ctr"/>
          <a:lstStyle/>
          <a:p>
            <a:pPr indent="0" marL="0">
              <a:buNone/>
            </a:pPr>
            <a:r>
              <a:rPr lang="en-US" sz="1600" b="1" dirty="0">
                <a:solidFill>
                  <a:schemeClr val="tx1"/>
                </a:solidFill>
              </a:rPr>
              <a:t>Deployments</a:t>
            </a:r>
            <a:endParaRPr lang="en-US" sz="1400" dirty="0"/>
          </a:p>
          <a:p>
            <a:pPr indent="0" marL="0">
              <a:buNone/>
            </a:pPr>
            <a:r>
              <a:rPr lang="en-US" sz="1400" dirty="0">
                <a:solidFill>
                  <a:schemeClr val="accent5"/>
                </a:solidFill>
              </a:rPr>
              <a:t>backend + frontend, 2 replicas each, probes</a:t>
            </a:r>
            <a:endParaRPr lang="en-US" sz="1400" dirty="0"/>
          </a:p>
        </p:txBody>
      </p:sp>
      <p:sp>
        <p:nvSpPr>
          <p:cNvPr id="7" name="Shape 4"/>
          <p:cNvSpPr/>
          <p:nvPr/>
        </p:nvSpPr>
        <p:spPr>
          <a:xfrm>
            <a:off x="548640" y="2386584"/>
            <a:ext cx="512064" cy="512064"/>
          </a:xfrm>
          <a:prstGeom prst="ellipse">
            <a:avLst/>
          </a:prstGeom>
          <a:solidFill>
            <a:schemeClr val="accent1"/>
          </a:solidFill>
          <a:ln/>
        </p:spPr>
      </p:sp>
      <p:pic>
        <p:nvPicPr>
          <p:cNvPr id="8" name="Image 1" descr="StatefulSet">    </p:cNvPr>
          <p:cNvPicPr>
            <a:picLocks noChangeAspect="1"/>
          </p:cNvPicPr>
          <p:nvPr/>
        </p:nvPicPr>
        <p:blipFill>
          <a:blip r:embed="rId2"/>
          <a:stretch>
            <a:fillRect/>
          </a:stretch>
        </p:blipFill>
        <p:spPr>
          <a:xfrm>
            <a:off x="661294" y="2499238"/>
            <a:ext cx="286756" cy="286756"/>
          </a:xfrm>
          <a:prstGeom prst="rect">
            <a:avLst/>
          </a:prstGeom>
        </p:spPr>
      </p:pic>
      <p:sp>
        <p:nvSpPr>
          <p:cNvPr id="9" name="Text 5"/>
          <p:cNvSpPr txBox="1"/>
          <p:nvPr/>
        </p:nvSpPr>
        <p:spPr>
          <a:xfrm>
            <a:off x="1234440" y="2331720"/>
            <a:ext cx="3886200" cy="658368"/>
          </a:xfrm>
          <a:prstGeom prst="rect">
            <a:avLst/>
          </a:prstGeom>
          <a:noFill/>
          <a:ln/>
        </p:spPr>
        <p:txBody>
          <a:bodyPr wrap="square" lIns="0" tIns="0" rIns="0" bIns="0" rtlCol="0" anchor="ctr"/>
          <a:lstStyle/>
          <a:p>
            <a:pPr indent="0" marL="0">
              <a:buNone/>
            </a:pPr>
            <a:r>
              <a:rPr lang="en-US" sz="1600" b="1" dirty="0">
                <a:solidFill>
                  <a:schemeClr val="tx1"/>
                </a:solidFill>
              </a:rPr>
              <a:t>StatefulSet</a:t>
            </a:r>
            <a:endParaRPr lang="en-US" sz="1400" dirty="0"/>
          </a:p>
          <a:p>
            <a:pPr indent="0" marL="0">
              <a:buNone/>
            </a:pPr>
            <a:r>
              <a:rPr lang="en-US" sz="1400" dirty="0">
                <a:solidFill>
                  <a:schemeClr val="accent5"/>
                </a:solidFill>
              </a:rPr>
              <a:t>PostgreSQL 16 with a 1 Gi PVC</a:t>
            </a:r>
            <a:endParaRPr lang="en-US" sz="1400" dirty="0"/>
          </a:p>
        </p:txBody>
      </p:sp>
      <p:sp>
        <p:nvSpPr>
          <p:cNvPr id="10" name="Shape 6"/>
          <p:cNvSpPr/>
          <p:nvPr/>
        </p:nvSpPr>
        <p:spPr>
          <a:xfrm>
            <a:off x="548640" y="3145536"/>
            <a:ext cx="512064" cy="512064"/>
          </a:xfrm>
          <a:prstGeom prst="ellipse">
            <a:avLst/>
          </a:prstGeom>
          <a:solidFill>
            <a:schemeClr val="accent1"/>
          </a:solidFill>
          <a:ln/>
        </p:spPr>
      </p:sp>
      <p:pic>
        <p:nvPicPr>
          <p:cNvPr id="11" name="Image 2" descr="ClusterIP Services">    </p:cNvPr>
          <p:cNvPicPr>
            <a:picLocks noChangeAspect="1"/>
          </p:cNvPicPr>
          <p:nvPr/>
        </p:nvPicPr>
        <p:blipFill>
          <a:blip r:embed="rId3"/>
          <a:stretch>
            <a:fillRect/>
          </a:stretch>
        </p:blipFill>
        <p:spPr>
          <a:xfrm>
            <a:off x="661294" y="3258190"/>
            <a:ext cx="286756" cy="286756"/>
          </a:xfrm>
          <a:prstGeom prst="rect">
            <a:avLst/>
          </a:prstGeom>
        </p:spPr>
      </p:pic>
      <p:sp>
        <p:nvSpPr>
          <p:cNvPr id="12" name="Text 7"/>
          <p:cNvSpPr txBox="1"/>
          <p:nvPr/>
        </p:nvSpPr>
        <p:spPr>
          <a:xfrm>
            <a:off x="1234440" y="3090672"/>
            <a:ext cx="3886200" cy="658368"/>
          </a:xfrm>
          <a:prstGeom prst="rect">
            <a:avLst/>
          </a:prstGeom>
          <a:noFill/>
          <a:ln/>
        </p:spPr>
        <p:txBody>
          <a:bodyPr wrap="square" lIns="0" tIns="0" rIns="0" bIns="0" rtlCol="0" anchor="ctr"/>
          <a:lstStyle/>
          <a:p>
            <a:pPr indent="0" marL="0">
              <a:buNone/>
            </a:pPr>
            <a:r>
              <a:rPr lang="en-US" sz="1600" b="1" dirty="0">
                <a:solidFill>
                  <a:schemeClr val="tx1"/>
                </a:solidFill>
              </a:rPr>
              <a:t>ClusterIP Services</a:t>
            </a:r>
            <a:endParaRPr lang="en-US" sz="1400" dirty="0"/>
          </a:p>
          <a:p>
            <a:pPr indent="0" marL="0">
              <a:buNone/>
            </a:pPr>
            <a:r>
              <a:rPr lang="en-US" sz="1400" dirty="0">
                <a:solidFill>
                  <a:schemeClr val="accent5"/>
                </a:solidFill>
              </a:rPr>
              <a:t>backend :8000, frontend :80, postgres</a:t>
            </a:r>
            <a:endParaRPr lang="en-US" sz="1400" dirty="0"/>
          </a:p>
        </p:txBody>
      </p:sp>
      <p:sp>
        <p:nvSpPr>
          <p:cNvPr id="13" name="Shape 8"/>
          <p:cNvSpPr/>
          <p:nvPr/>
        </p:nvSpPr>
        <p:spPr>
          <a:xfrm>
            <a:off x="548640" y="3904488"/>
            <a:ext cx="512064" cy="512064"/>
          </a:xfrm>
          <a:prstGeom prst="ellipse">
            <a:avLst/>
          </a:prstGeom>
          <a:solidFill>
            <a:schemeClr val="accent1"/>
          </a:solidFill>
          <a:ln/>
        </p:spPr>
      </p:sp>
      <p:pic>
        <p:nvPicPr>
          <p:cNvPr id="14" name="Image 3" descr="Ingress">    </p:cNvPr>
          <p:cNvPicPr>
            <a:picLocks noChangeAspect="1"/>
          </p:cNvPicPr>
          <p:nvPr/>
        </p:nvPicPr>
        <p:blipFill>
          <a:blip r:embed="rId4"/>
          <a:stretch>
            <a:fillRect/>
          </a:stretch>
        </p:blipFill>
        <p:spPr>
          <a:xfrm>
            <a:off x="661294" y="4017142"/>
            <a:ext cx="286756" cy="286756"/>
          </a:xfrm>
          <a:prstGeom prst="rect">
            <a:avLst/>
          </a:prstGeom>
        </p:spPr>
      </p:pic>
      <p:sp>
        <p:nvSpPr>
          <p:cNvPr id="15" name="Text 9"/>
          <p:cNvSpPr txBox="1"/>
          <p:nvPr/>
        </p:nvSpPr>
        <p:spPr>
          <a:xfrm>
            <a:off x="1234440" y="3849624"/>
            <a:ext cx="3886200" cy="658368"/>
          </a:xfrm>
          <a:prstGeom prst="rect">
            <a:avLst/>
          </a:prstGeom>
          <a:noFill/>
          <a:ln/>
        </p:spPr>
        <p:txBody>
          <a:bodyPr wrap="square" lIns="0" tIns="0" rIns="0" bIns="0" rtlCol="0" anchor="ctr"/>
          <a:lstStyle/>
          <a:p>
            <a:pPr indent="0" marL="0">
              <a:buNone/>
            </a:pPr>
            <a:r>
              <a:rPr lang="en-US" sz="1600" b="1" dirty="0">
                <a:solidFill>
                  <a:schemeClr val="tx1"/>
                </a:solidFill>
              </a:rPr>
              <a:t>Ingress</a:t>
            </a:r>
            <a:endParaRPr lang="en-US" sz="1400" dirty="0"/>
          </a:p>
          <a:p>
            <a:pPr indent="0" marL="0">
              <a:buNone/>
            </a:pPr>
            <a:r>
              <a:rPr lang="en-US" sz="1400" dirty="0">
                <a:solidFill>
                  <a:schemeClr val="accent5"/>
                </a:solidFill>
              </a:rPr>
              <a:t>expense.local: /api → backend, / → frontend</a:t>
            </a:r>
            <a:endParaRPr lang="en-US" sz="1400" dirty="0"/>
          </a:p>
        </p:txBody>
      </p:sp>
      <p:sp>
        <p:nvSpPr>
          <p:cNvPr id="16" name="Shape 10"/>
          <p:cNvSpPr/>
          <p:nvPr/>
        </p:nvSpPr>
        <p:spPr>
          <a:xfrm>
            <a:off x="548640" y="4663440"/>
            <a:ext cx="512064" cy="512064"/>
          </a:xfrm>
          <a:prstGeom prst="ellipse">
            <a:avLst/>
          </a:prstGeom>
          <a:solidFill>
            <a:schemeClr val="accent2"/>
          </a:solidFill>
          <a:ln/>
        </p:spPr>
      </p:sp>
      <p:pic>
        <p:nvPicPr>
          <p:cNvPr id="17" name="Image 4" descr="HPA">    </p:cNvPr>
          <p:cNvPicPr>
            <a:picLocks noChangeAspect="1"/>
          </p:cNvPicPr>
          <p:nvPr/>
        </p:nvPicPr>
        <p:blipFill>
          <a:blip r:embed="rId5"/>
          <a:stretch>
            <a:fillRect/>
          </a:stretch>
        </p:blipFill>
        <p:spPr>
          <a:xfrm>
            <a:off x="661294" y="4776094"/>
            <a:ext cx="286756" cy="286756"/>
          </a:xfrm>
          <a:prstGeom prst="rect">
            <a:avLst/>
          </a:prstGeom>
        </p:spPr>
      </p:pic>
      <p:sp>
        <p:nvSpPr>
          <p:cNvPr id="18" name="Text 11"/>
          <p:cNvSpPr txBox="1"/>
          <p:nvPr/>
        </p:nvSpPr>
        <p:spPr>
          <a:xfrm>
            <a:off x="1234440" y="4608576"/>
            <a:ext cx="3886200" cy="658368"/>
          </a:xfrm>
          <a:prstGeom prst="rect">
            <a:avLst/>
          </a:prstGeom>
          <a:noFill/>
          <a:ln/>
        </p:spPr>
        <p:txBody>
          <a:bodyPr wrap="square" lIns="0" tIns="0" rIns="0" bIns="0" rtlCol="0" anchor="ctr"/>
          <a:lstStyle/>
          <a:p>
            <a:pPr indent="0" marL="0">
              <a:buNone/>
            </a:pPr>
            <a:r>
              <a:rPr lang="en-US" sz="1600" b="1" dirty="0">
                <a:solidFill>
                  <a:schemeClr val="tx1"/>
                </a:solidFill>
              </a:rPr>
              <a:t>HPA</a:t>
            </a:r>
            <a:endParaRPr lang="en-US" sz="1400" dirty="0"/>
          </a:p>
          <a:p>
            <a:pPr indent="0" marL="0">
              <a:buNone/>
            </a:pPr>
            <a:r>
              <a:rPr lang="en-US" sz="1400" dirty="0">
                <a:solidFill>
                  <a:schemeClr val="accent5"/>
                </a:solidFill>
              </a:rPr>
              <a:t>backend 2 → 4 pods at 60 % CPU</a:t>
            </a:r>
            <a:endParaRPr lang="en-US" sz="1400" dirty="0"/>
          </a:p>
        </p:txBody>
      </p:sp>
      <p:sp>
        <p:nvSpPr>
          <p:cNvPr id="19" name="Shape 12"/>
          <p:cNvSpPr/>
          <p:nvPr/>
        </p:nvSpPr>
        <p:spPr>
          <a:xfrm>
            <a:off x="548640" y="5422392"/>
            <a:ext cx="512064" cy="512064"/>
          </a:xfrm>
          <a:prstGeom prst="ellipse">
            <a:avLst/>
          </a:prstGeom>
          <a:solidFill>
            <a:schemeClr val="accent1"/>
          </a:solidFill>
          <a:ln/>
        </p:spPr>
      </p:sp>
      <p:pic>
        <p:nvPicPr>
          <p:cNvPr id="20" name="Image 5" descr="ConfigMap · Secret · ServiceMonitor">    </p:cNvPr>
          <p:cNvPicPr>
            <a:picLocks noChangeAspect="1"/>
          </p:cNvPicPr>
          <p:nvPr/>
        </p:nvPicPr>
        <p:blipFill>
          <a:blip r:embed="rId6"/>
          <a:stretch>
            <a:fillRect/>
          </a:stretch>
        </p:blipFill>
        <p:spPr>
          <a:xfrm>
            <a:off x="661294" y="5535046"/>
            <a:ext cx="286756" cy="286756"/>
          </a:xfrm>
          <a:prstGeom prst="rect">
            <a:avLst/>
          </a:prstGeom>
        </p:spPr>
      </p:pic>
      <p:sp>
        <p:nvSpPr>
          <p:cNvPr id="21" name="Text 13"/>
          <p:cNvSpPr txBox="1"/>
          <p:nvPr/>
        </p:nvSpPr>
        <p:spPr>
          <a:xfrm>
            <a:off x="1234440" y="5367528"/>
            <a:ext cx="3886200" cy="658368"/>
          </a:xfrm>
          <a:prstGeom prst="rect">
            <a:avLst/>
          </a:prstGeom>
          <a:noFill/>
          <a:ln/>
        </p:spPr>
        <p:txBody>
          <a:bodyPr wrap="square" lIns="0" tIns="0" rIns="0" bIns="0" rtlCol="0" anchor="ctr"/>
          <a:lstStyle/>
          <a:p>
            <a:pPr indent="0" marL="0">
              <a:buNone/>
            </a:pPr>
            <a:r>
              <a:rPr lang="en-US" sz="1600" b="1" dirty="0">
                <a:solidFill>
                  <a:schemeClr val="tx1"/>
                </a:solidFill>
              </a:rPr>
              <a:t>ConfigMap · Secret · ServiceMonitor</a:t>
            </a:r>
            <a:endParaRPr lang="en-US" sz="1400" dirty="0"/>
          </a:p>
          <a:p>
            <a:pPr indent="0" marL="0">
              <a:buNone/>
            </a:pPr>
            <a:r>
              <a:rPr lang="en-US" sz="1400" dirty="0">
                <a:solidFill>
                  <a:schemeClr val="accent5"/>
                </a:solidFill>
              </a:rPr>
              <a:t>config, DATABASE_URL, metrics scrape</a:t>
            </a:r>
            <a:endParaRPr lang="en-US" sz="1400" dirty="0"/>
          </a:p>
        </p:txBody>
      </p:sp>
      <p:sp>
        <p:nvSpPr>
          <p:cNvPr id="22" name="Shape 14"/>
          <p:cNvSpPr/>
          <p:nvPr/>
        </p:nvSpPr>
        <p:spPr>
          <a:xfrm>
            <a:off x="5257800" y="1554480"/>
            <a:ext cx="6385255" cy="3117165"/>
          </a:xfrm>
          <a:prstGeom prst="rect">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pic>
        <p:nvPicPr>
          <p:cNvPr id="23" name="Image 6" descr="kubectl get pods output: two backend, two frontend and one postgres pod, all Running">    </p:cNvPr>
          <p:cNvPicPr>
            <a:picLocks noChangeAspect="1"/>
          </p:cNvPicPr>
          <p:nvPr/>
        </p:nvPicPr>
        <p:blipFill>
          <a:blip r:embed="rId7"/>
          <a:stretch>
            <a:fillRect/>
          </a:stretch>
        </p:blipFill>
        <p:spPr>
          <a:xfrm>
            <a:off x="5257800" y="1554480"/>
            <a:ext cx="6385255" cy="3117165"/>
          </a:xfrm>
          <a:prstGeom prst="rect">
            <a:avLst/>
          </a:prstGeom>
        </p:spPr>
      </p:pic>
      <p:sp>
        <p:nvSpPr>
          <p:cNvPr id="24" name="HPA stat 1"/>
          <p:cNvSpPr/>
          <p:nvPr/>
        </p:nvSpPr>
        <p:spPr>
          <a:xfrm>
            <a:off x="5257800" y="4945965"/>
            <a:ext cx="1976018" cy="1198803"/>
          </a:xfrm>
          <a:prstGeom prst="roundRect">
            <a:avLst>
              <a:gd name="adj" fmla="val 7628"/>
            </a:avLst>
          </a:prstGeom>
          <a:solidFill>
            <a:schemeClr val="bg2"/>
          </a:solidFill>
          <a:ln/>
        </p:spPr>
      </p:sp>
      <p:sp>
        <p:nvSpPr>
          <p:cNvPr id="25" name="Text 16"/>
          <p:cNvSpPr txBox="1"/>
          <p:nvPr/>
        </p:nvSpPr>
        <p:spPr>
          <a:xfrm>
            <a:off x="5440680" y="4945965"/>
            <a:ext cx="1701698" cy="1198803"/>
          </a:xfrm>
          <a:prstGeom prst="rect">
            <a:avLst/>
          </a:prstGeom>
          <a:noFill/>
          <a:ln/>
        </p:spPr>
        <p:txBody>
          <a:bodyPr wrap="square" lIns="0" tIns="0" rIns="0" bIns="0" rtlCol="0" anchor="ctr"/>
          <a:lstStyle/>
          <a:p>
            <a:pPr indent="0" marL="0">
              <a:buNone/>
            </a:pPr>
            <a:r>
              <a:rPr lang="en-US" sz="2800" b="1" dirty="0">
                <a:solidFill>
                  <a:schemeClr val="accent1"/>
                </a:solidFill>
              </a:rPr>
              <a:t>2 → 4</a:t>
            </a:r>
            <a:endParaRPr lang="en-US" sz="1400" dirty="0"/>
          </a:p>
          <a:p>
            <a:pPr indent="0" marL="0">
              <a:buNone/>
            </a:pPr>
            <a:r>
              <a:rPr lang="en-US" sz="1300" dirty="0">
                <a:solidFill>
                  <a:schemeClr val="accent5"/>
                </a:solidFill>
              </a:rPr>
              <a:t>backend pods under load</a:t>
            </a:r>
            <a:endParaRPr lang="en-US" sz="1400" dirty="0"/>
          </a:p>
        </p:txBody>
      </p:sp>
      <p:sp>
        <p:nvSpPr>
          <p:cNvPr id="26" name="HPA stat 2"/>
          <p:cNvSpPr/>
          <p:nvPr/>
        </p:nvSpPr>
        <p:spPr>
          <a:xfrm>
            <a:off x="7462418" y="4945965"/>
            <a:ext cx="1976018" cy="1198803"/>
          </a:xfrm>
          <a:prstGeom prst="roundRect">
            <a:avLst>
              <a:gd name="adj" fmla="val 7628"/>
            </a:avLst>
          </a:prstGeom>
          <a:solidFill>
            <a:schemeClr val="bg2"/>
          </a:solidFill>
          <a:ln/>
        </p:spPr>
      </p:sp>
      <p:sp>
        <p:nvSpPr>
          <p:cNvPr id="27" name="Text 18"/>
          <p:cNvSpPr txBox="1"/>
          <p:nvPr/>
        </p:nvSpPr>
        <p:spPr>
          <a:xfrm>
            <a:off x="7645298" y="4945965"/>
            <a:ext cx="1701698" cy="1198803"/>
          </a:xfrm>
          <a:prstGeom prst="rect">
            <a:avLst/>
          </a:prstGeom>
          <a:noFill/>
          <a:ln/>
        </p:spPr>
        <p:txBody>
          <a:bodyPr wrap="square" lIns="0" tIns="0" rIns="0" bIns="0" rtlCol="0" anchor="ctr"/>
          <a:lstStyle/>
          <a:p>
            <a:pPr indent="0" marL="0">
              <a:buNone/>
            </a:pPr>
            <a:r>
              <a:rPr lang="en-US" sz="2800" b="1" dirty="0">
                <a:solidFill>
                  <a:schemeClr val="accent2"/>
                </a:solidFill>
              </a:rPr>
              <a:t>528 %</a:t>
            </a:r>
            <a:endParaRPr lang="en-US" sz="1400" dirty="0"/>
          </a:p>
          <a:p>
            <a:pPr indent="0" marL="0">
              <a:buNone/>
            </a:pPr>
            <a:r>
              <a:rPr lang="en-US" sz="1300" dirty="0">
                <a:solidFill>
                  <a:schemeClr val="accent5"/>
                </a:solidFill>
              </a:rPr>
              <a:t>peak CPU vs 60 % target</a:t>
            </a:r>
            <a:endParaRPr lang="en-US" sz="1400" dirty="0"/>
          </a:p>
        </p:txBody>
      </p:sp>
      <p:sp>
        <p:nvSpPr>
          <p:cNvPr id="28" name="HPA stat 3"/>
          <p:cNvSpPr/>
          <p:nvPr/>
        </p:nvSpPr>
        <p:spPr>
          <a:xfrm>
            <a:off x="9667037" y="4945965"/>
            <a:ext cx="1976018" cy="1198803"/>
          </a:xfrm>
          <a:prstGeom prst="roundRect">
            <a:avLst>
              <a:gd name="adj" fmla="val 7628"/>
            </a:avLst>
          </a:prstGeom>
          <a:solidFill>
            <a:schemeClr val="bg2"/>
          </a:solidFill>
          <a:ln/>
        </p:spPr>
      </p:sp>
      <p:sp>
        <p:nvSpPr>
          <p:cNvPr id="29" name="Text 20"/>
          <p:cNvSpPr txBox="1"/>
          <p:nvPr/>
        </p:nvSpPr>
        <p:spPr>
          <a:xfrm>
            <a:off x="9849917" y="4945965"/>
            <a:ext cx="1701698" cy="1198803"/>
          </a:xfrm>
          <a:prstGeom prst="rect">
            <a:avLst/>
          </a:prstGeom>
          <a:noFill/>
          <a:ln/>
        </p:spPr>
        <p:txBody>
          <a:bodyPr wrap="square" lIns="0" tIns="0" rIns="0" bIns="0" rtlCol="0" anchor="ctr"/>
          <a:lstStyle/>
          <a:p>
            <a:pPr indent="0" marL="0">
              <a:buNone/>
            </a:pPr>
            <a:r>
              <a:rPr lang="en-US" sz="2800" b="1" dirty="0">
                <a:solidFill>
                  <a:schemeClr val="accent1"/>
                </a:solidFill>
              </a:rPr>
              <a:t>9,000</a:t>
            </a:r>
            <a:endParaRPr lang="en-US" sz="1400" dirty="0"/>
          </a:p>
          <a:p>
            <a:pPr indent="0" marL="0">
              <a:buNone/>
            </a:pPr>
            <a:r>
              <a:rPr lang="en-US" sz="1300" dirty="0">
                <a:solidFill>
                  <a:schemeClr val="accent5"/>
                </a:solidFill>
              </a:rPr>
              <a:t>requests in 180 s, 0 failed</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329184"/>
          </a:xfrm>
          <a:prstGeom prst="rect">
            <a:avLst/>
          </a:prstGeom>
          <a:noFill/>
          <a:ln/>
        </p:spPr>
        <p:txBody>
          <a:bodyPr wrap="square" lIns="0" tIns="0" rIns="0" bIns="0" rtlCol="0" anchor="b"/>
          <a:lstStyle/>
          <a:p>
            <a:pPr algn="l" indent="0" marL="0">
              <a:buNone/>
            </a:pPr>
            <a:r>
              <a:rPr lang="en-US" sz="1400" b="1" dirty="0">
                <a:solidFill>
                  <a:schemeClr val="accent2"/>
                </a:solidFill>
              </a:rPr>
              <a:t>GITOPS</a:t>
            </a:r>
            <a:endParaRPr lang="en-US" sz="1400" dirty="0"/>
          </a:p>
        </p:txBody>
      </p:sp>
      <p:sp>
        <p:nvSpPr>
          <p:cNvPr id="3" name="Text 0"/>
          <p:cNvSpPr/>
          <p:nvPr>
            <p:ph idx="101" type="title" hasCustomPrompt="1"/>
          </p:nvPr>
        </p:nvSpPr>
        <p:spPr>
          <a:xfrm>
            <a:off x="548640" y="64008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Argo CD: Git is the source of truth</a:t>
            </a:r>
            <a:endParaRPr lang="en-US" sz="3600" dirty="0"/>
          </a:p>
        </p:txBody>
      </p:sp>
      <p:sp>
        <p:nvSpPr>
          <p:cNvPr id="4" name="Node Commit"/>
          <p:cNvSpPr/>
          <p:nvPr/>
        </p:nvSpPr>
        <p:spPr>
          <a:xfrm>
            <a:off x="1432522" y="1691640"/>
            <a:ext cx="1005840" cy="1005840"/>
          </a:xfrm>
          <a:prstGeom prst="ellipse">
            <a:avLst/>
          </a:prstGeom>
          <a:solidFill>
            <a:schemeClr val="tx2"/>
          </a:solidFill>
          <a:ln/>
        </p:spPr>
      </p:sp>
      <p:pic>
        <p:nvPicPr>
          <p:cNvPr id="5" name="Image 0" descr="Commit">    </p:cNvPr>
          <p:cNvPicPr>
            <a:picLocks noChangeAspect="1"/>
          </p:cNvPicPr>
          <p:nvPr/>
        </p:nvPicPr>
        <p:blipFill>
          <a:blip r:embed="rId1"/>
          <a:stretch>
            <a:fillRect/>
          </a:stretch>
        </p:blipFill>
        <p:spPr>
          <a:xfrm>
            <a:off x="1653807" y="1912925"/>
            <a:ext cx="563270" cy="563270"/>
          </a:xfrm>
          <a:prstGeom prst="rect">
            <a:avLst/>
          </a:prstGeom>
        </p:spPr>
      </p:pic>
      <p:sp>
        <p:nvSpPr>
          <p:cNvPr id="6" name="Text 3"/>
          <p:cNvSpPr txBox="1"/>
          <p:nvPr/>
        </p:nvSpPr>
        <p:spPr>
          <a:xfrm>
            <a:off x="655282" y="2834640"/>
            <a:ext cx="2560320" cy="365760"/>
          </a:xfrm>
          <a:prstGeom prst="rect">
            <a:avLst/>
          </a:prstGeom>
          <a:noFill/>
          <a:ln/>
        </p:spPr>
        <p:txBody>
          <a:bodyPr wrap="square" lIns="0" tIns="0" rIns="0" bIns="0" rtlCol="0" anchor="t"/>
          <a:lstStyle/>
          <a:p>
            <a:pPr algn="ctr" indent="0" marL="0">
              <a:buNone/>
            </a:pPr>
            <a:r>
              <a:rPr lang="en-US" sz="1900" b="1" dirty="0">
                <a:solidFill>
                  <a:schemeClr val="tx1"/>
                </a:solidFill>
              </a:rPr>
              <a:t>Commit</a:t>
            </a:r>
            <a:endParaRPr lang="en-US" sz="1900" dirty="0"/>
          </a:p>
        </p:txBody>
      </p:sp>
      <p:sp>
        <p:nvSpPr>
          <p:cNvPr id="7" name="Text 4"/>
          <p:cNvSpPr txBox="1"/>
          <p:nvPr/>
        </p:nvSpPr>
        <p:spPr>
          <a:xfrm>
            <a:off x="609562" y="3200400"/>
            <a:ext cx="2651760" cy="566928"/>
          </a:xfrm>
          <a:prstGeom prst="rect">
            <a:avLst/>
          </a:prstGeom>
          <a:noFill/>
          <a:ln/>
        </p:spPr>
        <p:txBody>
          <a:bodyPr wrap="square" lIns="0" tIns="0" rIns="0" bIns="0" rtlCol="0" anchor="t"/>
          <a:lstStyle/>
          <a:p>
            <a:pPr algn="ctr" indent="0" marL="0">
              <a:buNone/>
            </a:pPr>
            <a:r>
              <a:rPr lang="en-US" sz="1400" dirty="0">
                <a:solidFill>
                  <a:schemeClr val="accent5"/>
                </a:solidFill>
              </a:rPr>
              <a:t>change image tag or replicas</a:t>
            </a:r>
            <a:endParaRPr lang="en-US" sz="1400" dirty="0"/>
          </a:p>
          <a:p>
            <a:pPr algn="ctr" indent="0" marL="0">
              <a:buNone/>
            </a:pPr>
            <a:r>
              <a:rPr lang="en-US" sz="1400" dirty="0">
                <a:solidFill>
                  <a:schemeClr val="accent5"/>
                </a:solidFill>
              </a:rPr>
              <a:t>in values-gitops.yaml</a:t>
            </a:r>
            <a:endParaRPr lang="en-US" sz="1400" dirty="0"/>
          </a:p>
        </p:txBody>
      </p:sp>
      <p:sp>
        <p:nvSpPr>
          <p:cNvPr id="8" name="Shape 5"/>
          <p:cNvSpPr/>
          <p:nvPr/>
        </p:nvSpPr>
        <p:spPr>
          <a:xfrm>
            <a:off x="2621242" y="2194560"/>
            <a:ext cx="1402004" cy="0"/>
          </a:xfrm>
          <a:prstGeom prst="line">
            <a:avLst/>
          </a:prstGeom>
          <a:noFill/>
          <a:ln w="31750">
            <a:solidFill>
              <a:schemeClr val="accent5"/>
            </a:solidFill>
            <a:prstDash val="solid"/>
            <a:tailEnd type="triangle"/>
          </a:ln>
        </p:spPr>
      </p:sp>
      <p:sp>
        <p:nvSpPr>
          <p:cNvPr id="9" name="Text 6"/>
          <p:cNvSpPr txBox="1"/>
          <p:nvPr/>
        </p:nvSpPr>
        <p:spPr>
          <a:xfrm>
            <a:off x="2621242" y="1810512"/>
            <a:ext cx="1402004" cy="292608"/>
          </a:xfrm>
          <a:prstGeom prst="rect">
            <a:avLst/>
          </a:prstGeom>
          <a:noFill/>
          <a:ln/>
        </p:spPr>
        <p:txBody>
          <a:bodyPr wrap="square" lIns="0" tIns="0" rIns="0" bIns="0" rtlCol="0" anchor="t"/>
          <a:lstStyle/>
          <a:p>
            <a:pPr algn="ctr" indent="0" marL="0">
              <a:buNone/>
            </a:pPr>
            <a:r>
              <a:rPr lang="en-US" sz="1300" b="1" dirty="0">
                <a:solidFill>
                  <a:schemeClr val="accent5"/>
                </a:solidFill>
              </a:rPr>
              <a:t>git push</a:t>
            </a:r>
            <a:endParaRPr lang="en-US" sz="1300" dirty="0"/>
          </a:p>
        </p:txBody>
      </p:sp>
      <p:sp>
        <p:nvSpPr>
          <p:cNvPr id="10" name="Node GitHub main"/>
          <p:cNvSpPr/>
          <p:nvPr/>
        </p:nvSpPr>
        <p:spPr>
          <a:xfrm>
            <a:off x="4206126" y="1691640"/>
            <a:ext cx="1005840" cy="1005840"/>
          </a:xfrm>
          <a:prstGeom prst="ellipse">
            <a:avLst/>
          </a:prstGeom>
          <a:solidFill>
            <a:schemeClr val="tx1"/>
          </a:solidFill>
          <a:ln/>
        </p:spPr>
      </p:sp>
      <p:pic>
        <p:nvPicPr>
          <p:cNvPr id="11" name="Image 1" descr="GitHub main">    </p:cNvPr>
          <p:cNvPicPr>
            <a:picLocks noChangeAspect="1"/>
          </p:cNvPicPr>
          <p:nvPr/>
        </p:nvPicPr>
        <p:blipFill>
          <a:blip r:embed="rId2"/>
          <a:stretch>
            <a:fillRect/>
          </a:stretch>
        </p:blipFill>
        <p:spPr>
          <a:xfrm>
            <a:off x="4427411" y="1912925"/>
            <a:ext cx="563270" cy="563270"/>
          </a:xfrm>
          <a:prstGeom prst="rect">
            <a:avLst/>
          </a:prstGeom>
        </p:spPr>
      </p:pic>
      <p:sp>
        <p:nvSpPr>
          <p:cNvPr id="12" name="Text 8"/>
          <p:cNvSpPr txBox="1"/>
          <p:nvPr/>
        </p:nvSpPr>
        <p:spPr>
          <a:xfrm>
            <a:off x="3428886" y="2834640"/>
            <a:ext cx="2560320" cy="365760"/>
          </a:xfrm>
          <a:prstGeom prst="rect">
            <a:avLst/>
          </a:prstGeom>
          <a:noFill/>
          <a:ln/>
        </p:spPr>
        <p:txBody>
          <a:bodyPr wrap="square" lIns="0" tIns="0" rIns="0" bIns="0" rtlCol="0" anchor="t"/>
          <a:lstStyle/>
          <a:p>
            <a:pPr algn="ctr" indent="0" marL="0">
              <a:buNone/>
            </a:pPr>
            <a:r>
              <a:rPr lang="en-US" sz="1900" b="1" dirty="0">
                <a:solidFill>
                  <a:schemeClr val="tx1"/>
                </a:solidFill>
              </a:rPr>
              <a:t>GitHub main</a:t>
            </a:r>
            <a:endParaRPr lang="en-US" sz="1900" dirty="0"/>
          </a:p>
        </p:txBody>
      </p:sp>
      <p:sp>
        <p:nvSpPr>
          <p:cNvPr id="13" name="Text 9"/>
          <p:cNvSpPr txBox="1"/>
          <p:nvPr/>
        </p:nvSpPr>
        <p:spPr>
          <a:xfrm>
            <a:off x="3383166" y="3200400"/>
            <a:ext cx="2651760" cy="566928"/>
          </a:xfrm>
          <a:prstGeom prst="rect">
            <a:avLst/>
          </a:prstGeom>
          <a:noFill/>
          <a:ln/>
        </p:spPr>
        <p:txBody>
          <a:bodyPr wrap="square" lIns="0" tIns="0" rIns="0" bIns="0" rtlCol="0" anchor="t"/>
          <a:lstStyle/>
          <a:p>
            <a:pPr algn="ctr" indent="0" marL="0">
              <a:buNone/>
            </a:pPr>
            <a:r>
              <a:rPr lang="en-US" sz="1400" dirty="0">
                <a:solidFill>
                  <a:schemeClr val="accent5"/>
                </a:solidFill>
              </a:rPr>
              <a:t>desired state,</a:t>
            </a:r>
            <a:endParaRPr lang="en-US" sz="1400" dirty="0"/>
          </a:p>
          <a:p>
            <a:pPr algn="ctr" indent="0" marL="0">
              <a:buNone/>
            </a:pPr>
            <a:r>
              <a:rPr lang="en-US" sz="1400" dirty="0">
                <a:solidFill>
                  <a:schemeClr val="accent5"/>
                </a:solidFill>
              </a:rPr>
              <a:t>reviewed and versioned</a:t>
            </a:r>
            <a:endParaRPr lang="en-US" sz="1400" dirty="0"/>
          </a:p>
        </p:txBody>
      </p:sp>
      <p:sp>
        <p:nvSpPr>
          <p:cNvPr id="14" name="Shape 10"/>
          <p:cNvSpPr/>
          <p:nvPr/>
        </p:nvSpPr>
        <p:spPr>
          <a:xfrm>
            <a:off x="5394846" y="2194560"/>
            <a:ext cx="1402004" cy="0"/>
          </a:xfrm>
          <a:prstGeom prst="line">
            <a:avLst/>
          </a:prstGeom>
          <a:noFill/>
          <a:ln w="31750">
            <a:solidFill>
              <a:schemeClr val="accent5"/>
            </a:solidFill>
            <a:prstDash val="solid"/>
            <a:tailEnd type="triangle"/>
          </a:ln>
        </p:spPr>
      </p:sp>
      <p:sp>
        <p:nvSpPr>
          <p:cNvPr id="15" name="Text 11"/>
          <p:cNvSpPr txBox="1"/>
          <p:nvPr/>
        </p:nvSpPr>
        <p:spPr>
          <a:xfrm>
            <a:off x="5394846" y="1810512"/>
            <a:ext cx="1402004" cy="292608"/>
          </a:xfrm>
          <a:prstGeom prst="rect">
            <a:avLst/>
          </a:prstGeom>
          <a:noFill/>
          <a:ln/>
        </p:spPr>
        <p:txBody>
          <a:bodyPr wrap="square" lIns="0" tIns="0" rIns="0" bIns="0" rtlCol="0" anchor="t"/>
          <a:lstStyle/>
          <a:p>
            <a:pPr algn="ctr" indent="0" marL="0">
              <a:buNone/>
            </a:pPr>
            <a:r>
              <a:rPr lang="en-US" sz="1300" b="1" dirty="0">
                <a:solidFill>
                  <a:schemeClr val="accent5"/>
                </a:solidFill>
              </a:rPr>
              <a:t>pull</a:t>
            </a:r>
            <a:endParaRPr lang="en-US" sz="1300" dirty="0"/>
          </a:p>
        </p:txBody>
      </p:sp>
      <p:sp>
        <p:nvSpPr>
          <p:cNvPr id="16" name="Node Argo CD"/>
          <p:cNvSpPr/>
          <p:nvPr/>
        </p:nvSpPr>
        <p:spPr>
          <a:xfrm>
            <a:off x="6979730" y="1691640"/>
            <a:ext cx="1005840" cy="1005840"/>
          </a:xfrm>
          <a:prstGeom prst="ellipse">
            <a:avLst/>
          </a:prstGeom>
          <a:solidFill>
            <a:schemeClr val="accent2"/>
          </a:solidFill>
          <a:ln/>
        </p:spPr>
      </p:sp>
      <p:pic>
        <p:nvPicPr>
          <p:cNvPr id="17" name="Image 2" descr="Argo CD">    </p:cNvPr>
          <p:cNvPicPr>
            <a:picLocks noChangeAspect="1"/>
          </p:cNvPicPr>
          <p:nvPr/>
        </p:nvPicPr>
        <p:blipFill>
          <a:blip r:embed="rId3"/>
          <a:stretch>
            <a:fillRect/>
          </a:stretch>
        </p:blipFill>
        <p:spPr>
          <a:xfrm>
            <a:off x="7201014" y="1912925"/>
            <a:ext cx="563270" cy="563270"/>
          </a:xfrm>
          <a:prstGeom prst="rect">
            <a:avLst/>
          </a:prstGeom>
        </p:spPr>
      </p:pic>
      <p:sp>
        <p:nvSpPr>
          <p:cNvPr id="18" name="Text 13"/>
          <p:cNvSpPr txBox="1"/>
          <p:nvPr/>
        </p:nvSpPr>
        <p:spPr>
          <a:xfrm>
            <a:off x="6202490" y="2834640"/>
            <a:ext cx="2560320" cy="365760"/>
          </a:xfrm>
          <a:prstGeom prst="rect">
            <a:avLst/>
          </a:prstGeom>
          <a:noFill/>
          <a:ln/>
        </p:spPr>
        <p:txBody>
          <a:bodyPr wrap="square" lIns="0" tIns="0" rIns="0" bIns="0" rtlCol="0" anchor="t"/>
          <a:lstStyle/>
          <a:p>
            <a:pPr algn="ctr" indent="0" marL="0">
              <a:buNone/>
            </a:pPr>
            <a:r>
              <a:rPr lang="en-US" sz="1900" b="1" dirty="0">
                <a:solidFill>
                  <a:schemeClr val="tx1"/>
                </a:solidFill>
              </a:rPr>
              <a:t>Argo CD</a:t>
            </a:r>
            <a:endParaRPr lang="en-US" sz="1900" dirty="0"/>
          </a:p>
        </p:txBody>
      </p:sp>
      <p:sp>
        <p:nvSpPr>
          <p:cNvPr id="19" name="Text 14"/>
          <p:cNvSpPr txBox="1"/>
          <p:nvPr/>
        </p:nvSpPr>
        <p:spPr>
          <a:xfrm>
            <a:off x="6156770" y="3200400"/>
            <a:ext cx="2651760" cy="566928"/>
          </a:xfrm>
          <a:prstGeom prst="rect">
            <a:avLst/>
          </a:prstGeom>
          <a:noFill/>
          <a:ln/>
        </p:spPr>
        <p:txBody>
          <a:bodyPr wrap="square" lIns="0" tIns="0" rIns="0" bIns="0" rtlCol="0" anchor="t"/>
          <a:lstStyle/>
          <a:p>
            <a:pPr algn="ctr" indent="0" marL="0">
              <a:buNone/>
            </a:pPr>
            <a:r>
              <a:rPr lang="en-US" sz="1400" dirty="0">
                <a:solidFill>
                  <a:schemeClr val="accent5"/>
                </a:solidFill>
              </a:rPr>
              <a:t>polls the repo every 3 min,</a:t>
            </a:r>
            <a:endParaRPr lang="en-US" sz="1400" dirty="0"/>
          </a:p>
          <a:p>
            <a:pPr algn="ctr" indent="0" marL="0">
              <a:buNone/>
            </a:pPr>
            <a:r>
              <a:rPr lang="en-US" sz="1400" dirty="0">
                <a:solidFill>
                  <a:schemeClr val="accent5"/>
                </a:solidFill>
              </a:rPr>
              <a:t>renders the Helm chart</a:t>
            </a:r>
            <a:endParaRPr lang="en-US" sz="1400" dirty="0"/>
          </a:p>
        </p:txBody>
      </p:sp>
      <p:sp>
        <p:nvSpPr>
          <p:cNvPr id="20" name="Shape 15"/>
          <p:cNvSpPr/>
          <p:nvPr/>
        </p:nvSpPr>
        <p:spPr>
          <a:xfrm>
            <a:off x="8168450" y="2194560"/>
            <a:ext cx="1402004" cy="0"/>
          </a:xfrm>
          <a:prstGeom prst="line">
            <a:avLst/>
          </a:prstGeom>
          <a:noFill/>
          <a:ln w="31750">
            <a:solidFill>
              <a:schemeClr val="accent5"/>
            </a:solidFill>
            <a:prstDash val="solid"/>
            <a:tailEnd type="triangle"/>
          </a:ln>
        </p:spPr>
      </p:sp>
      <p:sp>
        <p:nvSpPr>
          <p:cNvPr id="21" name="Text 16"/>
          <p:cNvSpPr txBox="1"/>
          <p:nvPr/>
        </p:nvSpPr>
        <p:spPr>
          <a:xfrm>
            <a:off x="8168450" y="1810512"/>
            <a:ext cx="1402004" cy="292608"/>
          </a:xfrm>
          <a:prstGeom prst="rect">
            <a:avLst/>
          </a:prstGeom>
          <a:noFill/>
          <a:ln/>
        </p:spPr>
        <p:txBody>
          <a:bodyPr wrap="square" lIns="0" tIns="0" rIns="0" bIns="0" rtlCol="0" anchor="t"/>
          <a:lstStyle/>
          <a:p>
            <a:pPr algn="ctr" indent="0" marL="0">
              <a:buNone/>
            </a:pPr>
            <a:r>
              <a:rPr lang="en-US" sz="1300" b="1" dirty="0">
                <a:solidFill>
                  <a:schemeClr val="accent5"/>
                </a:solidFill>
              </a:rPr>
              <a:t>sync</a:t>
            </a:r>
            <a:endParaRPr lang="en-US" sz="1300" dirty="0"/>
          </a:p>
        </p:txBody>
      </p:sp>
      <p:sp>
        <p:nvSpPr>
          <p:cNvPr id="22" name="Node Cluster"/>
          <p:cNvSpPr/>
          <p:nvPr/>
        </p:nvSpPr>
        <p:spPr>
          <a:xfrm>
            <a:off x="9753333" y="1691640"/>
            <a:ext cx="1005840" cy="1005840"/>
          </a:xfrm>
          <a:prstGeom prst="ellipse">
            <a:avLst/>
          </a:prstGeom>
          <a:solidFill>
            <a:schemeClr val="accent1"/>
          </a:solidFill>
          <a:ln/>
        </p:spPr>
      </p:sp>
      <p:pic>
        <p:nvPicPr>
          <p:cNvPr id="23" name="Image 3" descr="Cluster">    </p:cNvPr>
          <p:cNvPicPr>
            <a:picLocks noChangeAspect="1"/>
          </p:cNvPicPr>
          <p:nvPr/>
        </p:nvPicPr>
        <p:blipFill>
          <a:blip r:embed="rId4"/>
          <a:stretch>
            <a:fillRect/>
          </a:stretch>
        </p:blipFill>
        <p:spPr>
          <a:xfrm>
            <a:off x="9974618" y="1912925"/>
            <a:ext cx="563270" cy="563270"/>
          </a:xfrm>
          <a:prstGeom prst="rect">
            <a:avLst/>
          </a:prstGeom>
        </p:spPr>
      </p:pic>
      <p:sp>
        <p:nvSpPr>
          <p:cNvPr id="24" name="Text 18"/>
          <p:cNvSpPr txBox="1"/>
          <p:nvPr/>
        </p:nvSpPr>
        <p:spPr>
          <a:xfrm>
            <a:off x="8976093" y="2834640"/>
            <a:ext cx="2560320" cy="365760"/>
          </a:xfrm>
          <a:prstGeom prst="rect">
            <a:avLst/>
          </a:prstGeom>
          <a:noFill/>
          <a:ln/>
        </p:spPr>
        <p:txBody>
          <a:bodyPr wrap="square" lIns="0" tIns="0" rIns="0" bIns="0" rtlCol="0" anchor="t"/>
          <a:lstStyle/>
          <a:p>
            <a:pPr algn="ctr" indent="0" marL="0">
              <a:buNone/>
            </a:pPr>
            <a:r>
              <a:rPr lang="en-US" sz="1900" b="1" dirty="0">
                <a:solidFill>
                  <a:schemeClr val="tx1"/>
                </a:solidFill>
              </a:rPr>
              <a:t>Cluster</a:t>
            </a:r>
            <a:endParaRPr lang="en-US" sz="1900" dirty="0"/>
          </a:p>
        </p:txBody>
      </p:sp>
      <p:sp>
        <p:nvSpPr>
          <p:cNvPr id="25" name="Text 19"/>
          <p:cNvSpPr txBox="1"/>
          <p:nvPr/>
        </p:nvSpPr>
        <p:spPr>
          <a:xfrm>
            <a:off x="8930373" y="3200400"/>
            <a:ext cx="2651760" cy="566928"/>
          </a:xfrm>
          <a:prstGeom prst="rect">
            <a:avLst/>
          </a:prstGeom>
          <a:noFill/>
          <a:ln/>
        </p:spPr>
        <p:txBody>
          <a:bodyPr wrap="square" lIns="0" tIns="0" rIns="0" bIns="0" rtlCol="0" anchor="t"/>
          <a:lstStyle/>
          <a:p>
            <a:pPr algn="ctr" indent="0" marL="0">
              <a:buNone/>
            </a:pPr>
            <a:r>
              <a:rPr lang="en-US" sz="1400" dirty="0">
                <a:solidFill>
                  <a:schemeClr val="accent5"/>
                </a:solidFill>
              </a:rPr>
              <a:t>namespace</a:t>
            </a:r>
            <a:endParaRPr lang="en-US" sz="1400" dirty="0"/>
          </a:p>
          <a:p>
            <a:pPr algn="ctr" indent="0" marL="0">
              <a:buNone/>
            </a:pPr>
            <a:r>
              <a:rPr lang="en-US" sz="1400" dirty="0">
                <a:solidFill>
                  <a:schemeClr val="accent5"/>
                </a:solidFill>
              </a:rPr>
              <a:t>expense-tracker-gitops</a:t>
            </a:r>
            <a:endParaRPr lang="en-US" sz="1400" dirty="0"/>
          </a:p>
        </p:txBody>
      </p:sp>
      <p:sp>
        <p:nvSpPr>
          <p:cNvPr id="26" name="Shape 20"/>
          <p:cNvSpPr/>
          <p:nvPr/>
        </p:nvSpPr>
        <p:spPr>
          <a:xfrm>
            <a:off x="10256253" y="4023360"/>
            <a:ext cx="0" cy="347472"/>
          </a:xfrm>
          <a:prstGeom prst="line">
            <a:avLst/>
          </a:prstGeom>
          <a:noFill/>
          <a:ln w="31750">
            <a:solidFill>
              <a:schemeClr val="accent2"/>
            </a:solidFill>
            <a:prstDash val="solid"/>
          </a:ln>
        </p:spPr>
      </p:sp>
      <p:sp>
        <p:nvSpPr>
          <p:cNvPr id="27" name="Shape 21"/>
          <p:cNvSpPr/>
          <p:nvPr/>
        </p:nvSpPr>
        <p:spPr>
          <a:xfrm flipH="1">
            <a:off x="7482650" y="4370832"/>
            <a:ext cx="2773604" cy="0"/>
          </a:xfrm>
          <a:prstGeom prst="line">
            <a:avLst/>
          </a:prstGeom>
          <a:noFill/>
          <a:ln w="31750">
            <a:solidFill>
              <a:schemeClr val="accent2"/>
            </a:solidFill>
            <a:prstDash val="solid"/>
          </a:ln>
        </p:spPr>
      </p:sp>
      <p:sp>
        <p:nvSpPr>
          <p:cNvPr id="28" name="Self-heal loop"/>
          <p:cNvSpPr/>
          <p:nvPr/>
        </p:nvSpPr>
        <p:spPr>
          <a:xfrm flipV="1">
            <a:off x="7482650" y="4023360"/>
            <a:ext cx="0" cy="347472"/>
          </a:xfrm>
          <a:prstGeom prst="line">
            <a:avLst/>
          </a:prstGeom>
          <a:noFill/>
          <a:ln w="31750">
            <a:solidFill>
              <a:schemeClr val="accent2"/>
            </a:solidFill>
            <a:prstDash val="solid"/>
            <a:tailEnd type="triangle"/>
          </a:ln>
        </p:spPr>
      </p:sp>
      <p:pic>
        <p:nvPicPr>
          <p:cNvPr id="29" name="Image 4" descr="Self-heal">    </p:cNvPr>
          <p:cNvPicPr>
            <a:picLocks noChangeAspect="1"/>
          </p:cNvPicPr>
          <p:nvPr/>
        </p:nvPicPr>
        <p:blipFill>
          <a:blip r:embed="rId5"/>
          <a:stretch>
            <a:fillRect/>
          </a:stretch>
        </p:blipFill>
        <p:spPr>
          <a:xfrm>
            <a:off x="6994931" y="4462272"/>
            <a:ext cx="274320" cy="274320"/>
          </a:xfrm>
          <a:prstGeom prst="rect">
            <a:avLst/>
          </a:prstGeom>
        </p:spPr>
      </p:pic>
      <p:sp>
        <p:nvSpPr>
          <p:cNvPr id="30" name="Text 23"/>
          <p:cNvSpPr txBox="1"/>
          <p:nvPr/>
        </p:nvSpPr>
        <p:spPr>
          <a:xfrm>
            <a:off x="7360691" y="4434840"/>
            <a:ext cx="3566160" cy="329184"/>
          </a:xfrm>
          <a:prstGeom prst="rect">
            <a:avLst/>
          </a:prstGeom>
          <a:noFill/>
          <a:ln/>
        </p:spPr>
        <p:txBody>
          <a:bodyPr wrap="square" lIns="0" tIns="0" rIns="0" bIns="0" rtlCol="0" anchor="ctr"/>
          <a:lstStyle/>
          <a:p>
            <a:pPr indent="0" marL="0">
              <a:buNone/>
            </a:pPr>
            <a:r>
              <a:rPr lang="en-US" sz="1400" b="1" dirty="0">
                <a:solidFill>
                  <a:schemeClr val="accent2"/>
                </a:solidFill>
              </a:rPr>
              <a:t>self-heal: drift is detected and reverted</a:t>
            </a:r>
            <a:endParaRPr lang="en-US" sz="1400" dirty="0"/>
          </a:p>
        </p:txBody>
      </p:sp>
      <p:sp>
        <p:nvSpPr>
          <p:cNvPr id="31" name="Delivery paths"/>
          <p:cNvSpPr/>
          <p:nvPr/>
        </p:nvSpPr>
        <p:spPr>
          <a:xfrm>
            <a:off x="548640" y="4937760"/>
            <a:ext cx="5410048" cy="1188720"/>
          </a:xfrm>
          <a:prstGeom prst="roundRect">
            <a:avLst>
              <a:gd name="adj" fmla="val 7692"/>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32" name="Text 25"/>
          <p:cNvSpPr txBox="1"/>
          <p:nvPr/>
        </p:nvSpPr>
        <p:spPr>
          <a:xfrm>
            <a:off x="777240" y="4937760"/>
            <a:ext cx="5044288" cy="1188720"/>
          </a:xfrm>
          <a:prstGeom prst="rect">
            <a:avLst/>
          </a:prstGeom>
          <a:noFill/>
          <a:ln/>
        </p:spPr>
        <p:txBody>
          <a:bodyPr wrap="square" lIns="0" tIns="0" rIns="0" bIns="0" rtlCol="0" anchor="ctr"/>
          <a:lstStyle/>
          <a:p>
            <a:pPr indent="0" marL="0">
              <a:spcAft>
                <a:spcPts val="300"/>
              </a:spcAft>
              <a:buNone/>
            </a:pPr>
            <a:r>
              <a:rPr lang="en-US" sz="1600" b="1" dirty="0">
                <a:solidFill>
                  <a:schemeClr val="tx1"/>
                </a:solidFill>
              </a:rPr>
              <a:t>Two delivery paths</a:t>
            </a:r>
            <a:endParaRPr lang="en-US" sz="1400" dirty="0"/>
          </a:p>
          <a:p>
            <a:pPr indent="0" marL="0">
              <a:spcAft>
                <a:spcPts val="300"/>
              </a:spcAft>
              <a:buNone/>
            </a:pPr>
            <a:r>
              <a:rPr lang="en-US" sz="1400" dirty="0">
                <a:solidFill>
                  <a:schemeClr val="tx1"/>
                </a:solidFill>
              </a:rPr>
              <a:t>Push: the CI deploy job runs helm upgrade with the SHA tag</a:t>
            </a:r>
            <a:endParaRPr lang="en-US" sz="1400" dirty="0"/>
          </a:p>
          <a:p>
            <a:pPr indent="0" marL="0">
              <a:spcAft>
                <a:spcPts val="300"/>
              </a:spcAft>
              <a:buNone/>
            </a:pPr>
            <a:r>
              <a:rPr lang="en-US" sz="1400" dirty="0">
                <a:solidFill>
                  <a:schemeClr val="tx1"/>
                </a:solidFill>
              </a:rPr>
              <a:t>Pull: Argo CD inside the cluster follows main, no kubeconfig in CI</a:t>
            </a:r>
            <a:endParaRPr lang="en-US" sz="1400" dirty="0"/>
          </a:p>
        </p:txBody>
      </p:sp>
      <p:sp>
        <p:nvSpPr>
          <p:cNvPr id="33" name="Sync policy"/>
          <p:cNvSpPr/>
          <p:nvPr/>
        </p:nvSpPr>
        <p:spPr>
          <a:xfrm>
            <a:off x="6233008" y="4937760"/>
            <a:ext cx="5410048" cy="1188720"/>
          </a:xfrm>
          <a:prstGeom prst="roundRect">
            <a:avLst>
              <a:gd name="adj" fmla="val 7692"/>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34" name="Text 27"/>
          <p:cNvSpPr txBox="1"/>
          <p:nvPr/>
        </p:nvSpPr>
        <p:spPr>
          <a:xfrm>
            <a:off x="6461608" y="4937760"/>
            <a:ext cx="5044288" cy="1188720"/>
          </a:xfrm>
          <a:prstGeom prst="rect">
            <a:avLst/>
          </a:prstGeom>
          <a:noFill/>
          <a:ln/>
        </p:spPr>
        <p:txBody>
          <a:bodyPr wrap="square" lIns="0" tIns="0" rIns="0" bIns="0" rtlCol="0" anchor="ctr"/>
          <a:lstStyle/>
          <a:p>
            <a:pPr indent="0" marL="0">
              <a:spcAft>
                <a:spcPts val="300"/>
              </a:spcAft>
              <a:buNone/>
            </a:pPr>
            <a:r>
              <a:rPr lang="en-US" sz="1600" b="1" dirty="0">
                <a:solidFill>
                  <a:schemeClr val="tx1"/>
                </a:solidFill>
              </a:rPr>
              <a:t>Sync policy: </a:t>
            </a:r>
            <a:pPr indent="0" marL="0">
              <a:spcAft>
                <a:spcPts val="300"/>
              </a:spcAft>
              <a:buNone/>
            </a:pPr>
            <a:r>
              <a:rPr lang="en-US" sz="1500" b="1" dirty="0">
                <a:solidFill>
                  <a:schemeClr val="accent1"/>
                </a:solidFill>
                <a:latin typeface="Courier New" pitchFamily="34" charset="0"/>
                <a:ea typeface="Courier New" pitchFamily="34" charset="-122"/>
                <a:cs typeface="Courier New" pitchFamily="34" charset="-120"/>
              </a:rPr>
              <a:t>automated · prune · selfHeal</a:t>
            </a:r>
            <a:endParaRPr lang="en-US" sz="1400" dirty="0"/>
          </a:p>
          <a:p>
            <a:pPr indent="0" marL="0">
              <a:spcAft>
                <a:spcPts val="300"/>
              </a:spcAft>
              <a:buNone/>
            </a:pPr>
            <a:r>
              <a:rPr lang="en-US" sz="1400" dirty="0">
                <a:solidFill>
                  <a:schemeClr val="tx1"/>
                </a:solidFill>
              </a:rPr>
              <a:t>A deployment is a commit; a rollback is a git revert</a:t>
            </a:r>
            <a:endParaRPr lang="en-US" sz="1400" dirty="0"/>
          </a:p>
          <a:p>
            <a:pPr indent="0" marL="0">
              <a:spcAft>
                <a:spcPts val="300"/>
              </a:spcAft>
              <a:buNone/>
            </a:pPr>
            <a:r>
              <a:rPr lang="en-US" sz="1400" dirty="0">
                <a:solidFill>
                  <a:schemeClr val="tx1"/>
                </a:solidFill>
              </a:rPr>
              <a:t>kubectl scale or a deleted pod is put back to match Git</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329184"/>
          </a:xfrm>
          <a:prstGeom prst="rect">
            <a:avLst/>
          </a:prstGeom>
          <a:noFill/>
          <a:ln/>
        </p:spPr>
        <p:txBody>
          <a:bodyPr wrap="square" lIns="0" tIns="0" rIns="0" bIns="0" rtlCol="0" anchor="b"/>
          <a:lstStyle/>
          <a:p>
            <a:pPr algn="l" indent="0" marL="0">
              <a:buNone/>
            </a:pPr>
            <a:r>
              <a:rPr lang="en-US" sz="1400" b="1" dirty="0">
                <a:solidFill>
                  <a:schemeClr val="accent2"/>
                </a:solidFill>
              </a:rPr>
              <a:t>OBSERVABILITY</a:t>
            </a:r>
            <a:endParaRPr lang="en-US" sz="1400" dirty="0"/>
          </a:p>
        </p:txBody>
      </p:sp>
      <p:sp>
        <p:nvSpPr>
          <p:cNvPr id="3" name="Text 0"/>
          <p:cNvSpPr/>
          <p:nvPr>
            <p:ph idx="101" type="title" hasCustomPrompt="1"/>
          </p:nvPr>
        </p:nvSpPr>
        <p:spPr>
          <a:xfrm>
            <a:off x="548640" y="640080"/>
            <a:ext cx="11094415" cy="685800"/>
          </a:xfrm>
          <a:prstGeom prst="rect">
            <a:avLst/>
          </a:prstGeom>
          <a:noFill/>
          <a:ln/>
        </p:spPr>
        <p:txBody>
          <a:bodyPr wrap="square" lIns="0" tIns="0" rIns="0" bIns="0" rtlCol="0" anchor="ctr"/>
          <a:lstStyle/>
          <a:p>
            <a:pPr algn="l" indent="0" marL="0">
              <a:buNone/>
            </a:pPr>
            <a:r>
              <a:rPr lang="en-US" sz="3600" b="1" dirty="0">
                <a:solidFill>
                  <a:schemeClr val="tx1"/>
                </a:solidFill>
              </a:rPr>
              <a:t>Prometheus + Grafana on live app metrics</a:t>
            </a:r>
            <a:endParaRPr lang="en-US" sz="3600" dirty="0"/>
          </a:p>
        </p:txBody>
      </p:sp>
      <p:sp>
        <p:nvSpPr>
          <p:cNvPr id="4" name="Shape 2"/>
          <p:cNvSpPr/>
          <p:nvPr/>
        </p:nvSpPr>
        <p:spPr>
          <a:xfrm>
            <a:off x="548640" y="1554480"/>
            <a:ext cx="6766560" cy="3712210"/>
          </a:xfrm>
          <a:prstGeom prst="rect">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pic>
        <p:nvPicPr>
          <p:cNvPr id="5" name="Image 0" descr="Grafana dashboard: requests per second, 5xx ratio, p95 latency, pods up, latency percentiles and HPA replicas during the load test">    </p:cNvPr>
          <p:cNvPicPr>
            <a:picLocks noChangeAspect="1"/>
          </p:cNvPicPr>
          <p:nvPr/>
        </p:nvPicPr>
        <p:blipFill>
          <a:blip r:embed="rId1"/>
          <a:stretch>
            <a:fillRect/>
          </a:stretch>
        </p:blipFill>
        <p:spPr>
          <a:xfrm>
            <a:off x="548640" y="1554480"/>
            <a:ext cx="6766560" cy="3712210"/>
          </a:xfrm>
          <a:prstGeom prst="rect">
            <a:avLst/>
          </a:prstGeom>
        </p:spPr>
      </p:pic>
      <p:sp>
        <p:nvSpPr>
          <p:cNvPr id="6" name="Metric 1"/>
          <p:cNvSpPr/>
          <p:nvPr/>
        </p:nvSpPr>
        <p:spPr>
          <a:xfrm>
            <a:off x="548640" y="5495290"/>
            <a:ext cx="1554480" cy="649478"/>
          </a:xfrm>
          <a:prstGeom prst="roundRect">
            <a:avLst>
              <a:gd name="adj" fmla="val 14079"/>
            </a:avLst>
          </a:prstGeom>
          <a:solidFill>
            <a:schemeClr val="bg2"/>
          </a:solidFill>
          <a:ln/>
        </p:spPr>
      </p:sp>
      <p:sp>
        <p:nvSpPr>
          <p:cNvPr id="7" name="Text 4"/>
          <p:cNvSpPr txBox="1"/>
          <p:nvPr/>
        </p:nvSpPr>
        <p:spPr>
          <a:xfrm>
            <a:off x="713232" y="5495290"/>
            <a:ext cx="1325880" cy="649478"/>
          </a:xfrm>
          <a:prstGeom prst="rect">
            <a:avLst/>
          </a:prstGeom>
          <a:noFill/>
          <a:ln/>
        </p:spPr>
        <p:txBody>
          <a:bodyPr wrap="square" lIns="0" tIns="0" rIns="0" bIns="0" rtlCol="0" anchor="ctr"/>
          <a:lstStyle/>
          <a:p>
            <a:pPr indent="0" marL="0">
              <a:buNone/>
            </a:pPr>
            <a:r>
              <a:rPr lang="en-US" sz="2000" b="1" dirty="0">
                <a:solidFill>
                  <a:schemeClr val="accent1"/>
                </a:solidFill>
              </a:rPr>
              <a:t>16</a:t>
            </a:r>
            <a:endParaRPr lang="en-US" sz="1400" dirty="0"/>
          </a:p>
          <a:p>
            <a:pPr indent="0" marL="0">
              <a:buNone/>
            </a:pPr>
            <a:r>
              <a:rPr lang="en-US" sz="1300" dirty="0">
                <a:solidFill>
                  <a:schemeClr val="accent5"/>
                </a:solidFill>
              </a:rPr>
              <a:t>metric families</a:t>
            </a:r>
            <a:endParaRPr lang="en-US" sz="1400" dirty="0"/>
          </a:p>
        </p:txBody>
      </p:sp>
      <p:sp>
        <p:nvSpPr>
          <p:cNvPr id="8" name="Metric 2"/>
          <p:cNvSpPr/>
          <p:nvPr/>
        </p:nvSpPr>
        <p:spPr>
          <a:xfrm>
            <a:off x="2286000" y="5495290"/>
            <a:ext cx="1554480" cy="649478"/>
          </a:xfrm>
          <a:prstGeom prst="roundRect">
            <a:avLst>
              <a:gd name="adj" fmla="val 14079"/>
            </a:avLst>
          </a:prstGeom>
          <a:solidFill>
            <a:schemeClr val="bg2"/>
          </a:solidFill>
          <a:ln/>
        </p:spPr>
      </p:sp>
      <p:sp>
        <p:nvSpPr>
          <p:cNvPr id="9" name="Text 6"/>
          <p:cNvSpPr txBox="1"/>
          <p:nvPr/>
        </p:nvSpPr>
        <p:spPr>
          <a:xfrm>
            <a:off x="2450592" y="5495290"/>
            <a:ext cx="1325880" cy="649478"/>
          </a:xfrm>
          <a:prstGeom prst="rect">
            <a:avLst/>
          </a:prstGeom>
          <a:noFill/>
          <a:ln/>
        </p:spPr>
        <p:txBody>
          <a:bodyPr wrap="square" lIns="0" tIns="0" rIns="0" bIns="0" rtlCol="0" anchor="ctr"/>
          <a:lstStyle/>
          <a:p>
            <a:pPr indent="0" marL="0">
              <a:buNone/>
            </a:pPr>
            <a:r>
              <a:rPr lang="en-US" sz="2000" b="1" dirty="0">
                <a:solidFill>
                  <a:schemeClr val="accent1"/>
                </a:solidFill>
              </a:rPr>
              <a:t>15 s</a:t>
            </a:r>
            <a:endParaRPr lang="en-US" sz="1400" dirty="0"/>
          </a:p>
          <a:p>
            <a:pPr indent="0" marL="0">
              <a:buNone/>
            </a:pPr>
            <a:r>
              <a:rPr lang="en-US" sz="1300" dirty="0">
                <a:solidFill>
                  <a:schemeClr val="accent5"/>
                </a:solidFill>
              </a:rPr>
              <a:t>scrape interval</a:t>
            </a:r>
            <a:endParaRPr lang="en-US" sz="1400" dirty="0"/>
          </a:p>
        </p:txBody>
      </p:sp>
      <p:sp>
        <p:nvSpPr>
          <p:cNvPr id="10" name="Metric 3"/>
          <p:cNvSpPr/>
          <p:nvPr/>
        </p:nvSpPr>
        <p:spPr>
          <a:xfrm>
            <a:off x="4023360" y="5495290"/>
            <a:ext cx="1554480" cy="649478"/>
          </a:xfrm>
          <a:prstGeom prst="roundRect">
            <a:avLst>
              <a:gd name="adj" fmla="val 14079"/>
            </a:avLst>
          </a:prstGeom>
          <a:solidFill>
            <a:schemeClr val="bg2"/>
          </a:solidFill>
          <a:ln/>
        </p:spPr>
      </p:sp>
      <p:sp>
        <p:nvSpPr>
          <p:cNvPr id="11" name="Text 8"/>
          <p:cNvSpPr txBox="1"/>
          <p:nvPr/>
        </p:nvSpPr>
        <p:spPr>
          <a:xfrm>
            <a:off x="4187952" y="5495290"/>
            <a:ext cx="1325880" cy="649478"/>
          </a:xfrm>
          <a:prstGeom prst="rect">
            <a:avLst/>
          </a:prstGeom>
          <a:noFill/>
          <a:ln/>
        </p:spPr>
        <p:txBody>
          <a:bodyPr wrap="square" lIns="0" tIns="0" rIns="0" bIns="0" rtlCol="0" anchor="ctr"/>
          <a:lstStyle/>
          <a:p>
            <a:pPr indent="0" marL="0">
              <a:buNone/>
            </a:pPr>
            <a:r>
              <a:rPr lang="en-US" sz="2000" b="1" dirty="0">
                <a:solidFill>
                  <a:schemeClr val="accent1"/>
                </a:solidFill>
              </a:rPr>
              <a:t>8</a:t>
            </a:r>
            <a:endParaRPr lang="en-US" sz="1400" dirty="0"/>
          </a:p>
          <a:p>
            <a:pPr indent="0" marL="0">
              <a:buNone/>
            </a:pPr>
            <a:r>
              <a:rPr lang="en-US" sz="1300" dirty="0">
                <a:solidFill>
                  <a:schemeClr val="accent5"/>
                </a:solidFill>
              </a:rPr>
              <a:t>Grafana panels</a:t>
            </a:r>
            <a:endParaRPr lang="en-US" sz="1400" dirty="0"/>
          </a:p>
        </p:txBody>
      </p:sp>
      <p:sp>
        <p:nvSpPr>
          <p:cNvPr id="12" name="Metric 4"/>
          <p:cNvSpPr/>
          <p:nvPr/>
        </p:nvSpPr>
        <p:spPr>
          <a:xfrm>
            <a:off x="5760720" y="5495290"/>
            <a:ext cx="1554480" cy="649478"/>
          </a:xfrm>
          <a:prstGeom prst="roundRect">
            <a:avLst>
              <a:gd name="adj" fmla="val 14079"/>
            </a:avLst>
          </a:prstGeom>
          <a:solidFill>
            <a:schemeClr val="bg2"/>
          </a:solidFill>
          <a:ln/>
        </p:spPr>
      </p:sp>
      <p:sp>
        <p:nvSpPr>
          <p:cNvPr id="13" name="Text 10"/>
          <p:cNvSpPr txBox="1"/>
          <p:nvPr/>
        </p:nvSpPr>
        <p:spPr>
          <a:xfrm>
            <a:off x="5925312" y="5495290"/>
            <a:ext cx="1325880" cy="649478"/>
          </a:xfrm>
          <a:prstGeom prst="rect">
            <a:avLst/>
          </a:prstGeom>
          <a:noFill/>
          <a:ln/>
        </p:spPr>
        <p:txBody>
          <a:bodyPr wrap="square" lIns="0" tIns="0" rIns="0" bIns="0" rtlCol="0" anchor="ctr"/>
          <a:lstStyle/>
          <a:p>
            <a:pPr indent="0" marL="0">
              <a:buNone/>
            </a:pPr>
            <a:r>
              <a:rPr lang="en-US" sz="2000" b="1" dirty="0">
                <a:solidFill>
                  <a:schemeClr val="accent1"/>
                </a:solidFill>
              </a:rPr>
              <a:t>0 %</a:t>
            </a:r>
            <a:endParaRPr lang="en-US" sz="1400" dirty="0"/>
          </a:p>
          <a:p>
            <a:pPr indent="0" marL="0">
              <a:buNone/>
            </a:pPr>
            <a:r>
              <a:rPr lang="en-US" sz="1300" dirty="0">
                <a:solidFill>
                  <a:schemeClr val="accent5"/>
                </a:solidFill>
              </a:rPr>
              <a:t>5xx under load</a:t>
            </a:r>
            <a:endParaRPr lang="en-US" sz="1400" dirty="0"/>
          </a:p>
        </p:txBody>
      </p:sp>
      <p:sp>
        <p:nvSpPr>
          <p:cNvPr id="14" name="Targets"/>
          <p:cNvSpPr/>
          <p:nvPr/>
        </p:nvSpPr>
        <p:spPr>
          <a:xfrm>
            <a:off x="7635240" y="1554480"/>
            <a:ext cx="4007815" cy="1188720"/>
          </a:xfrm>
          <a:prstGeom prst="roundRect">
            <a:avLst>
              <a:gd name="adj" fmla="val 7692"/>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15" name="Shape 12"/>
          <p:cNvSpPr/>
          <p:nvPr/>
        </p:nvSpPr>
        <p:spPr>
          <a:xfrm>
            <a:off x="7818120" y="1737360"/>
            <a:ext cx="512064" cy="512064"/>
          </a:xfrm>
          <a:prstGeom prst="ellipse">
            <a:avLst/>
          </a:prstGeom>
          <a:solidFill>
            <a:schemeClr val="accent2"/>
          </a:solidFill>
          <a:ln/>
        </p:spPr>
      </p:sp>
      <p:pic>
        <p:nvPicPr>
          <p:cNvPr id="16" name="Image 1" descr="Prometheus">    </p:cNvPr>
          <p:cNvPicPr>
            <a:picLocks noChangeAspect="1"/>
          </p:cNvPicPr>
          <p:nvPr/>
        </p:nvPicPr>
        <p:blipFill>
          <a:blip r:embed="rId2"/>
          <a:stretch>
            <a:fillRect/>
          </a:stretch>
        </p:blipFill>
        <p:spPr>
          <a:xfrm>
            <a:off x="7930774" y="1850014"/>
            <a:ext cx="286756" cy="286756"/>
          </a:xfrm>
          <a:prstGeom prst="rect">
            <a:avLst/>
          </a:prstGeom>
        </p:spPr>
      </p:pic>
      <p:sp>
        <p:nvSpPr>
          <p:cNvPr id="17" name="Text 13"/>
          <p:cNvSpPr txBox="1"/>
          <p:nvPr/>
        </p:nvSpPr>
        <p:spPr>
          <a:xfrm>
            <a:off x="8476488" y="1554480"/>
            <a:ext cx="3047695" cy="1188720"/>
          </a:xfrm>
          <a:prstGeom prst="rect">
            <a:avLst/>
          </a:prstGeom>
          <a:noFill/>
          <a:ln/>
        </p:spPr>
        <p:txBody>
          <a:bodyPr wrap="square" lIns="0" tIns="0" rIns="0" bIns="0" rtlCol="0" anchor="ctr"/>
          <a:lstStyle/>
          <a:p>
            <a:pPr indent="0" marL="0">
              <a:buNone/>
            </a:pPr>
            <a:r>
              <a:rPr lang="en-US" sz="1800" b="1" dirty="0">
                <a:solidFill>
                  <a:schemeClr val="tx1"/>
                </a:solidFill>
              </a:rPr>
              <a:t>Targets: UP</a:t>
            </a:r>
            <a:endParaRPr lang="en-US" sz="1400" dirty="0"/>
          </a:p>
          <a:p>
            <a:pPr indent="0" marL="0">
              <a:buNone/>
            </a:pPr>
            <a:r>
              <a:rPr lang="en-US" sz="1300" dirty="0">
                <a:solidFill>
                  <a:schemeClr val="accent5"/>
                </a:solidFill>
              </a:rPr>
              <a:t>ServiceMonitor scrapes every backend pod</a:t>
            </a:r>
            <a:endParaRPr lang="en-US" sz="1400" dirty="0"/>
          </a:p>
        </p:txBody>
      </p:sp>
      <p:sp>
        <p:nvSpPr>
          <p:cNvPr id="18" name="PromQL"/>
          <p:cNvSpPr/>
          <p:nvPr/>
        </p:nvSpPr>
        <p:spPr>
          <a:xfrm>
            <a:off x="7635240" y="2926080"/>
            <a:ext cx="4007815" cy="1783080"/>
          </a:xfrm>
          <a:prstGeom prst="roundRect">
            <a:avLst>
              <a:gd name="adj" fmla="val 5128"/>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19" name="Text 15"/>
          <p:cNvSpPr txBox="1"/>
          <p:nvPr/>
        </p:nvSpPr>
        <p:spPr>
          <a:xfrm>
            <a:off x="7836408" y="3017520"/>
            <a:ext cx="3642055" cy="365760"/>
          </a:xfrm>
          <a:prstGeom prst="rect">
            <a:avLst/>
          </a:prstGeom>
          <a:noFill/>
          <a:ln/>
        </p:spPr>
        <p:txBody>
          <a:bodyPr wrap="square" lIns="0" tIns="0" rIns="0" bIns="0" rtlCol="0" anchor="ctr"/>
          <a:lstStyle/>
          <a:p>
            <a:pPr indent="0" marL="0">
              <a:buNone/>
            </a:pPr>
            <a:r>
              <a:rPr lang="en-US" sz="1600" b="1" dirty="0">
                <a:solidFill>
                  <a:schemeClr val="tx1"/>
                </a:solidFill>
              </a:rPr>
              <a:t>PromQL I used</a:t>
            </a:r>
            <a:endParaRPr lang="en-US" sz="1600" dirty="0"/>
          </a:p>
        </p:txBody>
      </p:sp>
      <p:sp>
        <p:nvSpPr>
          <p:cNvPr id="20" name="Shape 16"/>
          <p:cNvSpPr/>
          <p:nvPr/>
        </p:nvSpPr>
        <p:spPr>
          <a:xfrm>
            <a:off x="7818120" y="3429000"/>
            <a:ext cx="3642055" cy="1143000"/>
          </a:xfrm>
          <a:prstGeom prst="roundRect">
            <a:avLst>
              <a:gd name="adj" fmla="val 4800"/>
            </a:avLst>
          </a:prstGeom>
          <a:solidFill>
            <a:schemeClr val="tx1"/>
          </a:solidFill>
          <a:ln/>
        </p:spPr>
      </p:sp>
      <p:sp>
        <p:nvSpPr>
          <p:cNvPr id="21" name="Text 17"/>
          <p:cNvSpPr txBox="1"/>
          <p:nvPr/>
        </p:nvSpPr>
        <p:spPr>
          <a:xfrm>
            <a:off x="7955280" y="3429000"/>
            <a:ext cx="3459175" cy="1143000"/>
          </a:xfrm>
          <a:prstGeom prst="rect">
            <a:avLst/>
          </a:prstGeom>
          <a:noFill/>
          <a:ln/>
        </p:spPr>
        <p:txBody>
          <a:bodyPr wrap="square" lIns="0" tIns="0" rIns="0" bIns="0" rtlCol="0" anchor="ctr"/>
          <a:lstStyle/>
          <a:p>
            <a:pPr indent="0" marL="0">
              <a:spcAft>
                <a:spcPts val="200"/>
              </a:spcAft>
              <a:buNone/>
            </a:pPr>
            <a:r>
              <a:rPr lang="en-US" sz="1200" dirty="0">
                <a:solidFill>
                  <a:schemeClr val="bg1"/>
                </a:solidFill>
                <a:latin typeface="Courier New" pitchFamily="34" charset="0"/>
                <a:ea typeface="Courier New" pitchFamily="34" charset="-122"/>
                <a:cs typeface="Courier New" pitchFamily="34" charset="-120"/>
              </a:rPr>
              <a:t>up{namespace="expense-tracker"}</a:t>
            </a:r>
            <a:endParaRPr lang="en-US" sz="1200" dirty="0"/>
          </a:p>
          <a:p>
            <a:pPr indent="0" marL="0">
              <a:spcAft>
                <a:spcPts val="200"/>
              </a:spcAft>
              <a:buNone/>
            </a:pPr>
            <a:r>
              <a:rPr lang="en-US" sz="1200" dirty="0">
                <a:solidFill>
                  <a:schemeClr val="bg1"/>
                </a:solidFill>
                <a:latin typeface="Courier New" pitchFamily="34" charset="0"/>
                <a:ea typeface="Courier New" pitchFamily="34" charset="-122"/>
                <a:cs typeface="Courier New" pitchFamily="34" charset="-120"/>
              </a:rPr>
              <a:t>sum(rate(http_requests_total[5m]))</a:t>
            </a:r>
            <a:endParaRPr lang="en-US" sz="1200" dirty="0"/>
          </a:p>
          <a:p>
            <a:pPr indent="0" marL="0">
              <a:spcAft>
                <a:spcPts val="200"/>
              </a:spcAft>
              <a:buNone/>
            </a:pPr>
            <a:r>
              <a:rPr lang="en-US" sz="1200" dirty="0">
                <a:solidFill>
                  <a:schemeClr val="bg1"/>
                </a:solidFill>
                <a:latin typeface="Courier New" pitchFamily="34" charset="0"/>
                <a:ea typeface="Courier New" pitchFamily="34" charset="-122"/>
                <a:cs typeface="Courier New" pitchFamily="34" charset="-120"/>
              </a:rPr>
              <a:t>histogram_quantile(0.95, …)</a:t>
            </a:r>
            <a:endParaRPr lang="en-US" sz="1200" dirty="0"/>
          </a:p>
          <a:p>
            <a:pPr indent="0" marL="0">
              <a:spcAft>
                <a:spcPts val="200"/>
              </a:spcAft>
              <a:buNone/>
            </a:pPr>
            <a:r>
              <a:rPr lang="en-US" sz="1200" i="1" dirty="0">
                <a:solidFill>
                  <a:schemeClr val="accent6"/>
                </a:solidFill>
                <a:latin typeface="Calibri" pitchFamily="34" charset="0"/>
                <a:ea typeface="Calibri" pitchFamily="34" charset="-122"/>
                <a:cs typeface="Calibri" pitchFamily="34" charset="-120"/>
              </a:rPr>
              <a:t>5xx ratio · HPA replicas</a:t>
            </a:r>
            <a:endParaRPr lang="en-US" sz="1200" dirty="0"/>
          </a:p>
        </p:txBody>
      </p:sp>
      <p:sp>
        <p:nvSpPr>
          <p:cNvPr id="22" name="Alerts"/>
          <p:cNvSpPr/>
          <p:nvPr/>
        </p:nvSpPr>
        <p:spPr>
          <a:xfrm>
            <a:off x="7635240" y="4892040"/>
            <a:ext cx="4007815" cy="1252728"/>
          </a:xfrm>
          <a:prstGeom prst="roundRect">
            <a:avLst>
              <a:gd name="adj" fmla="val 7299"/>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23" name="Shape 19"/>
          <p:cNvSpPr/>
          <p:nvPr/>
        </p:nvSpPr>
        <p:spPr>
          <a:xfrm>
            <a:off x="7818120" y="5029200"/>
            <a:ext cx="457200" cy="457200"/>
          </a:xfrm>
          <a:prstGeom prst="ellipse">
            <a:avLst/>
          </a:prstGeom>
          <a:solidFill>
            <a:schemeClr val="accent2"/>
          </a:solidFill>
          <a:ln/>
        </p:spPr>
      </p:sp>
      <p:pic>
        <p:nvPicPr>
          <p:cNvPr id="24" name="Image 2" descr="Alerts">    </p:cNvPr>
          <p:cNvPicPr>
            <a:picLocks noChangeAspect="1"/>
          </p:cNvPicPr>
          <p:nvPr/>
        </p:nvPicPr>
        <p:blipFill>
          <a:blip r:embed="rId3"/>
          <a:stretch>
            <a:fillRect/>
          </a:stretch>
        </p:blipFill>
        <p:spPr>
          <a:xfrm>
            <a:off x="7918704" y="5129784"/>
            <a:ext cx="256032" cy="256032"/>
          </a:xfrm>
          <a:prstGeom prst="rect">
            <a:avLst/>
          </a:prstGeom>
        </p:spPr>
      </p:pic>
      <p:sp>
        <p:nvSpPr>
          <p:cNvPr id="25" name="Text 20"/>
          <p:cNvSpPr txBox="1"/>
          <p:nvPr/>
        </p:nvSpPr>
        <p:spPr>
          <a:xfrm>
            <a:off x="8412480" y="5029200"/>
            <a:ext cx="3093415" cy="457200"/>
          </a:xfrm>
          <a:prstGeom prst="rect">
            <a:avLst/>
          </a:prstGeom>
          <a:noFill/>
          <a:ln/>
        </p:spPr>
        <p:txBody>
          <a:bodyPr wrap="square" lIns="0" tIns="0" rIns="0" bIns="0" rtlCol="0" anchor="ctr"/>
          <a:lstStyle/>
          <a:p>
            <a:pPr indent="0" marL="0">
              <a:buNone/>
            </a:pPr>
            <a:r>
              <a:rPr lang="en-US" sz="1600" b="1" dirty="0">
                <a:solidFill>
                  <a:schemeClr val="tx1"/>
                </a:solidFill>
              </a:rPr>
              <a:t>5 alert rules</a:t>
            </a:r>
            <a:endParaRPr lang="en-US" sz="1600" dirty="0"/>
          </a:p>
        </p:txBody>
      </p:sp>
      <p:sp>
        <p:nvSpPr>
          <p:cNvPr id="26" name="Text 21"/>
          <p:cNvSpPr txBox="1"/>
          <p:nvPr/>
        </p:nvSpPr>
        <p:spPr>
          <a:xfrm>
            <a:off x="7836408" y="5504688"/>
            <a:ext cx="3642055" cy="566928"/>
          </a:xfrm>
          <a:prstGeom prst="rect">
            <a:avLst/>
          </a:prstGeom>
          <a:noFill/>
          <a:ln/>
        </p:spPr>
        <p:txBody>
          <a:bodyPr wrap="square" lIns="0" tIns="0" rIns="0" bIns="0" rtlCol="0" anchor="t"/>
          <a:lstStyle/>
          <a:p>
            <a:pPr indent="0" marL="0">
              <a:buNone/>
            </a:pPr>
            <a:r>
              <a:rPr lang="en-US" sz="1300" dirty="0">
                <a:solidFill>
                  <a:schemeClr val="accent5"/>
                </a:solidFill>
              </a:rPr>
              <a:t>BackendDown · CrashLooping · HighErrorRate · HighLatencyP95 · HpaAtMax</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7315200" cy="329184"/>
          </a:xfrm>
          <a:prstGeom prst="rect">
            <a:avLst/>
          </a:prstGeom>
          <a:noFill/>
          <a:ln/>
        </p:spPr>
        <p:txBody>
          <a:bodyPr wrap="square" lIns="0" tIns="0" rIns="0" bIns="0" rtlCol="0" anchor="b"/>
          <a:lstStyle/>
          <a:p>
            <a:pPr algn="l" indent="0" marL="0">
              <a:buNone/>
            </a:pPr>
            <a:r>
              <a:rPr lang="en-US" sz="1400" b="1" dirty="0">
                <a:solidFill>
                  <a:schemeClr val="accent2"/>
                </a:solidFill>
              </a:rPr>
              <a:t>WRAP-UP</a:t>
            </a:r>
            <a:endParaRPr lang="en-US" sz="1400" dirty="0"/>
          </a:p>
        </p:txBody>
      </p:sp>
      <p:sp>
        <p:nvSpPr>
          <p:cNvPr id="3" name="Text 1"/>
          <p:cNvSpPr/>
          <p:nvPr>
            <p:ph idx="102" type="title" hasCustomPrompt="1"/>
          </p:nvPr>
        </p:nvSpPr>
        <p:spPr>
          <a:xfrm>
            <a:off x="548640" y="640080"/>
            <a:ext cx="7315200" cy="685800"/>
          </a:xfrm>
          <a:prstGeom prst="rect">
            <a:avLst/>
          </a:prstGeom>
          <a:noFill/>
          <a:ln/>
        </p:spPr>
        <p:txBody>
          <a:bodyPr wrap="square" lIns="0" tIns="0" rIns="0" bIns="0" rtlCol="0" anchor="ctr"/>
          <a:lstStyle/>
          <a:p>
            <a:pPr algn="l" indent="0" marL="0">
              <a:buNone/>
            </a:pPr>
            <a:r>
              <a:rPr lang="en-US" sz="3600" b="1" dirty="0">
                <a:solidFill>
                  <a:schemeClr val="tx1"/>
                </a:solidFill>
              </a:rPr>
              <a:t>Key learnings</a:t>
            </a:r>
            <a:endParaRPr lang="en-US" sz="3600" dirty="0"/>
          </a:p>
        </p:txBody>
      </p:sp>
      <p:sp>
        <p:nvSpPr>
          <p:cNvPr id="4" name="Learning 1"/>
          <p:cNvSpPr/>
          <p:nvPr/>
        </p:nvSpPr>
        <p:spPr>
          <a:xfrm>
            <a:off x="548640" y="1554480"/>
            <a:ext cx="3520440" cy="1426464"/>
          </a:xfrm>
          <a:prstGeom prst="roundRect">
            <a:avLst>
              <a:gd name="adj" fmla="val 6410"/>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731520" y="1719072"/>
            <a:ext cx="420624" cy="420624"/>
          </a:xfrm>
          <a:prstGeom prst="ellipse">
            <a:avLst/>
          </a:prstGeom>
          <a:solidFill>
            <a:schemeClr val="accent2"/>
          </a:solidFill>
          <a:ln/>
        </p:spPr>
      </p:sp>
      <p:sp>
        <p:nvSpPr>
          <p:cNvPr id="6" name="Text 4"/>
          <p:cNvSpPr txBox="1"/>
          <p:nvPr/>
        </p:nvSpPr>
        <p:spPr>
          <a:xfrm>
            <a:off x="731520" y="171907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280160" y="1719072"/>
            <a:ext cx="2651760" cy="420624"/>
          </a:xfrm>
          <a:prstGeom prst="rect">
            <a:avLst/>
          </a:prstGeom>
          <a:noFill/>
          <a:ln/>
        </p:spPr>
        <p:txBody>
          <a:bodyPr wrap="square" lIns="0" tIns="0" rIns="0" bIns="0" rtlCol="0" anchor="ctr"/>
          <a:lstStyle/>
          <a:p>
            <a:pPr indent="0" marL="0">
              <a:buNone/>
            </a:pPr>
            <a:r>
              <a:rPr lang="en-US" sz="1600" b="1" dirty="0">
                <a:solidFill>
                  <a:schemeClr val="tx1"/>
                </a:solidFill>
              </a:rPr>
              <a:t>Scanners read your docs too</a:t>
            </a:r>
            <a:endParaRPr lang="en-US" sz="1600" dirty="0"/>
          </a:p>
        </p:txBody>
      </p:sp>
      <p:sp>
        <p:nvSpPr>
          <p:cNvPr id="8" name="Text 6"/>
          <p:cNvSpPr txBox="1"/>
          <p:nvPr/>
        </p:nvSpPr>
        <p:spPr>
          <a:xfrm>
            <a:off x="731520" y="2212848"/>
            <a:ext cx="3200400" cy="694944"/>
          </a:xfrm>
          <a:prstGeom prst="rect">
            <a:avLst/>
          </a:prstGeom>
          <a:noFill/>
          <a:ln/>
        </p:spPr>
        <p:txBody>
          <a:bodyPr wrap="square" lIns="0" tIns="0" rIns="0" bIns="0" rtlCol="0" anchor="t"/>
          <a:lstStyle/>
          <a:p>
            <a:pPr indent="0" marL="0">
              <a:buNone/>
            </a:pPr>
            <a:r>
              <a:rPr lang="en-US" sz="1400" dirty="0">
                <a:solidFill>
                  <a:schemeClr val="accent5"/>
                </a:solidFill>
              </a:rPr>
              <a:t>Run 1 failed: my Gitleaks rule matched a README example. I fixed the docs and kept the rule.</a:t>
            </a:r>
            <a:endParaRPr lang="en-US" sz="1400" dirty="0"/>
          </a:p>
        </p:txBody>
      </p:sp>
      <p:sp>
        <p:nvSpPr>
          <p:cNvPr id="9" name="Learning 2"/>
          <p:cNvSpPr/>
          <p:nvPr/>
        </p:nvSpPr>
        <p:spPr>
          <a:xfrm>
            <a:off x="4343400" y="1554480"/>
            <a:ext cx="3520440" cy="1426464"/>
          </a:xfrm>
          <a:prstGeom prst="roundRect">
            <a:avLst>
              <a:gd name="adj" fmla="val 6410"/>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10" name="Shape 8"/>
          <p:cNvSpPr/>
          <p:nvPr/>
        </p:nvSpPr>
        <p:spPr>
          <a:xfrm>
            <a:off x="4526280" y="1719072"/>
            <a:ext cx="420624" cy="420624"/>
          </a:xfrm>
          <a:prstGeom prst="ellipse">
            <a:avLst/>
          </a:prstGeom>
          <a:solidFill>
            <a:schemeClr val="accent2"/>
          </a:solidFill>
          <a:ln/>
        </p:spPr>
      </p:sp>
      <p:sp>
        <p:nvSpPr>
          <p:cNvPr id="11" name="Text 9"/>
          <p:cNvSpPr txBox="1"/>
          <p:nvPr/>
        </p:nvSpPr>
        <p:spPr>
          <a:xfrm>
            <a:off x="4526280" y="171907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5074920" y="1719072"/>
            <a:ext cx="2651760" cy="420624"/>
          </a:xfrm>
          <a:prstGeom prst="rect">
            <a:avLst/>
          </a:prstGeom>
          <a:noFill/>
          <a:ln/>
        </p:spPr>
        <p:txBody>
          <a:bodyPr wrap="square" lIns="0" tIns="0" rIns="0" bIns="0" rtlCol="0" anchor="ctr"/>
          <a:lstStyle/>
          <a:p>
            <a:pPr indent="0" marL="0">
              <a:buNone/>
            </a:pPr>
            <a:r>
              <a:rPr lang="en-US" sz="1600" b="1" dirty="0">
                <a:solidFill>
                  <a:schemeClr val="tx1"/>
                </a:solidFill>
              </a:rPr>
              <a:t>Config keys can fail silently</a:t>
            </a:r>
            <a:endParaRPr lang="en-US" sz="1600" dirty="0"/>
          </a:p>
        </p:txBody>
      </p:sp>
      <p:sp>
        <p:nvSpPr>
          <p:cNvPr id="13" name="Text 11"/>
          <p:cNvSpPr txBox="1"/>
          <p:nvPr/>
        </p:nvSpPr>
        <p:spPr>
          <a:xfrm>
            <a:off x="4526280" y="2212848"/>
            <a:ext cx="3200400" cy="694944"/>
          </a:xfrm>
          <a:prstGeom prst="rect">
            <a:avLst/>
          </a:prstGeom>
          <a:noFill/>
          <a:ln/>
        </p:spPr>
        <p:txBody>
          <a:bodyPr wrap="square" lIns="0" tIns="0" rIns="0" bIns="0" rtlCol="0" anchor="t"/>
          <a:lstStyle/>
          <a:p>
            <a:pPr indent="0" marL="0">
              <a:buNone/>
            </a:pPr>
            <a:r>
              <a:rPr lang="en-US" sz="1400" dirty="0">
                <a:solidFill>
                  <a:schemeClr val="accent5"/>
                </a:solidFill>
              </a:rPr>
              <a:t>ignore-unfixed at the top level of trivy.yaml did nothing (44 HIGH, exit 1); it goes under vulnerability.</a:t>
            </a:r>
            <a:endParaRPr lang="en-US" sz="1400" dirty="0"/>
          </a:p>
        </p:txBody>
      </p:sp>
      <p:sp>
        <p:nvSpPr>
          <p:cNvPr id="14" name="Learning 3"/>
          <p:cNvSpPr/>
          <p:nvPr/>
        </p:nvSpPr>
        <p:spPr>
          <a:xfrm>
            <a:off x="548640" y="3163824"/>
            <a:ext cx="3520440" cy="1426464"/>
          </a:xfrm>
          <a:prstGeom prst="roundRect">
            <a:avLst>
              <a:gd name="adj" fmla="val 6410"/>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15" name="Shape 13"/>
          <p:cNvSpPr/>
          <p:nvPr/>
        </p:nvSpPr>
        <p:spPr>
          <a:xfrm>
            <a:off x="731520" y="3328416"/>
            <a:ext cx="420624" cy="420624"/>
          </a:xfrm>
          <a:prstGeom prst="ellipse">
            <a:avLst/>
          </a:prstGeom>
          <a:solidFill>
            <a:schemeClr val="accent2"/>
          </a:solidFill>
          <a:ln/>
        </p:spPr>
      </p:sp>
      <p:sp>
        <p:nvSpPr>
          <p:cNvPr id="16" name="Text 14"/>
          <p:cNvSpPr txBox="1"/>
          <p:nvPr/>
        </p:nvSpPr>
        <p:spPr>
          <a:xfrm>
            <a:off x="731520" y="332841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5"/>
          <p:cNvSpPr txBox="1"/>
          <p:nvPr/>
        </p:nvSpPr>
        <p:spPr>
          <a:xfrm>
            <a:off x="1280160" y="3328416"/>
            <a:ext cx="2651760" cy="420624"/>
          </a:xfrm>
          <a:prstGeom prst="rect">
            <a:avLst/>
          </a:prstGeom>
          <a:noFill/>
          <a:ln/>
        </p:spPr>
        <p:txBody>
          <a:bodyPr wrap="square" lIns="0" tIns="0" rIns="0" bIns="0" rtlCol="0" anchor="ctr"/>
          <a:lstStyle/>
          <a:p>
            <a:pPr indent="0" marL="0">
              <a:buNone/>
            </a:pPr>
            <a:r>
              <a:rPr lang="en-US" sz="1600" b="1" dirty="0">
                <a:solidFill>
                  <a:schemeClr val="tx1"/>
                </a:solidFill>
              </a:rPr>
              <a:t>pip is attack surface</a:t>
            </a:r>
            <a:endParaRPr lang="en-US" sz="1600" dirty="0"/>
          </a:p>
        </p:txBody>
      </p:sp>
      <p:sp>
        <p:nvSpPr>
          <p:cNvPr id="18" name="Text 16"/>
          <p:cNvSpPr txBox="1"/>
          <p:nvPr/>
        </p:nvSpPr>
        <p:spPr>
          <a:xfrm>
            <a:off x="731520" y="3822192"/>
            <a:ext cx="3200400" cy="694944"/>
          </a:xfrm>
          <a:prstGeom prst="rect">
            <a:avLst/>
          </a:prstGeom>
          <a:noFill/>
          <a:ln/>
        </p:spPr>
        <p:txBody>
          <a:bodyPr wrap="square" lIns="0" tIns="0" rIns="0" bIns="0" rtlCol="0" anchor="t"/>
          <a:lstStyle/>
          <a:p>
            <a:pPr indent="0" marL="0">
              <a:buNone/>
            </a:pPr>
            <a:r>
              <a:rPr lang="en-US" sz="1400" dirty="0">
                <a:solidFill>
                  <a:schemeClr val="accent5"/>
                </a:solidFill>
              </a:rPr>
              <a:t>Removed pip, setuptools and wheel from the runtime image, and upgraded the nginx base to 1.30.</a:t>
            </a:r>
            <a:endParaRPr lang="en-US" sz="1400" dirty="0"/>
          </a:p>
        </p:txBody>
      </p:sp>
      <p:sp>
        <p:nvSpPr>
          <p:cNvPr id="19" name="Learning 4"/>
          <p:cNvSpPr/>
          <p:nvPr/>
        </p:nvSpPr>
        <p:spPr>
          <a:xfrm>
            <a:off x="4343400" y="3163824"/>
            <a:ext cx="3520440" cy="1426464"/>
          </a:xfrm>
          <a:prstGeom prst="roundRect">
            <a:avLst>
              <a:gd name="adj" fmla="val 6410"/>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20" name="Shape 18"/>
          <p:cNvSpPr/>
          <p:nvPr/>
        </p:nvSpPr>
        <p:spPr>
          <a:xfrm>
            <a:off x="4526280" y="3328416"/>
            <a:ext cx="420624" cy="420624"/>
          </a:xfrm>
          <a:prstGeom prst="ellipse">
            <a:avLst/>
          </a:prstGeom>
          <a:solidFill>
            <a:schemeClr val="accent2"/>
          </a:solidFill>
          <a:ln/>
        </p:spPr>
      </p:sp>
      <p:sp>
        <p:nvSpPr>
          <p:cNvPr id="21" name="Text 19"/>
          <p:cNvSpPr txBox="1"/>
          <p:nvPr/>
        </p:nvSpPr>
        <p:spPr>
          <a:xfrm>
            <a:off x="4526280" y="332841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20"/>
          <p:cNvSpPr txBox="1"/>
          <p:nvPr/>
        </p:nvSpPr>
        <p:spPr>
          <a:xfrm>
            <a:off x="5074920" y="3328416"/>
            <a:ext cx="2651760" cy="420624"/>
          </a:xfrm>
          <a:prstGeom prst="rect">
            <a:avLst/>
          </a:prstGeom>
          <a:noFill/>
          <a:ln/>
        </p:spPr>
        <p:txBody>
          <a:bodyPr wrap="square" lIns="0" tIns="0" rIns="0" bIns="0" rtlCol="0" anchor="ctr"/>
          <a:lstStyle/>
          <a:p>
            <a:pPr indent="0" marL="0">
              <a:buNone/>
            </a:pPr>
            <a:r>
              <a:rPr lang="en-US" sz="1600" b="1" dirty="0">
                <a:solidFill>
                  <a:schemeClr val="tx1"/>
                </a:solidFill>
              </a:rPr>
              <a:t>Monitors select Services</a:t>
            </a:r>
            <a:endParaRPr lang="en-US" sz="1600" dirty="0"/>
          </a:p>
        </p:txBody>
      </p:sp>
      <p:sp>
        <p:nvSpPr>
          <p:cNvPr id="23" name="Text 21"/>
          <p:cNvSpPr txBox="1"/>
          <p:nvPr/>
        </p:nvSpPr>
        <p:spPr>
          <a:xfrm>
            <a:off x="4526280" y="3822192"/>
            <a:ext cx="3200400" cy="694944"/>
          </a:xfrm>
          <a:prstGeom prst="rect">
            <a:avLst/>
          </a:prstGeom>
          <a:noFill/>
          <a:ln/>
        </p:spPr>
        <p:txBody>
          <a:bodyPr wrap="square" lIns="0" tIns="0" rIns="0" bIns="0" rtlCol="0" anchor="t"/>
          <a:lstStyle/>
          <a:p>
            <a:pPr indent="0" marL="0">
              <a:buNone/>
            </a:pPr>
            <a:r>
              <a:rPr lang="en-US" sz="1400" dirty="0">
                <a:solidFill>
                  <a:schemeClr val="accent5"/>
                </a:solidFill>
              </a:rPr>
              <a:t>My ServiceMonitor used pod labels and found no target; Helm revision 2 fixed the selector.</a:t>
            </a:r>
            <a:endParaRPr lang="en-US" sz="1400" dirty="0"/>
          </a:p>
        </p:txBody>
      </p:sp>
      <p:sp>
        <p:nvSpPr>
          <p:cNvPr id="24" name="Learning 5"/>
          <p:cNvSpPr/>
          <p:nvPr/>
        </p:nvSpPr>
        <p:spPr>
          <a:xfrm>
            <a:off x="548640" y="4773168"/>
            <a:ext cx="3520440" cy="1426464"/>
          </a:xfrm>
          <a:prstGeom prst="roundRect">
            <a:avLst>
              <a:gd name="adj" fmla="val 6410"/>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25" name="Shape 23"/>
          <p:cNvSpPr/>
          <p:nvPr/>
        </p:nvSpPr>
        <p:spPr>
          <a:xfrm>
            <a:off x="731520" y="4937760"/>
            <a:ext cx="420624" cy="420624"/>
          </a:xfrm>
          <a:prstGeom prst="ellipse">
            <a:avLst/>
          </a:prstGeom>
          <a:solidFill>
            <a:schemeClr val="accent2"/>
          </a:solidFill>
          <a:ln/>
        </p:spPr>
      </p:sp>
      <p:sp>
        <p:nvSpPr>
          <p:cNvPr id="26" name="Text 24"/>
          <p:cNvSpPr txBox="1"/>
          <p:nvPr/>
        </p:nvSpPr>
        <p:spPr>
          <a:xfrm>
            <a:off x="731520" y="49377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7" name="Text 25"/>
          <p:cNvSpPr txBox="1"/>
          <p:nvPr/>
        </p:nvSpPr>
        <p:spPr>
          <a:xfrm>
            <a:off x="1280160" y="4937760"/>
            <a:ext cx="2651760" cy="420624"/>
          </a:xfrm>
          <a:prstGeom prst="rect">
            <a:avLst/>
          </a:prstGeom>
          <a:noFill/>
          <a:ln/>
        </p:spPr>
        <p:txBody>
          <a:bodyPr wrap="square" lIns="0" tIns="0" rIns="0" bIns="0" rtlCol="0" anchor="ctr"/>
          <a:lstStyle/>
          <a:p>
            <a:pPr indent="0" marL="0">
              <a:buNone/>
            </a:pPr>
            <a:r>
              <a:rPr lang="en-US" sz="1600" b="1" dirty="0">
                <a:solidFill>
                  <a:schemeClr val="tx1"/>
                </a:solidFill>
              </a:rPr>
              <a:t>PSA restricted is a free test</a:t>
            </a:r>
            <a:endParaRPr lang="en-US" sz="1600" dirty="0"/>
          </a:p>
        </p:txBody>
      </p:sp>
      <p:sp>
        <p:nvSpPr>
          <p:cNvPr id="28" name="Text 26"/>
          <p:cNvSpPr txBox="1"/>
          <p:nvPr/>
        </p:nvSpPr>
        <p:spPr>
          <a:xfrm>
            <a:off x="731520" y="5431536"/>
            <a:ext cx="3200400" cy="694944"/>
          </a:xfrm>
          <a:prstGeom prst="rect">
            <a:avLst/>
          </a:prstGeom>
          <a:noFill/>
          <a:ln/>
        </p:spPr>
        <p:txBody>
          <a:bodyPr wrap="square" lIns="0" tIns="0" rIns="0" bIns="0" rtlCol="0" anchor="t"/>
          <a:lstStyle/>
          <a:p>
            <a:pPr indent="0" marL="0">
              <a:buNone/>
            </a:pPr>
            <a:r>
              <a:rPr lang="en-US" sz="1400" dirty="0">
                <a:solidFill>
                  <a:schemeClr val="accent5"/>
                </a:solidFill>
              </a:rPr>
              <a:t>It forced runAsNonRoot, seccomp and drop ALL on every container, Postgres included.</a:t>
            </a:r>
            <a:endParaRPr lang="en-US" sz="1400" dirty="0"/>
          </a:p>
        </p:txBody>
      </p:sp>
      <p:sp>
        <p:nvSpPr>
          <p:cNvPr id="29" name="Learning 6"/>
          <p:cNvSpPr/>
          <p:nvPr/>
        </p:nvSpPr>
        <p:spPr>
          <a:xfrm>
            <a:off x="4343400" y="4773168"/>
            <a:ext cx="3520440" cy="1426464"/>
          </a:xfrm>
          <a:prstGeom prst="roundRect">
            <a:avLst>
              <a:gd name="adj" fmla="val 6410"/>
            </a:avLst>
          </a:prstGeom>
          <a:solidFill>
            <a:schemeClr val="bg1"/>
          </a:solidFill>
          <a:ln w="12700">
            <a:solidFill>
              <a:schemeClr val="accent6"/>
            </a:solidFill>
            <a:prstDash val="solid"/>
          </a:ln>
          <a:effectLst>
            <a:outerShdw sx="100000" sy="100000" kx="0" ky="0" algn="bl" rotWithShape="0" blurRad="101600" dist="25400" dir="5400000">
              <a:srgbClr val="000000">
                <a:alpha val="10000"/>
              </a:srgbClr>
            </a:outerShdw>
          </a:effectLst>
        </p:spPr>
      </p:sp>
      <p:sp>
        <p:nvSpPr>
          <p:cNvPr id="30" name="Shape 28"/>
          <p:cNvSpPr/>
          <p:nvPr/>
        </p:nvSpPr>
        <p:spPr>
          <a:xfrm>
            <a:off x="4526280" y="4937760"/>
            <a:ext cx="420624" cy="420624"/>
          </a:xfrm>
          <a:prstGeom prst="ellipse">
            <a:avLst/>
          </a:prstGeom>
          <a:solidFill>
            <a:schemeClr val="accent2"/>
          </a:solidFill>
          <a:ln/>
        </p:spPr>
      </p:sp>
      <p:sp>
        <p:nvSpPr>
          <p:cNvPr id="31" name="Text 29"/>
          <p:cNvSpPr txBox="1"/>
          <p:nvPr/>
        </p:nvSpPr>
        <p:spPr>
          <a:xfrm>
            <a:off x="4526280" y="49377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2" name="Text 30"/>
          <p:cNvSpPr txBox="1"/>
          <p:nvPr/>
        </p:nvSpPr>
        <p:spPr>
          <a:xfrm>
            <a:off x="5074920" y="4937760"/>
            <a:ext cx="2651760" cy="420624"/>
          </a:xfrm>
          <a:prstGeom prst="rect">
            <a:avLst/>
          </a:prstGeom>
          <a:noFill/>
          <a:ln/>
        </p:spPr>
        <p:txBody>
          <a:bodyPr wrap="square" lIns="0" tIns="0" rIns="0" bIns="0" rtlCol="0" anchor="ctr"/>
          <a:lstStyle/>
          <a:p>
            <a:pPr indent="0" marL="0">
              <a:buNone/>
            </a:pPr>
            <a:r>
              <a:rPr lang="en-US" sz="1600" b="1" dirty="0">
                <a:solidFill>
                  <a:schemeClr val="tx1"/>
                </a:solidFill>
              </a:rPr>
              <a:t>HPA needs requests + patience</a:t>
            </a:r>
            <a:endParaRPr lang="en-US" sz="1600" dirty="0"/>
          </a:p>
        </p:txBody>
      </p:sp>
      <p:sp>
        <p:nvSpPr>
          <p:cNvPr id="33" name="Text 31"/>
          <p:cNvSpPr txBox="1"/>
          <p:nvPr/>
        </p:nvSpPr>
        <p:spPr>
          <a:xfrm>
            <a:off x="4526280" y="5431536"/>
            <a:ext cx="3200400" cy="694944"/>
          </a:xfrm>
          <a:prstGeom prst="rect">
            <a:avLst/>
          </a:prstGeom>
          <a:noFill/>
          <a:ln/>
        </p:spPr>
        <p:txBody>
          <a:bodyPr wrap="square" lIns="0" tIns="0" rIns="0" bIns="0" rtlCol="0" anchor="t"/>
          <a:lstStyle/>
          <a:p>
            <a:pPr indent="0" marL="0">
              <a:buNone/>
            </a:pPr>
            <a:r>
              <a:rPr lang="en-US" sz="1400" dirty="0">
                <a:solidFill>
                  <a:schemeClr val="accent5"/>
                </a:solidFill>
              </a:rPr>
              <a:t>~1.5 min of FailedGetResourceMetric at first; never set replicas while the HPA owns them.</a:t>
            </a:r>
            <a:endParaRPr lang="en-US" sz="1400" dirty="0"/>
          </a:p>
        </p:txBody>
      </p:sp>
      <p:sp>
        <p:nvSpPr>
          <p:cNvPr id="34" name="Thank you"/>
          <p:cNvSpPr txBox="1"/>
          <p:nvPr/>
        </p:nvSpPr>
        <p:spPr>
          <a:xfrm>
            <a:off x="8641080" y="1920240"/>
            <a:ext cx="3200400" cy="731520"/>
          </a:xfrm>
          <a:prstGeom prst="rect">
            <a:avLst/>
          </a:prstGeom>
          <a:noFill/>
          <a:ln/>
        </p:spPr>
        <p:txBody>
          <a:bodyPr wrap="square" lIns="0" tIns="0" rIns="0" bIns="0" rtlCol="0" anchor="t"/>
          <a:lstStyle/>
          <a:p>
            <a:pPr indent="0" marL="0">
              <a:buNone/>
            </a:pPr>
            <a:r>
              <a:rPr lang="en-US" sz="4000" b="1" dirty="0">
                <a:solidFill>
                  <a:schemeClr val="bg1"/>
                </a:solidFill>
              </a:rPr>
              <a:t>Thank you</a:t>
            </a:r>
            <a:endParaRPr lang="en-US" sz="4000" dirty="0"/>
          </a:p>
        </p:txBody>
      </p:sp>
      <p:sp>
        <p:nvSpPr>
          <p:cNvPr id="35" name="Text 33"/>
          <p:cNvSpPr txBox="1"/>
          <p:nvPr/>
        </p:nvSpPr>
        <p:spPr>
          <a:xfrm>
            <a:off x="8641080" y="2651760"/>
            <a:ext cx="3200400" cy="548640"/>
          </a:xfrm>
          <a:prstGeom prst="rect">
            <a:avLst/>
          </a:prstGeom>
          <a:noFill/>
          <a:ln/>
        </p:spPr>
        <p:txBody>
          <a:bodyPr wrap="square" lIns="0" tIns="0" rIns="0" bIns="0" rtlCol="0" anchor="t"/>
          <a:lstStyle/>
          <a:p>
            <a:pPr indent="0" marL="0">
              <a:buNone/>
            </a:pPr>
            <a:r>
              <a:rPr lang="en-US" sz="2600" dirty="0">
                <a:solidFill>
                  <a:schemeClr val="bg1"/>
                </a:solidFill>
              </a:rPr>
              <a:t>Questions?</a:t>
            </a:r>
            <a:endParaRPr lang="en-US" sz="2600" dirty="0"/>
          </a:p>
        </p:txBody>
      </p:sp>
      <p:sp>
        <p:nvSpPr>
          <p:cNvPr id="36" name="Text 34"/>
          <p:cNvSpPr txBox="1"/>
          <p:nvPr/>
        </p:nvSpPr>
        <p:spPr>
          <a:xfrm>
            <a:off x="8641080" y="3931920"/>
            <a:ext cx="3200400" cy="777240"/>
          </a:xfrm>
          <a:prstGeom prst="rect">
            <a:avLst/>
          </a:prstGeom>
          <a:noFill/>
          <a:ln/>
        </p:spPr>
        <p:txBody>
          <a:bodyPr wrap="square" lIns="0" tIns="0" rIns="0" bIns="0" rtlCol="0" anchor="t"/>
          <a:lstStyle/>
          <a:p>
            <a:pPr indent="0" marL="0">
              <a:spcAft>
                <a:spcPts val="400"/>
              </a:spcAft>
              <a:buNone/>
            </a:pPr>
            <a:r>
              <a:rPr lang="en-US" sz="2000" b="1" dirty="0">
                <a:solidFill>
                  <a:schemeClr val="bg1"/>
                </a:solidFill>
              </a:rPr>
              <a:t>Om Malviya</a:t>
            </a:r>
            <a:endParaRPr lang="en-US" sz="1400" dirty="0"/>
          </a:p>
          <a:p>
            <a:pPr indent="0" marL="0">
              <a:spcAft>
                <a:spcPts val="400"/>
              </a:spcAft>
              <a:buNone/>
            </a:pPr>
            <a:r>
              <a:rPr lang="en-US" sz="1600" dirty="0">
                <a:solidFill>
                  <a:schemeClr val="bg1"/>
                </a:solidFill>
              </a:rPr>
              <a:t>Roll No 24BCS10448</a:t>
            </a:r>
            <a:endParaRPr lang="en-US" sz="1400" dirty="0"/>
          </a:p>
        </p:txBody>
      </p:sp>
      <p:sp>
        <p:nvSpPr>
          <p:cNvPr id="37" name="Repository URL"/>
          <p:cNvSpPr txBox="1"/>
          <p:nvPr/>
        </p:nvSpPr>
        <p:spPr>
          <a:xfrm>
            <a:off x="8641080" y="4846320"/>
            <a:ext cx="3291840" cy="640080"/>
          </a:xfrm>
          <a:prstGeom prst="rect">
            <a:avLst/>
          </a:prstGeom>
          <a:noFill/>
          <a:ln/>
        </p:spPr>
        <p:txBody>
          <a:bodyPr wrap="square" lIns="0" tIns="0" rIns="0" bIns="0" rtlCol="0" anchor="t"/>
          <a:lstStyle/>
          <a:p>
            <a:pPr indent="0" marL="0">
              <a:buNone/>
            </a:pPr>
            <a:r>
              <a:rPr lang="en-US" sz="1500" b="1" dirty="0">
                <a:solidFill>
                  <a:schemeClr val="bg1"/>
                </a:solidFill>
              </a:rPr>
              <a:t>github.com/om-malviya/</a:t>
            </a:r>
            <a:endParaRPr lang="en-US" sz="1500" dirty="0"/>
          </a:p>
          <a:p>
            <a:pPr indent="0" marL="0">
              <a:buNone/>
            </a:pPr>
            <a:r>
              <a:rPr lang="en-US" sz="1500" b="1" dirty="0">
                <a:solidFill>
                  <a:schemeClr val="bg1"/>
                </a:solidFill>
              </a:rPr>
              <a:t>expense-tracker-devops</a:t>
            </a:r>
            <a:endParaRPr lang="en-US" sz="1500" dirty="0"/>
          </a:p>
        </p:txBody>
      </p:sp>
    </p:spTree>
  </p:cSld>
  <p:clrMapOvr>
    <a:masterClrMapping/>
  </p:clrMapOvr>
</p:sld>
</file>

<file path=ppt/theme/theme1.xml><?xml version="1.0" encoding="utf-8"?>
<a:theme xmlns:a="http://schemas.openxmlformats.org/drawingml/2006/main" name="Expense Tracker">
  <a:themeElements>
    <a:clrScheme name="Expense Tracker">
      <a:dk1>
        <a:srgbClr val="1F2933"/>
      </a:dk1>
      <a:lt1>
        <a:srgbClr val="FFFFFF"/>
      </a:lt1>
      <a:dk2>
        <a:srgbClr val="0B4F49"/>
      </a:dk2>
      <a:lt2>
        <a:srgbClr val="F2F6F5"/>
      </a:lt2>
      <a:accent1>
        <a:srgbClr val="0D8F82"/>
      </a:accent1>
      <a:accent2>
        <a:srgbClr val="D9480F"/>
      </a:accent2>
      <a:accent3>
        <a:srgbClr val="E3F2EF"/>
      </a:accent3>
      <a:accent4>
        <a:srgbClr val="FCEBE2"/>
      </a:accent4>
      <a:accent5>
        <a:srgbClr val="5F6B76"/>
      </a:accent5>
      <a:accent6>
        <a:srgbClr val="CBD7D5"/>
      </a:accent6>
      <a:hlink>
        <a:srgbClr val="0D8F82"/>
      </a:hlink>
      <a:folHlink>
        <a:srgbClr val="0B4F49"/>
      </a:folHlink>
    </a:clrScheme>
    <a:fontScheme name="Expense Track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Om Malviya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Expense Tracker - DevOps Capstone</dc:title>
  <dc:subject>DevOps capstone presentation</dc:subject>
  <dc:creator>Om Malviya</dc:creator>
  <cp:lastModifiedBy>Om Malviya</cp:lastModifiedBy>
  <cp:revision>1</cp:revision>
  <dcterms:created xsi:type="dcterms:W3CDTF">2026-10-26T14:03:26Z</dcterms:created>
  <dcterms:modified xsi:type="dcterms:W3CDTF">2026-10-26T14:03:26Z</dcterms:modified>
</cp:coreProperties>
</file>